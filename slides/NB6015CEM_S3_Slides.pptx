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of 4. The through-line reaches its methodology stage. Open by naming what the session is for: turning a research question into something that can be tested, measured and judged. Assessment link is Criterion 3, Methodology and Technical Rigour, worth 20 per cent of CW1.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aims quickly. Spend the time on the right-hand panel: this session is the one that serves Criterion 3, and Criterion 3 is 20 per cent of the mark. Note that ILO3 is stated here and handed on to Session 4; it is not taught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line per session, no longer. The point of the slide is continuity: the room should hear that this is the same argument continuing, not a new topic. Land the last line and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sets up the crimson frame that follows. Do not deliver the punch line here. Ask the room, before advancing, how many of them have written the words "the system will be tested to confirm it works". Then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Say it once, then say nothing for a beat. Do not explain it on this slide; the next slide is the proof and the explanation. If the room disagrees, that is the right reaction and slide 6 settles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Abbreviated from the canonical derivation table; the full table is in the student notes, Section 4. Work across one row at a time, then invert the test: give the room two minutes to pull metric, baseline and environment out of their own question. An empty column is the intended finding, not a failure. Send those students back to the question rather than forward into a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words carry the rest of the session and the HTML tool. Say them in this order every time you use them today: metric, baseline, environment. Repetition of the ordering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divider. Signal the shift from why evaluation matters to how the method gets chosen. Keep the taxonomy brisk: naming a method is not where this cohort loses 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Brisk. Eight minutes at most. The taxonomy is scaffolding: students need it to name what they are doing, but naming it has never been where the marks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unspaced archetype names throughout, as the canonical bank writes them. Flag the protocol/architecture trap here in one line and expand it in Section 2 of the notes: students choose this archetype and then propose an experimental evaluation they cannot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slide in the first half. Read the left column aloud in a flat voice, then the right. Both paragraphs in full are in the student notes, Section 3, and in the lecturer guide at 5.1; do not read them off the slide. Land the three tells: alternatives named, criterion stated, criterion derived from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it by naming three plausible tools for the room: a scanner, a traffic generator, a configuration baseline. Ten minutes to write, then take four or five aloud. Debrief only on the generic-versus-domain-specific split; do not correct the tool choice itself. Facilitation detail is in the lecturer guide,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The shift is from choosing a method to sketching something buildable, with the measurement point marked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items only. The fourth is the one that matters for this session and it is the one students omit. Preview it here and prove it on the next slide. On the third, name zero trust (student notes Section 5): a boundary drawn as trusted is a claim the design must enforce and the evaluation should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the pipeline left to right, one component at a time, then pause before the callout. Ask the room where they would take the measurement. Most will say at the output; some will say at the model. Then reveal the callout on the boundary between scoring and decision, and make the argument: a false positive only exists once a score has become a decision, so that is where it can be counted. Cap this layout at five components if it is ever reused; six or more will not fit a label at the accessibility floor.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these fast. The fourth is the one to dwell on, and it links straight back to the callout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is the point of the slide; the bullets are setup. The last bullet is the ILO3 link: controlled, authorised testing is taught here as a methodology constraint, and the legal and ethical treatment of it belongs to Session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Divider. This is where the session spends its remaining time. Everything from here is Criterion 3 evaluation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degenerate-case question is the transferable move on this slide. On an imbalanced detection problem a detector that flags nothing scores highly on accuracy, which is why accuracy alone fails. Make the room apply the question to their own proposed metric.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Distinction-band exemplar. Name why it earns the band: it establishes ground truth deliberately rather than assuming it, it reports a secondary observation that makes a null result interesting, and it states what claim the result will and will not support. The deck carries an abbreviation; the full canonical text is in the notes and in the guide at 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believe naming a limitation costs marks. It does the opposite at Level 6. Each threat here comes with its one-line correction, and the corrections are the useful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excerpt itself lives in the student notes at Section 4.5 and in the lecturer guide at 5.5, byte-identical between them. Band verdict is Pass, close to the Fail boundary on the evaluation dimension. The room finds the tool problem quickly and the evaluation problem slowly: hold them on round 3 even when the energy is in round 2. Do not accept "use a bigger dataset", "try more algorithms" or "add more graphs" as the one edit; none is a Criterion 3 lever. Full answer key in the guide at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descriptors are quoted whole and attributed, because here the descriptor is itself the teaching object. Read the Distinction band first as the target, then the Pass band, and make the observation plainly: the Pass descriptor names this cohort characteristic failure almost exactly. Tools listed without comparison, evaluation left underdeveloped. That is not a coincidence; it is the cohort profile written into the marking standard. Commentary around these quotes is paraphrased.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dependency, not on the tool. Students who leave without understanding that the ethics window opens next week will lose time they cannot recover before the Week 12 submission. One line of Session 4 preview and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questions on the evaluation design first if there is a choice; that is where the room needs the most help. Point students at the Evaluation Design Mirror and the student notes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module disclaimer. The last-modified date is generated at build time and is never hard-coded.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84048" y="292608"/>
            <a:ext cx="6949440" cy="548640"/>
          </a:xfrm>
          <a:prstGeom prst="rect">
            <a:avLst/>
          </a:prstGeom>
          <a:noFill/>
          <a:ln/>
        </p:spPr>
        <p:txBody>
          <a:bodyPr wrap="square" lIns="0" tIns="0" rIns="0" bIns="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National Institute of Business Management (NIBM)</a:t>
            </a:r>
            <a:endParaRPr lang="en-US" sz="1300" dirty="0"/>
          </a:p>
          <a:p>
            <a:pPr indent="0" marL="0">
              <a:buNone/>
            </a:pPr>
            <a:r>
              <a:rPr lang="en-US" sz="1300" b="1" dirty="0">
                <a:solidFill>
                  <a:srgbClr val="1A1A1A"/>
                </a:solidFill>
                <a:latin typeface="Open Sans" pitchFamily="34" charset="0"/>
                <a:ea typeface="Open Sans" pitchFamily="34" charset="-122"/>
                <a:cs typeface="Open Sans" pitchFamily="34" charset="-120"/>
              </a:rPr>
              <a:t>Coventry University (CU)</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t"/>
          <a:lstStyle/>
          <a:p>
            <a:pPr indent="0" marL="0">
              <a:buNone/>
            </a:pPr>
            <a:r>
              <a:rPr lang="en-US" sz="1200" b="1" dirty="0">
                <a:solidFill>
                  <a:srgbClr val="1B3A6B"/>
                </a:solidFill>
                <a:latin typeface="Open Sans" pitchFamily="34" charset="0"/>
                <a:ea typeface="Open Sans" pitchFamily="34" charset="-122"/>
                <a:cs typeface="Open Sans" pitchFamily="34" charset="-120"/>
              </a:rPr>
              <a:t>NB6015CEM  |  RESEARCH PROJECT PREPARATION</a:t>
            </a:r>
            <a:endParaRPr lang="en-US" sz="1200" dirty="0"/>
          </a:p>
        </p:txBody>
      </p:sp>
      <p:sp>
        <p:nvSpPr>
          <p:cNvPr id="4" name="Text 2"/>
          <p:cNvSpPr/>
          <p:nvPr/>
        </p:nvSpPr>
        <p:spPr>
          <a:xfrm>
            <a:off x="384048" y="1188720"/>
            <a:ext cx="5760720" cy="1920240"/>
          </a:xfrm>
          <a:prstGeom prst="rect">
            <a:avLst/>
          </a:prstGeom>
          <a:noFill/>
          <a:ln/>
        </p:spPr>
        <p:txBody>
          <a:bodyPr wrap="square" lIns="0" tIns="0" rIns="0" bIns="0" rtlCol="0" anchor="t"/>
          <a:lstStyle/>
          <a:p>
            <a:pPr indent="0" marL="0">
              <a:buNone/>
            </a:pPr>
            <a:r>
              <a:rPr lang="en-US" sz="4600" b="1" dirty="0">
                <a:solidFill>
                  <a:srgbClr val="1A1A1A"/>
                </a:solidFill>
                <a:latin typeface="Open Sans" pitchFamily="34" charset="0"/>
                <a:ea typeface="Open Sans" pitchFamily="34" charset="-122"/>
                <a:cs typeface="Open Sans" pitchFamily="34" charset="-120"/>
              </a:rPr>
              <a:t>Methodology and Evaluation</a:t>
            </a:r>
            <a:endParaRPr lang="en-US" sz="4600" dirty="0"/>
          </a:p>
        </p:txBody>
      </p:sp>
      <p:sp>
        <p:nvSpPr>
          <p:cNvPr id="5" name="Shape 3"/>
          <p:cNvSpPr/>
          <p:nvPr/>
        </p:nvSpPr>
        <p:spPr>
          <a:xfrm>
            <a:off x="384048" y="3145536"/>
            <a:ext cx="749808" cy="82296"/>
          </a:xfrm>
          <a:prstGeom prst="rect">
            <a:avLst/>
          </a:prstGeom>
          <a:solidFill>
            <a:srgbClr val="1B3A6B"/>
          </a:solidFill>
          <a:ln/>
        </p:spPr>
      </p:sp>
      <p:sp>
        <p:nvSpPr>
          <p:cNvPr id="6" name="Shape 4"/>
          <p:cNvSpPr/>
          <p:nvPr/>
        </p:nvSpPr>
        <p:spPr>
          <a:xfrm>
            <a:off x="1188720" y="3145536"/>
            <a:ext cx="384048" cy="82296"/>
          </a:xfrm>
          <a:prstGeom prst="rect">
            <a:avLst/>
          </a:prstGeom>
          <a:solidFill>
            <a:srgbClr val="E0701A"/>
          </a:solidFill>
          <a:ln/>
        </p:spPr>
      </p:sp>
      <p:sp>
        <p:nvSpPr>
          <p:cNvPr id="7" name="Text 5"/>
          <p:cNvSpPr/>
          <p:nvPr/>
        </p:nvSpPr>
        <p:spPr>
          <a:xfrm>
            <a:off x="384048" y="3310128"/>
            <a:ext cx="5303520" cy="731520"/>
          </a:xfrm>
          <a:prstGeom prst="rect">
            <a:avLst/>
          </a:prstGeom>
          <a:noFill/>
          <a:ln/>
        </p:spPr>
        <p:txBody>
          <a:bodyPr wrap="square" lIns="0" tIns="0" rIns="0" bIns="0" rtlCol="0" anchor="t"/>
          <a:lstStyle/>
          <a:p>
            <a:pPr indent="0" marL="0">
              <a:buNone/>
            </a:pPr>
            <a:r>
              <a:rPr lang="en-US" sz="2000" i="1" dirty="0">
                <a:solidFill>
                  <a:srgbClr val="595959"/>
                </a:solidFill>
                <a:latin typeface="Open Sans" pitchFamily="34" charset="0"/>
                <a:ea typeface="Open Sans" pitchFamily="34" charset="-122"/>
                <a:cs typeface="Open Sans" pitchFamily="34" charset="-120"/>
              </a:rPr>
              <a:t>Day 3 - Methodology, Tooling and Evaluation Design</a:t>
            </a:r>
            <a:endParaRPr lang="en-US" sz="2000" dirty="0"/>
          </a:p>
        </p:txBody>
      </p:sp>
      <p:sp>
        <p:nvSpPr>
          <p:cNvPr id="8" name="Text 6"/>
          <p:cNvSpPr/>
          <p:nvPr/>
        </p:nvSpPr>
        <p:spPr>
          <a:xfrm>
            <a:off x="384048" y="4169664"/>
            <a:ext cx="5303520" cy="310896"/>
          </a:xfrm>
          <a:prstGeom prst="rect">
            <a:avLst/>
          </a:prstGeom>
          <a:noFill/>
          <a:ln/>
        </p:spPr>
        <p:txBody>
          <a:bodyPr wrap="square" lIns="0" tIns="0" rIns="0" bIns="0" rtlCol="0" anchor="t"/>
          <a:lstStyle/>
          <a:p>
            <a:pPr indent="0" marL="0">
              <a:buNone/>
            </a:pPr>
            <a:r>
              <a:rPr lang="en-US" sz="1300" b="1" dirty="0">
                <a:solidFill>
                  <a:srgbClr val="1B3A6B"/>
                </a:solidFill>
                <a:latin typeface="Open Sans" pitchFamily="34" charset="0"/>
                <a:ea typeface="Open Sans" pitchFamily="34" charset="-122"/>
                <a:cs typeface="Open Sans" pitchFamily="34" charset="-120"/>
              </a:rPr>
              <a:t>BSc (Hons) Ethical Hacking &amp; Network Security</a:t>
            </a:r>
            <a:endParaRPr lang="en-US" sz="1300" dirty="0"/>
          </a:p>
        </p:txBody>
      </p:sp>
      <p:sp>
        <p:nvSpPr>
          <p:cNvPr id="9" name="Text 7"/>
          <p:cNvSpPr/>
          <p:nvPr/>
        </p:nvSpPr>
        <p:spPr>
          <a:xfrm>
            <a:off x="384048" y="4681728"/>
            <a:ext cx="5029200" cy="329184"/>
          </a:xfrm>
          <a:prstGeom prst="rect">
            <a:avLst/>
          </a:prstGeom>
          <a:noFill/>
          <a:ln/>
        </p:spPr>
        <p:txBody>
          <a:bodyPr wrap="square" lIns="0" tIns="0" rIns="0" bIns="0" rtlCol="0" anchor="t"/>
          <a:lstStyle/>
          <a:p>
            <a:pPr indent="0" marL="0">
              <a:buNone/>
            </a:pPr>
            <a:r>
              <a:rPr lang="en-US" sz="1300" dirty="0">
                <a:solidFill>
                  <a:srgbClr val="595959"/>
                </a:solidFill>
                <a:latin typeface="Open Sans" pitchFamily="34" charset="0"/>
                <a:ea typeface="Open Sans" pitchFamily="34" charset="-122"/>
                <a:cs typeface="Open Sans" pitchFamily="34" charset="-120"/>
              </a:rPr>
              <a:t>Niranga Dharmaratna  |  niranga@nibm.lk</a:t>
            </a:r>
            <a:endParaRPr lang="en-US" sz="1300" dirty="0"/>
          </a:p>
        </p:txBody>
      </p:sp>
      <p:pic>
        <p:nvPicPr>
          <p:cNvPr id="10" name="Image 0" descr="preencoded.png">    </p:cNvPr>
          <p:cNvPicPr>
            <a:picLocks noChangeAspect="1"/>
          </p:cNvPicPr>
          <p:nvPr/>
        </p:nvPicPr>
        <p:blipFill>
          <a:blip r:embed="rId1"/>
          <a:stretch>
            <a:fillRect/>
          </a:stretch>
        </p:blipFill>
        <p:spPr>
          <a:xfrm>
            <a:off x="5943600" y="662940"/>
            <a:ext cx="2834640" cy="42519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Today: method, tools, evaluation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137160" y="1417320"/>
            <a:ext cx="4114800" cy="777240"/>
          </a:xfrm>
          <a:prstGeom prst="rect">
            <a:avLst/>
          </a:prstGeom>
          <a:solidFill>
            <a:srgbClr val="E0701A"/>
          </a:solidFill>
          <a:ln/>
        </p:spPr>
        <p:txBody>
          <a:bodyPr wrap="square" lIns="101600" tIns="101600" rIns="101600" bIns="101600" rtlCol="0" anchor="ctr"/>
          <a:lstStyle/>
          <a:p>
            <a:pPr indent="0" marL="0">
              <a:buNone/>
            </a:pPr>
            <a:r>
              <a:rPr lang="en-US" sz="1500" b="1" dirty="0">
                <a:solidFill>
                  <a:srgbClr val="1A1A1A"/>
                </a:solidFill>
                <a:latin typeface="Open Sans" pitchFamily="34" charset="0"/>
                <a:ea typeface="Open Sans" pitchFamily="34" charset="-122"/>
                <a:cs typeface="Open Sans" pitchFamily="34" charset="-120"/>
              </a:rPr>
              <a:t>Turning a question into a defined, evaluable claim.</a:t>
            </a:r>
            <a:endParaRPr lang="en-US" sz="1500" dirty="0"/>
          </a:p>
        </p:txBody>
      </p:sp>
      <p:sp>
        <p:nvSpPr>
          <p:cNvPr id="7" name="Text 5"/>
          <p:cNvSpPr/>
          <p:nvPr/>
        </p:nvSpPr>
        <p:spPr>
          <a:xfrm>
            <a:off x="228600" y="2240280"/>
            <a:ext cx="5029200" cy="2423160"/>
          </a:xfrm>
          <a:prstGeom prst="rect">
            <a:avLst/>
          </a:prstGeom>
          <a:solidFill>
            <a:srgbClr val="C5D6E8"/>
          </a:solidFill>
          <a:ln/>
        </p:spPr>
        <p:txBody>
          <a:bodyPr wrap="square" lIns="127000" tIns="127000" rIns="127000" bIns="127000" rtlCol="0" anchor="t"/>
          <a:lstStyle/>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Select and justify a research method</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Justify tools on domain grounds, not lists</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Sketch a credibly implementation-ready architecture</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Design an evaluation with measurable criteria</a:t>
            </a:r>
            <a:endParaRPr lang="en-US" sz="1400" dirty="0"/>
          </a:p>
          <a:p>
            <a:pPr marL="342900" indent="-342900">
              <a:spcAft>
                <a:spcPts val="800"/>
              </a:spcAft>
              <a:buSzPct val="100000"/>
              <a:buChar char="•"/>
            </a:pPr>
            <a:r>
              <a:rPr lang="en-US" sz="1400" b="1" dirty="0">
                <a:solidFill>
                  <a:srgbClr val="1A1A1A"/>
                </a:solidFill>
                <a:latin typeface="Open Sans" pitchFamily="34" charset="0"/>
                <a:ea typeface="Open Sans" pitchFamily="34" charset="-122"/>
                <a:cs typeface="Open Sans" pitchFamily="34" charset="-120"/>
              </a:rPr>
              <a:t>Unlocks the Week 8 draft, and opens the ethics window</a:t>
            </a:r>
            <a:endParaRPr lang="en-US" sz="1400" dirty="0"/>
          </a:p>
        </p:txBody>
      </p:sp>
      <p:sp>
        <p:nvSpPr>
          <p:cNvPr id="8" name="Text 6"/>
          <p:cNvSpPr/>
          <p:nvPr/>
        </p:nvSpPr>
        <p:spPr>
          <a:xfrm>
            <a:off x="5440680" y="1417320"/>
            <a:ext cx="3566160" cy="3246120"/>
          </a:xfrm>
          <a:prstGeom prst="rect">
            <a:avLst/>
          </a:prstGeom>
          <a:solidFill>
            <a:srgbClr val="1B3A6B"/>
          </a:solidFill>
          <a:ln/>
        </p:spPr>
        <p:txBody>
          <a:bodyPr wrap="square" lIns="152400" tIns="152400" rIns="152400" bIns="152400" rtlCol="0" anchor="t"/>
          <a:lstStyle/>
          <a:p>
            <a:pPr indent="0" marL="0">
              <a:spcAft>
                <a:spcPts val="1200"/>
              </a:spcAft>
              <a:buNone/>
            </a:pPr>
            <a:r>
              <a:rPr lang="en-US" sz="1300" b="1" dirty="0">
                <a:solidFill>
                  <a:srgbClr val="FFFFFF"/>
                </a:solidFill>
                <a:latin typeface="Open Sans" pitchFamily="34" charset="0"/>
                <a:ea typeface="Open Sans" pitchFamily="34" charset="-122"/>
                <a:cs typeface="Open Sans" pitchFamily="34" charset="-120"/>
              </a:rPr>
              <a:t>Criterion 3, Methodology &amp; Technical Rigour - 20 per cent of CW1</a:t>
            </a:r>
            <a:endParaRPr lang="en-US" sz="1300" dirty="0"/>
          </a:p>
          <a:p>
            <a:pPr indent="0" marL="0">
              <a:spcAft>
                <a:spcPts val="400"/>
              </a:spcAft>
              <a:buNone/>
            </a:pPr>
            <a:r>
              <a:rPr lang="en-US" sz="1300" b="1" dirty="0">
                <a:solidFill>
                  <a:srgbClr val="E0701A"/>
                </a:solidFill>
                <a:latin typeface="Open Sans" pitchFamily="34" charset="0"/>
                <a:ea typeface="Open Sans" pitchFamily="34" charset="-122"/>
                <a:cs typeface="Open Sans" pitchFamily="34" charset="-120"/>
              </a:rPr>
              <a:t>ILO1 (primary)</a:t>
            </a:r>
            <a:endParaRPr lang="en-US" sz="1300" dirty="0"/>
          </a:p>
          <a:p>
            <a:pPr indent="0" marL="0">
              <a:spcAft>
                <a:spcPts val="1200"/>
              </a:spcAft>
              <a:buNone/>
            </a:pPr>
            <a:r>
              <a:rPr lang="en-US" sz="1300" dirty="0">
                <a:solidFill>
                  <a:srgbClr val="FFFFFF"/>
                </a:solidFill>
                <a:latin typeface="Open Sans" pitchFamily="34" charset="0"/>
                <a:ea typeface="Open Sans" pitchFamily="34" charset="-122"/>
                <a:cs typeface="Open Sans" pitchFamily="34" charset="-120"/>
              </a:rPr>
              <a:t>Devise an achievable research question on a topic of interest.</a:t>
            </a:r>
            <a:endParaRPr lang="en-US" sz="1300" dirty="0"/>
          </a:p>
          <a:p>
            <a:pPr indent="0" marL="0">
              <a:spcAft>
                <a:spcPts val="400"/>
              </a:spcAft>
              <a:buNone/>
            </a:pPr>
            <a:r>
              <a:rPr lang="en-US" sz="1300" b="1" dirty="0">
                <a:solidFill>
                  <a:srgbClr val="E0701A"/>
                </a:solidFill>
                <a:latin typeface="Open Sans" pitchFamily="34" charset="0"/>
                <a:ea typeface="Open Sans" pitchFamily="34" charset="-122"/>
                <a:cs typeface="Open Sans" pitchFamily="34" charset="-120"/>
              </a:rPr>
              <a:t>ILO3 (secondary)</a:t>
            </a:r>
            <a:endParaRPr lang="en-US" sz="1300" dirty="0"/>
          </a:p>
          <a:p>
            <a:pPr indent="0" marL="0">
              <a:buNone/>
            </a:pPr>
            <a:r>
              <a:rPr lang="en-US" sz="1300" dirty="0">
                <a:solidFill>
                  <a:srgbClr val="FFFFFF"/>
                </a:solidFill>
                <a:latin typeface="Open Sans" pitchFamily="34" charset="0"/>
                <a:ea typeface="Open Sans" pitchFamily="34" charset="-122"/>
                <a:cs typeface="Open Sans" pitchFamily="34" charset="-120"/>
              </a:rPr>
              <a:t>Analyse the impact of social, legal, and ethical considerations of the proposed research project.</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Where this sits in the through-line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6916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Session 1 framed the problem. You wrote a question that names a technique, a threat, an environment, a metric and a baseline.</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Session 2 framed it against the known. You placed that question in the literature and justified the gap.</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Session 3 frames it as testable. Method is where the question either becomes deliverable, or is exposed as undeliverable.</a:t>
            </a:r>
            <a:endParaRPr lang="en-US" sz="1400" dirty="0"/>
          </a:p>
        </p:txBody>
      </p:sp>
      <p:sp>
        <p:nvSpPr>
          <p:cNvPr id="7" name="Text 5"/>
          <p:cNvSpPr/>
          <p:nvPr/>
        </p:nvSpPr>
        <p:spPr>
          <a:xfrm>
            <a:off x="731520" y="3255264"/>
            <a:ext cx="7690104" cy="457200"/>
          </a:xfrm>
          <a:prstGeom prst="rect">
            <a:avLst/>
          </a:prstGeom>
          <a:solidFill>
            <a:srgbClr val="E3E9EF"/>
          </a:solidFill>
          <a:ln/>
        </p:spPr>
        <p:txBody>
          <a:bodyPr wrap="square" lIns="127000" tIns="127000" rIns="127000" bIns="127000" rtlCol="0" anchor="ctr"/>
          <a:lstStyle/>
          <a:p>
            <a:pPr indent="0" marL="0">
              <a:buNone/>
            </a:pPr>
            <a:r>
              <a:rPr lang="en-US" sz="1400" b="1" dirty="0">
                <a:solidFill>
                  <a:srgbClr val="1B3A6B"/>
                </a:solidFill>
                <a:latin typeface="Open Sans" pitchFamily="34" charset="0"/>
                <a:ea typeface="Open Sans" pitchFamily="34" charset="-122"/>
                <a:cs typeface="Open Sans" pitchFamily="34" charset="-120"/>
              </a:rPr>
              <a:t>Methodology is what turns a question into a defined, evaluable claim.</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a methodology chapter is for</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6916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What is typically submitted: a build plan. Collect the data, pre-process it, train the models, present the results.</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What the chapter is for: a design for finding something out. It states what will be measured, against what, and where.</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The difference in one phrase: what I will build, against how I will know it worked.</a:t>
            </a:r>
            <a:endParaRPr lang="en-US" sz="1400" dirty="0"/>
          </a:p>
        </p:txBody>
      </p:sp>
      <p:sp>
        <p:nvSpPr>
          <p:cNvPr id="7" name="Text 5"/>
          <p:cNvSpPr/>
          <p:nvPr/>
        </p:nvSpPr>
        <p:spPr>
          <a:xfrm>
            <a:off x="731520" y="3255264"/>
            <a:ext cx="7690104" cy="64008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A1A1A"/>
                </a:solidFill>
                <a:latin typeface="Open Sans" pitchFamily="34" charset="0"/>
                <a:ea typeface="Open Sans" pitchFamily="34" charset="-122"/>
                <a:cs typeface="Open Sans" pitchFamily="34" charset="-120"/>
              </a:rPr>
              <a:t>A build plan describes activity. A methodology chapter defends a claim. Marks under Criterion 3 sit almost entirely on the second.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B11E2A"/>
          </a:solidFill>
          <a:ln/>
        </p:spPr>
      </p:sp>
      <p:sp>
        <p:nvSpPr>
          <p:cNvPr id="3" name="Text 1"/>
          <p:cNvSpPr/>
          <p:nvPr/>
        </p:nvSpPr>
        <p:spPr>
          <a:xfrm>
            <a:off x="731520" y="640080"/>
            <a:ext cx="5029200" cy="310896"/>
          </a:xfrm>
          <a:prstGeom prst="rect">
            <a:avLst/>
          </a:prstGeom>
          <a:noFill/>
          <a:ln/>
        </p:spPr>
        <p:txBody>
          <a:bodyPr wrap="square" lIns="0" tIns="0" rIns="0" bIns="0" rtlCol="0" anchor="t"/>
          <a:lstStyle/>
          <a:p>
            <a:pPr indent="0" marL="0">
              <a:buNone/>
            </a:pPr>
            <a:r>
              <a:rPr lang="en-US" sz="1300" b="1" spc="200" kern="0" dirty="0">
                <a:solidFill>
                  <a:srgbClr val="FFFFFF"/>
                </a:solidFill>
                <a:latin typeface="Open Sans" pitchFamily="34" charset="0"/>
                <a:ea typeface="Open Sans" pitchFamily="34" charset="-122"/>
                <a:cs typeface="Open Sans" pitchFamily="34" charset="-120"/>
              </a:rPr>
              <a:t>KEY CONCEPT</a:t>
            </a:r>
            <a:endParaRPr lang="en-US" sz="1300" dirty="0"/>
          </a:p>
        </p:txBody>
      </p:sp>
      <p:sp>
        <p:nvSpPr>
          <p:cNvPr id="4" name="Shape 2"/>
          <p:cNvSpPr/>
          <p:nvPr/>
        </p:nvSpPr>
        <p:spPr>
          <a:xfrm>
            <a:off x="731520" y="1024128"/>
            <a:ext cx="502920" cy="54864"/>
          </a:xfrm>
          <a:prstGeom prst="rect">
            <a:avLst/>
          </a:prstGeom>
          <a:solidFill>
            <a:srgbClr val="E0701A"/>
          </a:solidFill>
          <a:ln/>
        </p:spPr>
      </p:sp>
      <p:sp>
        <p:nvSpPr>
          <p:cNvPr id="5" name="Text 3"/>
          <p:cNvSpPr/>
          <p:nvPr/>
        </p:nvSpPr>
        <p:spPr>
          <a:xfrm>
            <a:off x="731520" y="1188720"/>
            <a:ext cx="7690104" cy="150876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Your evaluation design is already written into your research question.</a:t>
            </a:r>
            <a:endParaRPr lang="en-US" sz="3200" dirty="0"/>
          </a:p>
        </p:txBody>
      </p:sp>
      <p:sp>
        <p:nvSpPr>
          <p:cNvPr id="6" name="Text 4"/>
          <p:cNvSpPr/>
          <p:nvPr/>
        </p:nvSpPr>
        <p:spPr>
          <a:xfrm>
            <a:off x="731520" y="2788920"/>
            <a:ext cx="7690104" cy="512064"/>
          </a:xfrm>
          <a:prstGeom prst="rect">
            <a:avLst/>
          </a:prstGeom>
          <a:noFill/>
          <a:ln/>
        </p:spPr>
        <p:txBody>
          <a:bodyPr wrap="square" lIns="0" tIns="0" rIns="0" bIns="0" rtlCol="0" anchor="t"/>
          <a:lstStyle/>
          <a:p>
            <a:pPr indent="0" marL="0">
              <a:buNone/>
            </a:pPr>
            <a:r>
              <a:rPr lang="en-US" sz="2200" b="1" dirty="0">
                <a:solidFill>
                  <a:srgbClr val="FFFFFF"/>
                </a:solidFill>
                <a:latin typeface="Open Sans" pitchFamily="34" charset="0"/>
                <a:ea typeface="Open Sans" pitchFamily="34" charset="-122"/>
                <a:cs typeface="Open Sans" pitchFamily="34" charset="-120"/>
              </a:rPr>
              <a:t>If it is not, your question was never testable.</a:t>
            </a:r>
            <a:endParaRPr lang="en-US" sz="2200" dirty="0"/>
          </a:p>
        </p:txBody>
      </p:sp>
      <p:sp>
        <p:nvSpPr>
          <p:cNvPr id="7" name="Text 5"/>
          <p:cNvSpPr/>
          <p:nvPr/>
        </p:nvSpPr>
        <p:spPr>
          <a:xfrm>
            <a:off x="731520" y="3392424"/>
            <a:ext cx="7690104" cy="585216"/>
          </a:xfrm>
          <a:prstGeom prst="rect">
            <a:avLst/>
          </a:prstGeom>
          <a:noFill/>
          <a:ln/>
        </p:spPr>
        <p:txBody>
          <a:bodyPr wrap="square" lIns="0" tIns="0" rIns="0" bIns="0" rtlCol="0" anchor="t"/>
          <a:lstStyle/>
          <a:p>
            <a:pPr indent="0" marL="0">
              <a:buNone/>
            </a:pPr>
            <a:r>
              <a:rPr lang="en-US" sz="1600" b="1" dirty="0">
                <a:solidFill>
                  <a:srgbClr val="FFFFFF"/>
                </a:solidFill>
                <a:latin typeface="Open Sans" pitchFamily="34" charset="0"/>
                <a:ea typeface="Open Sans" pitchFamily="34" charset="-122"/>
                <a:cs typeface="Open Sans" pitchFamily="34" charset="-120"/>
              </a:rPr>
              <a:t>This is a claim you can check for yourself. The next slide checks it three times.</a:t>
            </a:r>
            <a:endParaRPr lang="en-US" sz="1600" dirty="0"/>
          </a:p>
        </p:txBody>
      </p:sp>
      <p:sp>
        <p:nvSpPr>
          <p:cNvPr id="8" name="Shape 6"/>
          <p:cNvSpPr/>
          <p:nvPr/>
        </p:nvSpPr>
        <p:spPr>
          <a:xfrm>
            <a:off x="731520" y="4617720"/>
            <a:ext cx="502920" cy="64008"/>
          </a:xfrm>
          <a:prstGeom prst="rect">
            <a:avLst/>
          </a:prstGeom>
          <a:solidFill>
            <a:srgbClr val="1B3A6B"/>
          </a:solidFill>
          <a:ln/>
        </p:spPr>
      </p:sp>
      <p:sp>
        <p:nvSpPr>
          <p:cNvPr id="9" name="Shape 7"/>
          <p:cNvSpPr/>
          <p:nvPr/>
        </p:nvSpPr>
        <p:spPr>
          <a:xfrm>
            <a:off x="1280160" y="4617720"/>
            <a:ext cx="256032" cy="64008"/>
          </a:xfrm>
          <a:prstGeom prst="rect">
            <a:avLst/>
          </a:prstGeom>
          <a:solidFill>
            <a:srgbClr val="E0701A"/>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Proof: the design is already in the question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1463040"/>
                <a:gridCol w="2377440"/>
                <a:gridCol w="1783080"/>
                <a:gridCol w="2066544"/>
              </a:tblGrid>
              <a:tr h="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Project</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Metric</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Baseline</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Environment</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r>
              <a:tr h="0">
                <a:tc>
                  <a:txBody>
                    <a:bodyPr/>
                    <a:lstStyle/>
                    <a:p>
                      <a:pPr indent="0" marL="0">
                        <a:buNone/>
                      </a:pPr>
                      <a:r>
                        <a:rPr lang="en-US" sz="1200" b="1" dirty="0">
                          <a:solidFill>
                            <a:srgbClr val="1A1A1A"/>
                          </a:solidFill>
                          <a:latin typeface="Open Sans" pitchFamily="34" charset="0"/>
                          <a:ea typeface="Open Sans" pitchFamily="34" charset="-122"/>
                          <a:cs typeface="Open Sans" pitchFamily="34" charset="-120"/>
                        </a:rPr>
                        <a:t>Tharindu</a:t>
                      </a:r>
                      <a:endParaRPr lang="en-US" sz="1200" dirty="0">
                        <a:latin typeface="Open Sans" charset="0"/>
                        <a:ea typeface="Open Sans" charset="0"/>
                        <a:cs typeface="Open Sans" charset="0"/>
                      </a:endParaRPr>
                    </a:p>
                    <a:p>
                      <a:pPr indent="0" marL="0">
                        <a:buNone/>
                      </a:pPr>
                      <a:r>
                        <a:rPr lang="en-US" sz="1200" b="1" dirty="0">
                          <a:solidFill>
                            <a:srgbClr val="1A1A1A"/>
                          </a:solidFill>
                          <a:latin typeface="Open Sans" pitchFamily="34" charset="0"/>
                          <a:ea typeface="Open Sans" pitchFamily="34" charset="-122"/>
                          <a:cs typeface="Open Sans" pitchFamily="34" charset="-120"/>
                        </a:rPr>
                        <a:t>Sevana Bank</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False-positive rate at a level suitable for SOC triage</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Rate limiting</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Virtualised testbed, replayed and synthetic authentication traffic</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Open Sans" pitchFamily="34" charset="0"/>
                          <a:ea typeface="Open Sans" pitchFamily="34" charset="-122"/>
                          <a:cs typeface="Open Sans" pitchFamily="34" charset="-120"/>
                        </a:rPr>
                        <a:t>Chathura</a:t>
                      </a:r>
                      <a:endParaRPr lang="en-US" sz="1200" dirty="0">
                        <a:latin typeface="Open Sans" charset="0"/>
                        <a:ea typeface="Open Sans" charset="0"/>
                        <a:cs typeface="Open Sans" charset="0"/>
                      </a:endParaRPr>
                    </a:p>
                    <a:p>
                      <a:pPr indent="0" marL="0">
                        <a:buNone/>
                      </a:pPr>
                      <a:r>
                        <a:rPr lang="en-US" sz="1200" b="1" dirty="0">
                          <a:solidFill>
                            <a:srgbClr val="1A1A1A"/>
                          </a:solidFill>
                          <a:latin typeface="Open Sans" pitchFamily="34" charset="0"/>
                          <a:ea typeface="Open Sans" pitchFamily="34" charset="-122"/>
                          <a:cs typeface="Open Sans" pitchFamily="34" charset="-120"/>
                        </a:rPr>
                        <a:t>Pahana Retail</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Success rate of a defined set of attack techniques</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Out-of-the-box default configuration</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Small Active Directory testbed</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200" b="1" dirty="0">
                          <a:solidFill>
                            <a:srgbClr val="1A1A1A"/>
                          </a:solidFill>
                          <a:latin typeface="Open Sans" pitchFamily="34" charset="0"/>
                          <a:ea typeface="Open Sans" pitchFamily="34" charset="-122"/>
                          <a:cs typeface="Open Sans" pitchFamily="34" charset="-120"/>
                        </a:rPr>
                        <a:t>Dilini</a:t>
                      </a:r>
                      <a:endParaRPr lang="en-US" sz="1200" dirty="0">
                        <a:latin typeface="Open Sans" charset="0"/>
                        <a:ea typeface="Open Sans" charset="0"/>
                        <a:cs typeface="Open Sans" charset="0"/>
                      </a:endParaRPr>
                    </a:p>
                    <a:p>
                      <a:pPr indent="0" marL="0">
                        <a:buNone/>
                      </a:pPr>
                      <a:r>
                        <a:rPr lang="en-US" sz="1200" b="1" dirty="0">
                          <a:solidFill>
                            <a:srgbClr val="1A1A1A"/>
                          </a:solidFill>
                          <a:latin typeface="Open Sans" pitchFamily="34" charset="0"/>
                          <a:ea typeface="Open Sans" pitchFamily="34" charset="-122"/>
                          <a:cs typeface="Open Sans" pitchFamily="34" charset="-120"/>
                        </a:rPr>
                        <a:t>Suwa Sevana</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Proportion of seeded authorisation flaws detected</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Unstructured manual testing</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Open Sans" pitchFamily="34" charset="0"/>
                          <a:ea typeface="Open Sans" pitchFamily="34" charset="-122"/>
                          <a:cs typeface="Open Sans" pitchFamily="34" charset="-120"/>
                        </a:rPr>
                        <a:t>Controlled patient-records API, comparable time budget</a:t>
                      </a:r>
                      <a:endParaRPr lang="en-US" sz="12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7" name="Text 4"/>
          <p:cNvSpPr/>
          <p:nvPr/>
        </p:nvSpPr>
        <p:spPr>
          <a:xfrm>
            <a:off x="731520" y="3931920"/>
            <a:ext cx="7690104" cy="73152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A1A1A"/>
                </a:solidFill>
                <a:latin typeface="Open Sans" pitchFamily="34" charset="0"/>
                <a:ea typeface="Open Sans" pitchFamily="34" charset="-122"/>
                <a:cs typeface="Open Sans" pitchFamily="34" charset="-120"/>
              </a:rPr>
              <a:t>Not three examples. One claim, tested three times: the evaluation design was already latent in the comparison clause. Now try the extraction on your own question.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Three parts every evaluation needs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6916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 metric. What you count. Without it the claim is unmeasurable and cannot be argued either way.</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 baseline. What you compare against. Without it the result is uncompared and therefore uninterpretable.</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An environment. Where it runs, and why a result there means anything. Without it the work is unreproducible.</a:t>
            </a:r>
            <a:endParaRPr lang="en-US" sz="1400" dirty="0"/>
          </a:p>
        </p:txBody>
      </p:sp>
      <p:sp>
        <p:nvSpPr>
          <p:cNvPr id="7" name="Text 5"/>
          <p:cNvSpPr/>
          <p:nvPr/>
        </p:nvSpPr>
        <p:spPr>
          <a:xfrm>
            <a:off x="731520" y="3255264"/>
            <a:ext cx="7690104" cy="64008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A1A1A"/>
                </a:solidFill>
                <a:latin typeface="Open Sans" pitchFamily="34" charset="0"/>
                <a:ea typeface="Open Sans" pitchFamily="34" charset="-122"/>
                <a:cs typeface="Open Sans" pitchFamily="34" charset="-120"/>
              </a:rPr>
              <a:t>Three failures, one per part: an unmeasurable claim, an uncompared result, an unreproducible setup. Each is visible to a marker in a single reading.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01   Choosing and Justifying</a:t>
            </a:r>
            <a:endParaRPr lang="en-US" sz="3600" dirty="0"/>
          </a:p>
          <a:p>
            <a:pPr indent="0" marL="0">
              <a:buNone/>
            </a:pPr>
            <a:r>
              <a:rPr lang="en-US" sz="3600" b="1" dirty="0">
                <a:solidFill>
                  <a:srgbClr val="1A1A1A"/>
                </a:solidFill>
                <a:latin typeface="Open Sans" pitchFamily="34" charset="0"/>
                <a:ea typeface="Open Sans" pitchFamily="34" charset="-122"/>
                <a:cs typeface="Open Sans" pitchFamily="34" charset="-120"/>
              </a:rPr>
              <a:t>a Method</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Three method families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60020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Experimental. A treatment is applied and an outcome measured against a control. Supports a causal claim within the environment tested.</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Design-science. An artefact is built and evaluated against a defined need. Supports a claim that the artefact does something better than the incumbent.</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Build-and-evaluate, or proof-of-concept. Something is built, then measured against a baseline. Supports a claim of comparative performance.</a:t>
            </a:r>
            <a:endParaRPr lang="en-US" sz="1300" dirty="0"/>
          </a:p>
        </p:txBody>
      </p:sp>
      <p:sp>
        <p:nvSpPr>
          <p:cNvPr id="7" name="Text 5"/>
          <p:cNvSpPr/>
          <p:nvPr/>
        </p:nvSpPr>
        <p:spPr>
          <a:xfrm>
            <a:off x="731520" y="3163824"/>
            <a:ext cx="7690104" cy="64008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B3A6B"/>
                </a:solidFill>
                <a:latin typeface="Open Sans" pitchFamily="34" charset="0"/>
                <a:ea typeface="Open Sans" pitchFamily="34" charset="-122"/>
                <a:cs typeface="Open Sans" pitchFamily="34" charset="-120"/>
              </a:rPr>
              <a:t>Name your family, then move on. Marks are not lost here. They are lost in the three sections that follow.</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Matching method to archetype</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31520" y="1417320"/>
          <a:ext cx="7690104" cy="914400"/>
        </p:xfrm>
        <a:graphic>
          <a:graphicData uri="http://schemas.openxmlformats.org/drawingml/2006/table">
            <a:tbl>
              <a:tblPr/>
              <a:tblGrid>
                <a:gridCol w="2011680"/>
                <a:gridCol w="1600200"/>
                <a:gridCol w="4078224"/>
              </a:tblGrid>
              <a:tr h="0">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Solution archetype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Usual method family</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c>
                  <a:txBody>
                    <a:bodyPr/>
                    <a:lstStyle/>
                    <a:p>
                      <a:pPr indent="0" marL="0">
                        <a:buNone/>
                      </a:pPr>
                      <a:r>
                        <a:rPr lang="en-US" sz="1100" b="1" dirty="0">
                          <a:solidFill>
                            <a:srgbClr val="FFFFFF"/>
                          </a:solidFill>
                          <a:latin typeface="Open Sans" pitchFamily="34" charset="0"/>
                          <a:ea typeface="Open Sans" pitchFamily="34" charset="-122"/>
                          <a:cs typeface="Open Sans" pitchFamily="34" charset="-120"/>
                        </a:rPr>
                        <a:t>Why</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1B3A6B"/>
                    </a:solidFill>
                  </a:tcPr>
                </a:tc>
              </a:tr>
              <a:tr h="0">
                <a:tc>
                  <a:txBody>
                    <a:bodyPr/>
                    <a:lstStyle/>
                    <a:p>
                      <a:pPr indent="0" marL="0">
                        <a:buNone/>
                      </a:pPr>
                      <a:r>
                        <a:rPr lang="en-US" sz="1100" b="1" dirty="0">
                          <a:solidFill>
                            <a:srgbClr val="1A1A1A"/>
                          </a:solidFill>
                          <a:latin typeface="Open Sans" pitchFamily="34" charset="0"/>
                          <a:ea typeface="Open Sans" pitchFamily="34" charset="-122"/>
                          <a:cs typeface="Open Sans" pitchFamily="34" charset="-120"/>
                        </a:rPr>
                        <a:t>detection/monitoring tool</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build-and-evaluate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 detector is constructed, then measured against a baseline on defined traffic. The claim is comparative, so the method must produce numbers.</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Open Sans" pitchFamily="34" charset="0"/>
                          <a:ea typeface="Open Sans" pitchFamily="34" charset="-122"/>
                          <a:cs typeface="Open Sans" pitchFamily="34" charset="-120"/>
                        </a:rPr>
                        <a:t>hardening/defence framework</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experimental</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A treatment is applied and technique success rate measured before and after against a control. The claim is causal within the testbed.</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r h="0">
                <a:tc>
                  <a:txBody>
                    <a:bodyPr/>
                    <a:lstStyle/>
                    <a:p>
                      <a:pPr indent="0" marL="0">
                        <a:buNone/>
                      </a:pPr>
                      <a:r>
                        <a:rPr lang="en-US" sz="1100" b="1" dirty="0">
                          <a:solidFill>
                            <a:srgbClr val="1A1A1A"/>
                          </a:solidFill>
                          <a:latin typeface="Open Sans" pitchFamily="34" charset="0"/>
                          <a:ea typeface="Open Sans" pitchFamily="34" charset="-122"/>
                          <a:cs typeface="Open Sans" pitchFamily="34" charset="-120"/>
                        </a:rPr>
                        <a:t>security-testing methodology</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design-science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The artefact is the methodology itself; the evaluation shows it beats incumbent practice on a defined measure.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Open Sans" pitchFamily="34" charset="0"/>
                          <a:ea typeface="Open Sans" pitchFamily="34" charset="-122"/>
                          <a:cs typeface="Open Sans" pitchFamily="34" charset="-120"/>
                        </a:rPr>
                        <a:t>protocol/architecture design</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design-science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c>
                  <a:txBody>
                    <a:bodyPr/>
                    <a:lstStyle/>
                    <a:p>
                      <a:pPr indent="0" marL="0">
                        <a:buNone/>
                      </a:pPr>
                      <a:r>
                        <a:rPr lang="en-US" sz="1100" dirty="0">
                          <a:solidFill>
                            <a:srgbClr val="1A1A1A"/>
                          </a:solidFill>
                          <a:latin typeface="Open Sans" pitchFamily="34" charset="0"/>
                          <a:ea typeface="Open Sans" pitchFamily="34" charset="-122"/>
                          <a:cs typeface="Open Sans" pitchFamily="34" charset="-120"/>
                        </a:rPr>
                        <a:t>Usually analytical or simulation-based, because building the full stack is rarely feasible in the time available.</a:t>
                      </a:r>
                      <a:endParaRPr lang="en-US" sz="1100" dirty="0">
                        <a:latin typeface="Open Sans" charset="0"/>
                        <a:ea typeface="Open Sans" charset="0"/>
                        <a:cs typeface="Open Sans" charset="0"/>
                      </a:endParaRPr>
                    </a:p>
                  </a:txBody>
                  <a:tcPr marL="50800" marR="50800" marT="50800" marB="50800" anchor="t">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DF1F5"/>
                    </a:solidFill>
                  </a:tcPr>
                </a:tc>
              </a:tr>
            </a:tbl>
          </a:graphicData>
        </a:graphic>
      </p:graphicFrame>
      <p:sp>
        <p:nvSpPr>
          <p:cNvPr id="7" name="Text 4"/>
          <p:cNvSpPr/>
          <p:nvPr/>
        </p:nvSpPr>
        <p:spPr>
          <a:xfrm>
            <a:off x="731520" y="4169664"/>
            <a:ext cx="7690104" cy="45720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B3A6B"/>
                </a:solidFill>
                <a:latin typeface="Open Sans" pitchFamily="34" charset="0"/>
                <a:ea typeface="Open Sans" pitchFamily="34" charset="-122"/>
                <a:cs typeface="Open Sans" pitchFamily="34" charset="-120"/>
              </a:rPr>
              <a:t>The mapping is a default, not a rule. The question is the final arbiter.</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Listing tools, or justifying them</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411480" y="1417320"/>
            <a:ext cx="4133088" cy="402336"/>
          </a:xfrm>
          <a:prstGeom prst="rect">
            <a:avLst/>
          </a:prstGeom>
          <a:solidFill>
            <a:srgbClr val="1B3A6B"/>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Listing (sits at Pass)</a:t>
            </a:r>
            <a:endParaRPr lang="en-US" sz="1500" dirty="0"/>
          </a:p>
        </p:txBody>
      </p:sp>
      <p:sp>
        <p:nvSpPr>
          <p:cNvPr id="7" name="Text 5"/>
          <p:cNvSpPr/>
          <p:nvPr/>
        </p:nvSpPr>
        <p:spPr>
          <a:xfrm>
            <a:off x="4645152" y="1417320"/>
            <a:ext cx="4133088" cy="402336"/>
          </a:xfrm>
          <a:prstGeom prst="rect">
            <a:avLst/>
          </a:prstGeom>
          <a:solidFill>
            <a:srgbClr val="E0701A"/>
          </a:solidFill>
          <a:ln/>
        </p:spPr>
        <p:txBody>
          <a:bodyPr wrap="square" lIns="76200" tIns="76200" rIns="76200" bIns="7620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Justifying (moves the band)</a:t>
            </a:r>
            <a:endParaRPr lang="en-US" sz="1500" dirty="0"/>
          </a:p>
        </p:txBody>
      </p:sp>
      <p:sp>
        <p:nvSpPr>
          <p:cNvPr id="8" name="Text 6"/>
          <p:cNvSpPr/>
          <p:nvPr/>
        </p:nvSpPr>
        <p:spPr>
          <a:xfrm>
            <a:off x="411480" y="1819656"/>
            <a:ext cx="4133088" cy="2377440"/>
          </a:xfrm>
          <a:prstGeom prst="rect">
            <a:avLst/>
          </a:prstGeom>
          <a:noFill/>
          <a:ln w="9525">
            <a:solidFill>
              <a:srgbClr val="CCCCCC"/>
            </a:solidFill>
          </a:ln>
        </p:spPr>
        <p:txBody>
          <a:bodyPr wrap="square" lIns="101600" tIns="101600" rIns="101600" bIns="101600" rtlCol="0" anchor="t"/>
          <a:lstStyle/>
          <a:p>
            <a:pPr indent="0" marL="0">
              <a:spcAft>
                <a:spcPts val="600"/>
              </a:spcAft>
              <a:buNone/>
            </a:pPr>
            <a:r>
              <a:rPr lang="en-US" sz="1300" b="1" dirty="0">
                <a:solidFill>
                  <a:srgbClr val="1B3A6B"/>
                </a:solidFill>
                <a:latin typeface="Open Sans" pitchFamily="34" charset="0"/>
                <a:ea typeface="Open Sans" pitchFamily="34" charset="-122"/>
                <a:cs typeface="Open Sans" pitchFamily="34" charset="-120"/>
              </a:rPr>
              <a:t>Chathura, Pahana Retail - hardening</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Three baselines named, none chosen: CIS Benchmarks, DISA STIGs, Microsoft Security Baselines.</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No comparison is made, so no criterion for choosing is ever stated.</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"Industry-standard" and "widely used" would sit unchanged in any project in any environment.</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Nothing here is wrong. It is simply not a justification.</a:t>
            </a:r>
            <a:endParaRPr lang="en-US" sz="1100" dirty="0"/>
          </a:p>
        </p:txBody>
      </p:sp>
      <p:sp>
        <p:nvSpPr>
          <p:cNvPr id="9" name="Text 7"/>
          <p:cNvSpPr/>
          <p:nvPr/>
        </p:nvSpPr>
        <p:spPr>
          <a:xfrm>
            <a:off x="4645152" y="1819656"/>
            <a:ext cx="4133088" cy="2377440"/>
          </a:xfrm>
          <a:prstGeom prst="rect">
            <a:avLst/>
          </a:prstGeom>
          <a:noFill/>
          <a:ln w="9525">
            <a:solidFill>
              <a:srgbClr val="CCCCCC"/>
            </a:solidFill>
          </a:ln>
        </p:spPr>
        <p:txBody>
          <a:bodyPr wrap="square" lIns="101600" tIns="101600" rIns="101600" bIns="101600" rtlCol="0" anchor="t"/>
          <a:lstStyle/>
          <a:p>
            <a:pPr indent="0" marL="0">
              <a:spcAft>
                <a:spcPts val="600"/>
              </a:spcAft>
              <a:buNone/>
            </a:pPr>
            <a:r>
              <a:rPr lang="en-US" sz="1300" b="1" dirty="0">
                <a:solidFill>
                  <a:srgbClr val="E0701A"/>
                </a:solidFill>
                <a:latin typeface="Open Sans" pitchFamily="34" charset="0"/>
                <a:ea typeface="Open Sans" pitchFamily="34" charset="-122"/>
                <a:cs typeface="Open Sans" pitchFamily="34" charset="-120"/>
              </a:rPr>
              <a:t>The three tells of a real justification</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Alternatives are named and weighed: STIGs are prescriptive but assume a managed federal estate, not a retail SME.</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A criterion for choosing is stated: scoped to organisation size, expressed as discrete settings applied through Group Policy.</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The criterion comes from this project: the evaluation reports against NIST CSF Protect, so the baseline must map to it.</a:t>
            </a:r>
            <a:endParaRPr lang="en-US" sz="1100" dirty="0"/>
          </a:p>
          <a:p>
            <a:pPr marL="342900" indent="-342900">
              <a:spcAft>
                <a:spcPts val="600"/>
              </a:spcAft>
              <a:buSzPct val="100000"/>
              <a:buChar char="•"/>
            </a:pPr>
            <a:r>
              <a:rPr lang="en-US" sz="1100" dirty="0">
                <a:solidFill>
                  <a:srgbClr val="1A1A1A"/>
                </a:solidFill>
                <a:latin typeface="Open Sans" pitchFamily="34" charset="0"/>
                <a:ea typeface="Open Sans" pitchFamily="34" charset="-122"/>
                <a:cs typeface="Open Sans" pitchFamily="34" charset="-120"/>
              </a:rPr>
              <a:t>Rejected options are kept as comparison points.</a:t>
            </a:r>
            <a:endParaRPr lang="en-US" sz="1100" dirty="0"/>
          </a:p>
        </p:txBody>
      </p:sp>
      <p:sp>
        <p:nvSpPr>
          <p:cNvPr id="10" name="Text 8"/>
          <p:cNvSpPr/>
          <p:nvPr/>
        </p:nvSpPr>
        <p:spPr>
          <a:xfrm>
            <a:off x="411480" y="4261104"/>
            <a:ext cx="8321040" cy="347472"/>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Named move: from naming what exists to choosing on this environment's own grounds. In full: notes, Section 3.</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0701A"/>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13232"/>
            <a:ext cx="7690104" cy="658368"/>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Justify your tooling</a:t>
            </a:r>
            <a:endParaRPr lang="en-US" sz="3600" dirty="0"/>
          </a:p>
        </p:txBody>
      </p:sp>
      <p:sp>
        <p:nvSpPr>
          <p:cNvPr id="5" name="Text 3"/>
          <p:cNvSpPr/>
          <p:nvPr/>
        </p:nvSpPr>
        <p:spPr>
          <a:xfrm>
            <a:off x="731520" y="1426464"/>
            <a:ext cx="5029200" cy="365760"/>
          </a:xfrm>
          <a:prstGeom prst="rect">
            <a:avLst/>
          </a:prstGeom>
          <a:noFill/>
          <a:ln/>
        </p:spPr>
        <p:txBody>
          <a:bodyPr wrap="square" lIns="0" tIns="0" rIns="0" bIns="0" rtlCol="0" anchor="t"/>
          <a:lstStyle/>
          <a:p>
            <a:pPr indent="0" marL="0">
              <a:buNone/>
            </a:pPr>
            <a:r>
              <a:rPr lang="en-US" sz="1600" b="1" dirty="0">
                <a:solidFill>
                  <a:srgbClr val="FFFFFF"/>
                </a:solidFill>
                <a:latin typeface="Open Sans" pitchFamily="34" charset="0"/>
                <a:ea typeface="Open Sans" pitchFamily="34" charset="-122"/>
                <a:cs typeface="Open Sans" pitchFamily="34" charset="-120"/>
              </a:rPr>
              <a:t>Ten minutes, then debrief</a:t>
            </a:r>
            <a:endParaRPr lang="en-US" sz="1600" dirty="0"/>
          </a:p>
        </p:txBody>
      </p:sp>
      <p:sp>
        <p:nvSpPr>
          <p:cNvPr id="6" name="Text 4"/>
          <p:cNvSpPr/>
          <p:nvPr/>
        </p:nvSpPr>
        <p:spPr>
          <a:xfrm>
            <a:off x="731520" y="1920240"/>
            <a:ext cx="4206240" cy="2560320"/>
          </a:xfrm>
          <a:prstGeom prst="rect">
            <a:avLst/>
          </a:prstGeom>
          <a:solidFill>
            <a:srgbClr val="595959"/>
          </a:solidFill>
          <a:ln/>
        </p:spPr>
        <p:txBody>
          <a:bodyPr wrap="square" lIns="152400" tIns="152400" rIns="152400" bIns="152400" rtlCol="0" anchor="ctr"/>
          <a:lstStyle/>
          <a:p>
            <a:pPr indent="0" marL="0">
              <a:spcAft>
                <a:spcPts val="1000"/>
              </a:spcAft>
              <a:buNone/>
            </a:pPr>
            <a:r>
              <a:rPr lang="en-US" sz="1600" b="1" dirty="0">
                <a:solidFill>
                  <a:srgbClr val="FFFFFF"/>
                </a:solidFill>
                <a:latin typeface="Open Sans" pitchFamily="34" charset="0"/>
                <a:ea typeface="Open Sans" pitchFamily="34" charset="-122"/>
                <a:cs typeface="Open Sans" pitchFamily="34" charset="-120"/>
              </a:rPr>
              <a:t>Take one tool or framework you intend to use.</a:t>
            </a:r>
            <a:endParaRPr lang="en-US" sz="1600" dirty="0"/>
          </a:p>
          <a:p>
            <a:pPr indent="0" marL="0">
              <a:spcAft>
                <a:spcPts val="1000"/>
              </a:spcAft>
              <a:buNone/>
            </a:pPr>
            <a:r>
              <a:rPr lang="en-US" sz="1600" b="1" dirty="0">
                <a:solidFill>
                  <a:srgbClr val="FFFFFF"/>
                </a:solidFill>
                <a:latin typeface="Open Sans" pitchFamily="34" charset="0"/>
                <a:ea typeface="Open Sans" pitchFamily="34" charset="-122"/>
                <a:cs typeface="Open Sans" pitchFamily="34" charset="-120"/>
              </a:rPr>
              <a:t>Write one sentence in this form:</a:t>
            </a:r>
            <a:endParaRPr lang="en-US" sz="1600" dirty="0"/>
          </a:p>
          <a:p>
            <a:pPr indent="0" marL="0">
              <a:spcAft>
                <a:spcPts val="1000"/>
              </a:spcAft>
              <a:buNone/>
            </a:pPr>
            <a:r>
              <a:rPr lang="en-US" sz="1600" b="1" dirty="0">
                <a:solidFill>
                  <a:srgbClr val="FFFFFF"/>
                </a:solidFill>
                <a:latin typeface="Open Sans" pitchFamily="34" charset="0"/>
                <a:ea typeface="Open Sans" pitchFamily="34" charset="-122"/>
                <a:cs typeface="Open Sans" pitchFamily="34" charset="-120"/>
              </a:rPr>
              <a:t>chosen because ... , compared against ... , for this environment ...</a:t>
            </a:r>
            <a:endParaRPr lang="en-US" sz="1600" dirty="0"/>
          </a:p>
        </p:txBody>
      </p:sp>
      <p:sp>
        <p:nvSpPr>
          <p:cNvPr id="7" name="Text 5"/>
          <p:cNvSpPr/>
          <p:nvPr/>
        </p:nvSpPr>
        <p:spPr>
          <a:xfrm>
            <a:off x="5212080" y="1920240"/>
            <a:ext cx="3566160" cy="2560320"/>
          </a:xfrm>
          <a:prstGeom prst="rect">
            <a:avLst/>
          </a:prstGeom>
          <a:noFill/>
          <a:ln/>
        </p:spPr>
        <p:txBody>
          <a:bodyPr wrap="square" lIns="0" tIns="0" rIns="0" bIns="0" rtlCol="0" anchor="ctr"/>
          <a:lstStyle/>
          <a:p>
            <a:pPr indent="0" marL="0">
              <a:spcAft>
                <a:spcPts val="1200"/>
              </a:spcAft>
              <a:buNone/>
            </a:pPr>
            <a:r>
              <a:rPr lang="en-US" sz="1600" b="1" dirty="0">
                <a:solidFill>
                  <a:srgbClr val="FFFFFF"/>
                </a:solidFill>
                <a:latin typeface="Open Sans" pitchFamily="34" charset="0"/>
                <a:ea typeface="Open Sans" pitchFamily="34" charset="-122"/>
                <a:cs typeface="Open Sans" pitchFamily="34" charset="-120"/>
              </a:rPr>
              <a:t>At debrief, one question only:</a:t>
            </a:r>
            <a:endParaRPr lang="en-US" sz="1600" dirty="0"/>
          </a:p>
          <a:p>
            <a:pPr indent="0" marL="0">
              <a:spcAft>
                <a:spcPts val="1200"/>
              </a:spcAft>
              <a:buNone/>
            </a:pPr>
            <a:r>
              <a:rPr lang="en-US" sz="1600" b="1" dirty="0">
                <a:solidFill>
                  <a:srgbClr val="FFFFFF"/>
                </a:solidFill>
                <a:latin typeface="Open Sans" pitchFamily="34" charset="0"/>
                <a:ea typeface="Open Sans" pitchFamily="34" charset="-122"/>
                <a:cs typeface="Open Sans" pitchFamily="34" charset="-120"/>
              </a:rPr>
              <a:t>Would your sentence still be true in a different project, in a different organisation?</a:t>
            </a:r>
            <a:endParaRPr lang="en-US" sz="1600" dirty="0"/>
          </a:p>
          <a:p>
            <a:pPr indent="0" marL="0">
              <a:spcAft>
                <a:spcPts val="1200"/>
              </a:spcAft>
              <a:buNone/>
            </a:pPr>
            <a:r>
              <a:rPr lang="en-US" sz="1600" b="1" dirty="0">
                <a:solidFill>
                  <a:srgbClr val="FFFFFF"/>
                </a:solidFill>
                <a:latin typeface="Open Sans" pitchFamily="34" charset="0"/>
                <a:ea typeface="Open Sans" pitchFamily="34" charset="-122"/>
                <a:cs typeface="Open Sans" pitchFamily="34" charset="-120"/>
              </a:rPr>
              <a:t>If yes, it is a reputation argument, not a justification.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02   Designing the System</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What implementation-ready means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8745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Components are named by function, not by product.</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Data flow is shown: what moves between components, and in which direction.</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Trust boundaries are marked: where data crosses from one zone of control to another.</a:t>
            </a:r>
            <a:endParaRPr lang="en-US" sz="1400" dirty="0"/>
          </a:p>
          <a:p>
            <a:pPr marL="342900" indent="-342900">
              <a:lnSpc>
                <a:spcPct val="105000"/>
              </a:lnSpc>
              <a:spcAft>
                <a:spcPts val="600"/>
              </a:spcAft>
              <a:buSzPct val="100000"/>
              <a:buChar char="•"/>
            </a:pPr>
            <a:r>
              <a:rPr lang="en-US" sz="1400" b="1" dirty="0">
                <a:solidFill>
                  <a:srgbClr val="1A1A1A"/>
                </a:solidFill>
                <a:latin typeface="Open Sans" pitchFamily="34" charset="0"/>
                <a:ea typeface="Open Sans" pitchFamily="34" charset="-122"/>
                <a:cs typeface="Open Sans" pitchFamily="34" charset="-120"/>
              </a:rPr>
              <a:t>The point of measurement is identified: where the numbers in your evaluation are taken.</a:t>
            </a:r>
            <a:endParaRPr lang="en-US" sz="1400" dirty="0"/>
          </a:p>
        </p:txBody>
      </p:sp>
      <p:sp>
        <p:nvSpPr>
          <p:cNvPr id="7" name="Text 5"/>
          <p:cNvSpPr/>
          <p:nvPr/>
        </p:nvSpPr>
        <p:spPr>
          <a:xfrm>
            <a:off x="731520" y="3438144"/>
            <a:ext cx="7690104" cy="64008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B3A6B"/>
                </a:solidFill>
                <a:latin typeface="Open Sans" pitchFamily="34" charset="0"/>
                <a:ea typeface="Open Sans" pitchFamily="34" charset="-122"/>
                <a:cs typeface="Open Sans" pitchFamily="34" charset="-120"/>
              </a:rPr>
              <a:t>The test at Level 6: it is a design you could hand to someone else to build. Not a diagram of boxes.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 worked architecture sketch</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411480" y="1280160"/>
            <a:ext cx="8321040" cy="292608"/>
          </a:xfrm>
          <a:prstGeom prst="rect">
            <a:avLst/>
          </a:prstGeom>
          <a:noFill/>
          <a:ln/>
        </p:spPr>
        <p:txBody>
          <a:bodyPr wrap="square" lIns="0" tIns="0" rIns="0" bIns="0" rtlCol="0" anchor="t"/>
          <a:lstStyle/>
          <a:p>
            <a:pPr indent="0" marL="0">
              <a:buNone/>
            </a:pPr>
            <a:r>
              <a:rPr lang="en-US" sz="1200" i="1" dirty="0">
                <a:solidFill>
                  <a:srgbClr val="595959"/>
                </a:solidFill>
                <a:latin typeface="Open Sans" pitchFamily="34" charset="0"/>
                <a:ea typeface="Open Sans" pitchFamily="34" charset="-122"/>
                <a:cs typeface="Open Sans" pitchFamily="34" charset="-120"/>
              </a:rPr>
              <a:t>Tharindu, Sevana Bank - detection of distributed credential stuffing</a:t>
            </a:r>
            <a:endParaRPr lang="en-US" sz="1200" dirty="0"/>
          </a:p>
        </p:txBody>
      </p:sp>
      <p:sp>
        <p:nvSpPr>
          <p:cNvPr id="7" name="Text 5"/>
          <p:cNvSpPr/>
          <p:nvPr/>
        </p:nvSpPr>
        <p:spPr>
          <a:xfrm>
            <a:off x="411480" y="1691640"/>
            <a:ext cx="1888236" cy="960120"/>
          </a:xfrm>
          <a:prstGeom prst="rect">
            <a:avLst/>
          </a:prstGeom>
          <a:solidFill>
            <a:srgbClr val="C5D6E8"/>
          </a:solidFill>
          <a:ln/>
        </p:spPr>
        <p:txBody>
          <a:bodyPr wrap="square" lIns="76200" tIns="76200" rIns="76200" bIns="76200" rtlCol="0" anchor="ctr"/>
          <a:lstStyle/>
          <a:p>
            <a:pPr algn="ctr" indent="0" marL="0">
              <a:buNone/>
            </a:pPr>
            <a:r>
              <a:rPr lang="en-US" sz="1100" b="1" dirty="0">
                <a:solidFill>
                  <a:srgbClr val="1B3A6B"/>
                </a:solidFill>
                <a:latin typeface="Open Sans" pitchFamily="34" charset="0"/>
                <a:ea typeface="Open Sans" pitchFamily="34" charset="-122"/>
                <a:cs typeface="Open Sans" pitchFamily="34" charset="-120"/>
              </a:rPr>
              <a:t>Traffic source</a:t>
            </a:r>
            <a:endParaRPr lang="en-US" sz="1100" dirty="0"/>
          </a:p>
        </p:txBody>
      </p:sp>
      <p:sp>
        <p:nvSpPr>
          <p:cNvPr id="8" name="Shape 6"/>
          <p:cNvSpPr/>
          <p:nvPr/>
        </p:nvSpPr>
        <p:spPr>
          <a:xfrm>
            <a:off x="2299716" y="2112264"/>
            <a:ext cx="256032" cy="82296"/>
          </a:xfrm>
          <a:prstGeom prst="rect">
            <a:avLst/>
          </a:prstGeom>
          <a:solidFill>
            <a:srgbClr val="1B3A6B"/>
          </a:solidFill>
          <a:ln/>
        </p:spPr>
      </p:sp>
      <p:sp>
        <p:nvSpPr>
          <p:cNvPr id="9" name="Text 7"/>
          <p:cNvSpPr/>
          <p:nvPr/>
        </p:nvSpPr>
        <p:spPr>
          <a:xfrm>
            <a:off x="2555748" y="1691640"/>
            <a:ext cx="1888236" cy="960120"/>
          </a:xfrm>
          <a:prstGeom prst="rect">
            <a:avLst/>
          </a:prstGeom>
          <a:solidFill>
            <a:srgbClr val="C5D6E8"/>
          </a:solidFill>
          <a:ln/>
        </p:spPr>
        <p:txBody>
          <a:bodyPr wrap="square" lIns="76200" tIns="76200" rIns="76200" bIns="76200" rtlCol="0" anchor="ctr"/>
          <a:lstStyle/>
          <a:p>
            <a:pPr algn="ctr" indent="0" marL="0">
              <a:buNone/>
            </a:pPr>
            <a:r>
              <a:rPr lang="en-US" sz="1100" b="1" dirty="0">
                <a:solidFill>
                  <a:srgbClr val="1B3A6B"/>
                </a:solidFill>
                <a:latin typeface="Open Sans" pitchFamily="34" charset="0"/>
                <a:ea typeface="Open Sans" pitchFamily="34" charset="-122"/>
                <a:cs typeface="Open Sans" pitchFamily="34" charset="-120"/>
              </a:rPr>
              <a:t>Feature extraction</a:t>
            </a:r>
            <a:endParaRPr lang="en-US" sz="1100" dirty="0"/>
          </a:p>
        </p:txBody>
      </p:sp>
      <p:sp>
        <p:nvSpPr>
          <p:cNvPr id="10" name="Shape 8"/>
          <p:cNvSpPr/>
          <p:nvPr/>
        </p:nvSpPr>
        <p:spPr>
          <a:xfrm>
            <a:off x="4443984" y="2112264"/>
            <a:ext cx="256032" cy="82296"/>
          </a:xfrm>
          <a:prstGeom prst="rect">
            <a:avLst/>
          </a:prstGeom>
          <a:solidFill>
            <a:srgbClr val="1B3A6B"/>
          </a:solidFill>
          <a:ln/>
        </p:spPr>
      </p:sp>
      <p:sp>
        <p:nvSpPr>
          <p:cNvPr id="11" name="Text 9"/>
          <p:cNvSpPr/>
          <p:nvPr/>
        </p:nvSpPr>
        <p:spPr>
          <a:xfrm>
            <a:off x="4700016" y="1691640"/>
            <a:ext cx="1888236" cy="960120"/>
          </a:xfrm>
          <a:prstGeom prst="rect">
            <a:avLst/>
          </a:prstGeom>
          <a:solidFill>
            <a:srgbClr val="C5D6E8"/>
          </a:solidFill>
          <a:ln/>
        </p:spPr>
        <p:txBody>
          <a:bodyPr wrap="square" lIns="76200" tIns="76200" rIns="76200" bIns="76200" rtlCol="0" anchor="ctr"/>
          <a:lstStyle/>
          <a:p>
            <a:pPr algn="ctr" indent="0" marL="0">
              <a:buNone/>
            </a:pPr>
            <a:r>
              <a:rPr lang="en-US" sz="1100" b="1" dirty="0">
                <a:solidFill>
                  <a:srgbClr val="1B3A6B"/>
                </a:solidFill>
                <a:latin typeface="Open Sans" pitchFamily="34" charset="0"/>
                <a:ea typeface="Open Sans" pitchFamily="34" charset="-122"/>
                <a:cs typeface="Open Sans" pitchFamily="34" charset="-120"/>
              </a:rPr>
              <a:t>Scoring model</a:t>
            </a:r>
            <a:endParaRPr lang="en-US" sz="1100" dirty="0"/>
          </a:p>
        </p:txBody>
      </p:sp>
      <p:sp>
        <p:nvSpPr>
          <p:cNvPr id="12" name="Shape 10"/>
          <p:cNvSpPr/>
          <p:nvPr/>
        </p:nvSpPr>
        <p:spPr>
          <a:xfrm>
            <a:off x="6588252" y="2112264"/>
            <a:ext cx="256032" cy="82296"/>
          </a:xfrm>
          <a:prstGeom prst="rect">
            <a:avLst/>
          </a:prstGeom>
          <a:solidFill>
            <a:srgbClr val="1B3A6B"/>
          </a:solidFill>
          <a:ln/>
        </p:spPr>
      </p:sp>
      <p:sp>
        <p:nvSpPr>
          <p:cNvPr id="13" name="Text 11"/>
          <p:cNvSpPr/>
          <p:nvPr/>
        </p:nvSpPr>
        <p:spPr>
          <a:xfrm>
            <a:off x="6844284" y="1691640"/>
            <a:ext cx="1888236" cy="960120"/>
          </a:xfrm>
          <a:prstGeom prst="rect">
            <a:avLst/>
          </a:prstGeom>
          <a:solidFill>
            <a:srgbClr val="C5D6E8"/>
          </a:solidFill>
          <a:ln/>
        </p:spPr>
        <p:txBody>
          <a:bodyPr wrap="square" lIns="76200" tIns="76200" rIns="76200" bIns="76200" rtlCol="0" anchor="ctr"/>
          <a:lstStyle/>
          <a:p>
            <a:pPr algn="ctr" indent="0" marL="0">
              <a:buNone/>
            </a:pPr>
            <a:r>
              <a:rPr lang="en-US" sz="1100" b="1" dirty="0">
                <a:solidFill>
                  <a:srgbClr val="1B3A6B"/>
                </a:solidFill>
                <a:latin typeface="Open Sans" pitchFamily="34" charset="0"/>
                <a:ea typeface="Open Sans" pitchFamily="34" charset="-122"/>
                <a:cs typeface="Open Sans" pitchFamily="34" charset="-120"/>
              </a:rPr>
              <a:t>Decision output</a:t>
            </a:r>
            <a:endParaRPr lang="en-US" sz="1100" dirty="0"/>
          </a:p>
        </p:txBody>
      </p:sp>
      <p:sp>
        <p:nvSpPr>
          <p:cNvPr id="14" name="Shape 12"/>
          <p:cNvSpPr/>
          <p:nvPr/>
        </p:nvSpPr>
        <p:spPr>
          <a:xfrm>
            <a:off x="6697980" y="2651760"/>
            <a:ext cx="36576" cy="137160"/>
          </a:xfrm>
          <a:prstGeom prst="rect">
            <a:avLst/>
          </a:prstGeom>
          <a:solidFill>
            <a:srgbClr val="1B3A6B"/>
          </a:solidFill>
          <a:ln/>
        </p:spPr>
      </p:sp>
      <p:sp>
        <p:nvSpPr>
          <p:cNvPr id="15" name="Text 13"/>
          <p:cNvSpPr/>
          <p:nvPr/>
        </p:nvSpPr>
        <p:spPr>
          <a:xfrm>
            <a:off x="5662422" y="2788920"/>
            <a:ext cx="2107692" cy="530352"/>
          </a:xfrm>
          <a:prstGeom prst="rect">
            <a:avLst/>
          </a:prstGeom>
          <a:solidFill>
            <a:srgbClr val="E0701A"/>
          </a:solidFill>
          <a:ln/>
        </p:spPr>
        <p:txBody>
          <a:bodyPr wrap="square" lIns="50800" tIns="50800" rIns="50800" bIns="50800" rtlCol="0" anchor="ctr"/>
          <a:lstStyle/>
          <a:p>
            <a:pPr algn="ctr" indent="0" marL="0">
              <a:buNone/>
            </a:pPr>
            <a:r>
              <a:rPr lang="en-US" sz="1200" b="1" dirty="0">
                <a:solidFill>
                  <a:srgbClr val="FFFFFF"/>
                </a:solidFill>
                <a:latin typeface="Open Sans" pitchFamily="34" charset="0"/>
                <a:ea typeface="Open Sans" pitchFamily="34" charset="-122"/>
                <a:cs typeface="Open Sans" pitchFamily="34" charset="-120"/>
              </a:rPr>
              <a:t>Measurement point</a:t>
            </a:r>
            <a:endParaRPr lang="en-US" sz="1200" dirty="0"/>
          </a:p>
          <a:p>
            <a:pPr algn="ctr" indent="0" marL="0">
              <a:buNone/>
            </a:pPr>
            <a:r>
              <a:rPr lang="en-US" sz="1100" b="1" dirty="0">
                <a:solidFill>
                  <a:srgbClr val="FFFFFF"/>
                </a:solidFill>
                <a:latin typeface="Open Sans" pitchFamily="34" charset="0"/>
                <a:ea typeface="Open Sans" pitchFamily="34" charset="-122"/>
                <a:cs typeface="Open Sans" pitchFamily="34" charset="-120"/>
              </a:rPr>
              <a:t>false positives</a:t>
            </a:r>
            <a:endParaRPr lang="en-US" sz="1200" dirty="0"/>
          </a:p>
        </p:txBody>
      </p:sp>
      <p:sp>
        <p:nvSpPr>
          <p:cNvPr id="16" name="Text 14"/>
          <p:cNvSpPr/>
          <p:nvPr/>
        </p:nvSpPr>
        <p:spPr>
          <a:xfrm>
            <a:off x="411480" y="3474720"/>
            <a:ext cx="8321040" cy="914400"/>
          </a:xfrm>
          <a:prstGeom prst="rect">
            <a:avLst/>
          </a:prstGeom>
          <a:solidFill>
            <a:srgbClr val="EDF1F5"/>
          </a:solidFill>
          <a:ln/>
        </p:spPr>
        <p:txBody>
          <a:bodyPr wrap="square" lIns="127000" tIns="127000" rIns="127000" bIns="127000" rtlCol="0" anchor="ctr"/>
          <a:lstStyle/>
          <a:p>
            <a:pPr indent="0" marL="0">
              <a:buNone/>
            </a:pPr>
            <a:r>
              <a:rPr lang="en-US" sz="1200" dirty="0">
                <a:solidFill>
                  <a:srgbClr val="1A1A1A"/>
                </a:solidFill>
                <a:latin typeface="Open Sans" pitchFamily="34" charset="0"/>
                <a:ea typeface="Open Sans" pitchFamily="34" charset="-122"/>
                <a:cs typeface="Open Sans" pitchFamily="34" charset="-120"/>
              </a:rPr>
              <a:t>Measurement is not a stage of the pipeline. It is something you attach at a chosen point, and the choice is an argument you have to make. Here it sits where scores become decisions, because that is where a false positive is created and can be counted.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Common architecture failures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1031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A diagram with no data flow. Boxes with no arrows describe an inventory, not a design.</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A design that cannot be built in the time available. Feasibility is assessed under Criterion 3 and again under Criterion 4.</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A component named after a product rather than a function. Products change; functions are what you are designing.</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A sketch with no point of measurement. This is the one that silently kills the evaluation.</a:t>
            </a:r>
            <a:endParaRPr lang="en-US" sz="1300" dirty="0"/>
          </a:p>
        </p:txBody>
      </p:sp>
      <p:sp>
        <p:nvSpPr>
          <p:cNvPr id="7" name="Text 5"/>
          <p:cNvSpPr/>
          <p:nvPr/>
        </p:nvSpPr>
        <p:spPr>
          <a:xfrm>
            <a:off x="731520" y="3666744"/>
            <a:ext cx="7690104" cy="64008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A1A1A"/>
                </a:solidFill>
                <a:latin typeface="Open Sans" pitchFamily="34" charset="0"/>
                <a:ea typeface="Open Sans" pitchFamily="34" charset="-122"/>
                <a:cs typeface="Open Sans" pitchFamily="34" charset="-120"/>
              </a:rPr>
              <a:t>Only the last one is invisible to the student. The other three get spotted in supervision; that one survives to the marking.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testbed as a controlled room</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41732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A testbed is not a scale model of the target network, and it is not trying to be.</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Reproducibility is the point: another person, given your description, should be able to rebuild it and get a comparable number.</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Everything in this module runs in a self-built virtualised testbed or laboratory. Nothing is directed at a live third-party system.</a:t>
            </a:r>
            <a:endParaRPr lang="en-US" sz="1300" dirty="0"/>
          </a:p>
        </p:txBody>
      </p:sp>
      <p:sp>
        <p:nvSpPr>
          <p:cNvPr id="7" name="Shape 5"/>
          <p:cNvSpPr/>
          <p:nvPr/>
        </p:nvSpPr>
        <p:spPr>
          <a:xfrm>
            <a:off x="731520" y="2999232"/>
            <a:ext cx="7690104" cy="1143000"/>
          </a:xfrm>
          <a:prstGeom prst="rect">
            <a:avLst/>
          </a:prstGeom>
          <a:solidFill>
            <a:srgbClr val="F0EAE0"/>
          </a:solidFill>
          <a:ln/>
        </p:spPr>
      </p:sp>
      <p:sp>
        <p:nvSpPr>
          <p:cNvPr id="8" name="Shape 6"/>
          <p:cNvSpPr/>
          <p:nvPr/>
        </p:nvSpPr>
        <p:spPr>
          <a:xfrm>
            <a:off x="731520" y="2999232"/>
            <a:ext cx="82296" cy="1143000"/>
          </a:xfrm>
          <a:prstGeom prst="rect">
            <a:avLst/>
          </a:prstGeom>
          <a:solidFill>
            <a:srgbClr val="977F5A"/>
          </a:solidFill>
          <a:ln/>
        </p:spPr>
      </p:sp>
      <p:sp>
        <p:nvSpPr>
          <p:cNvPr id="9" name="Text 7"/>
          <p:cNvSpPr/>
          <p:nvPr/>
        </p:nvSpPr>
        <p:spPr>
          <a:xfrm>
            <a:off x="941832" y="3072384"/>
            <a:ext cx="7223760" cy="237744"/>
          </a:xfrm>
          <a:prstGeom prst="rect">
            <a:avLst/>
          </a:prstGeom>
          <a:noFill/>
          <a:ln/>
        </p:spPr>
        <p:txBody>
          <a:bodyPr wrap="square" lIns="0" tIns="0" rIns="0" bIns="0" rtlCol="0" anchor="t"/>
          <a:lstStyle/>
          <a:p>
            <a:pPr indent="0" marL="0">
              <a:buNone/>
            </a:pPr>
            <a:r>
              <a:rPr lang="en-US" sz="1400" b="1" dirty="0">
                <a:solidFill>
                  <a:srgbClr val="977F5A"/>
                </a:solidFill>
                <a:latin typeface="Open Sans" pitchFamily="34" charset="0"/>
                <a:ea typeface="Open Sans" pitchFamily="34" charset="-122"/>
                <a:cs typeface="Open Sans" pitchFamily="34" charset="-120"/>
              </a:rPr>
              <a:t>Analogy</a:t>
            </a:r>
            <a:endParaRPr lang="en-US" sz="1400" dirty="0"/>
          </a:p>
        </p:txBody>
      </p:sp>
      <p:sp>
        <p:nvSpPr>
          <p:cNvPr id="10" name="Text 8"/>
          <p:cNvSpPr/>
          <p:nvPr/>
        </p:nvSpPr>
        <p:spPr>
          <a:xfrm>
            <a:off x="941832" y="3328416"/>
            <a:ext cx="7223760" cy="740664"/>
          </a:xfrm>
          <a:prstGeom prst="rect">
            <a:avLst/>
          </a:prstGeom>
          <a:noFill/>
          <a:ln/>
        </p:spPr>
        <p:txBody>
          <a:bodyPr wrap="square" lIns="0" tIns="0" rIns="0" bIns="0" rtlCol="0" anchor="t"/>
          <a:lstStyle/>
          <a:p>
            <a:pPr indent="0" marL="0">
              <a:buNone/>
            </a:pPr>
            <a:r>
              <a:rPr lang="en-US" sz="1300" dirty="0">
                <a:solidFill>
                  <a:srgbClr val="1A1A1A"/>
                </a:solidFill>
                <a:latin typeface="Open Sans" pitchFamily="34" charset="0"/>
                <a:ea typeface="Open Sans" pitchFamily="34" charset="-122"/>
                <a:cs typeface="Open Sans" pitchFamily="34" charset="-120"/>
              </a:rPr>
              <a:t>A testbed is not a smaller version of the real network. It is a room where you have removed everything you are not measuring, so that when the number changes you know why.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AF0F6"/>
          </a:solidFill>
          <a:ln/>
        </p:spPr>
      </p:sp>
      <p:sp>
        <p:nvSpPr>
          <p:cNvPr id="3" name="Shape 1"/>
          <p:cNvSpPr/>
          <p:nvPr/>
        </p:nvSpPr>
        <p:spPr>
          <a:xfrm>
            <a:off x="731520" y="1097280"/>
            <a:ext cx="502920" cy="45720"/>
          </a:xfrm>
          <a:prstGeom prst="rect">
            <a:avLst/>
          </a:prstGeom>
          <a:solidFill>
            <a:srgbClr val="1B3A6B"/>
          </a:solidFill>
          <a:ln/>
        </p:spPr>
      </p:sp>
      <p:sp>
        <p:nvSpPr>
          <p:cNvPr id="4" name="Text 2"/>
          <p:cNvSpPr/>
          <p:nvPr/>
        </p:nvSpPr>
        <p:spPr>
          <a:xfrm>
            <a:off x="731520" y="1325880"/>
            <a:ext cx="7690104" cy="1517904"/>
          </a:xfrm>
          <a:prstGeom prst="rect">
            <a:avLst/>
          </a:prstGeom>
          <a:noFill/>
          <a:ln/>
        </p:spPr>
        <p:txBody>
          <a:bodyPr wrap="square" lIns="0" tIns="0" rIns="0" bIns="0" rtlCol="0" anchor="t"/>
          <a:lstStyle/>
          <a:p>
            <a:pPr indent="0" marL="0">
              <a:buNone/>
            </a:pPr>
            <a:r>
              <a:rPr lang="en-US" sz="3600" b="1" dirty="0">
                <a:solidFill>
                  <a:srgbClr val="1A1A1A"/>
                </a:solidFill>
                <a:latin typeface="Open Sans" pitchFamily="34" charset="0"/>
                <a:ea typeface="Open Sans" pitchFamily="34" charset="-122"/>
                <a:cs typeface="Open Sans" pitchFamily="34" charset="-120"/>
              </a:rPr>
              <a:t>03   Designing the Evaluation</a:t>
            </a:r>
            <a:endParaRPr lang="en-US" sz="3600" dirty="0"/>
          </a:p>
        </p:txBody>
      </p:sp>
      <p:sp>
        <p:nvSpPr>
          <p:cNvPr id="5" name="Shape 3"/>
          <p:cNvSpPr/>
          <p:nvPr/>
        </p:nvSpPr>
        <p:spPr>
          <a:xfrm>
            <a:off x="731520" y="2788920"/>
            <a:ext cx="749808" cy="82296"/>
          </a:xfrm>
          <a:prstGeom prst="rect">
            <a:avLst/>
          </a:prstGeom>
          <a:solidFill>
            <a:srgbClr val="1B3A6B"/>
          </a:solidFill>
          <a:ln/>
        </p:spPr>
      </p:sp>
      <p:sp>
        <p:nvSpPr>
          <p:cNvPr id="6" name="Shape 4"/>
          <p:cNvSpPr/>
          <p:nvPr/>
        </p:nvSpPr>
        <p:spPr>
          <a:xfrm>
            <a:off x="1536192" y="2788920"/>
            <a:ext cx="384048" cy="82296"/>
          </a:xfrm>
          <a:prstGeom prst="rect">
            <a:avLst/>
          </a:prstGeom>
          <a:solidFill>
            <a:srgbClr val="E0701A"/>
          </a:solidFill>
          <a:ln/>
        </p:spPr>
      </p:sp>
      <p:pic>
        <p:nvPicPr>
          <p:cNvPr id="7" name="Image 0" descr="preencoded.png">    </p:cNvPr>
          <p:cNvPicPr>
            <a:picLocks noChangeAspect="1"/>
          </p:cNvPicPr>
          <p:nvPr/>
        </p:nvPicPr>
        <p:blipFill>
          <a:blip r:embed="rId1"/>
          <a:stretch>
            <a:fillRect/>
          </a:stretch>
        </p:blipFill>
        <p:spPr>
          <a:xfrm>
            <a:off x="5715863" y="3017520"/>
            <a:ext cx="2970937" cy="18745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Choosing domain-appropriate metrics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92024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Detection work: detection rate, false-positive rate, precision and recall. Report the pair, never one alone.</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Hardening work: technique success rate against a defined technique set, and coverage of that set.</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Performance and response work: throughput, latency, time-to-containment.</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Testing methodology work: proportion of known flaws found, and which classes were missed.</a:t>
            </a:r>
            <a:endParaRPr lang="en-US" sz="1300" dirty="0"/>
          </a:p>
        </p:txBody>
      </p:sp>
      <p:sp>
        <p:nvSpPr>
          <p:cNvPr id="7" name="Text 5"/>
          <p:cNvSpPr/>
          <p:nvPr/>
        </p:nvSpPr>
        <p:spPr>
          <a:xfrm>
            <a:off x="731520" y="3483864"/>
            <a:ext cx="7690104" cy="86868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B11E2A"/>
                </a:solidFill>
                <a:latin typeface="Open Sans" pitchFamily="34" charset="0"/>
                <a:ea typeface="Open Sans" pitchFamily="34" charset="-122"/>
                <a:cs typeface="Open Sans" pitchFamily="34" charset="-120"/>
              </a:rPr>
              <a:t>Accuracy alone is almost never the right answer in security. </a:t>
            </a:r>
            <a:pPr indent="0" marL="0">
              <a:buNone/>
            </a:pPr>
            <a:r>
              <a:rPr lang="en-US" sz="1300" b="1" dirty="0">
                <a:solidFill>
                  <a:srgbClr val="1A1A1A"/>
                </a:solidFill>
                <a:latin typeface="Open Sans" pitchFamily="34" charset="0"/>
                <a:ea typeface="Open Sans" pitchFamily="34" charset="-122"/>
                <a:cs typeface="Open Sans" pitchFamily="34" charset="-120"/>
              </a:rPr>
              <a:t>Ask the degenerate-case question of any metric you propose: what would a system that does nothing score? If it scores well, the metric is wrong.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A worked evaluation design</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645920"/>
            <a:ext cx="7690104" cy="224028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Ground truth: a fixed set of authorisation flaws seeded before testing begins, horizontal and vertical cases, not visible to the tester during the run.</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Metric: the proportion of seeded flaws detected.</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Baseline: unstructured manual testing.</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Controlled condition: a comparable time budget for both arms, so the comparison measures the methodology and not the effort.</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Secondary observation: which flaw classes each approach missed, which makes even a null result informative.</a:t>
            </a:r>
            <a:endParaRPr lang="en-US" sz="1300" dirty="0"/>
          </a:p>
        </p:txBody>
      </p:sp>
      <p:sp>
        <p:nvSpPr>
          <p:cNvPr id="7" name="Text 5"/>
          <p:cNvSpPr/>
          <p:nvPr/>
        </p:nvSpPr>
        <p:spPr>
          <a:xfrm>
            <a:off x="731520" y="4032504"/>
            <a:ext cx="7690104" cy="603504"/>
          </a:xfrm>
          <a:prstGeom prst="rect">
            <a:avLst/>
          </a:prstGeom>
          <a:solidFill>
            <a:srgbClr val="E3E9EF"/>
          </a:solidFill>
          <a:ln/>
        </p:spPr>
        <p:txBody>
          <a:bodyPr wrap="square" lIns="127000" tIns="127000" rIns="127000" bIns="127000" rtlCol="0" anchor="ctr"/>
          <a:lstStyle/>
          <a:p>
            <a:pPr indent="0" marL="0">
              <a:buNone/>
            </a:pPr>
            <a:r>
              <a:rPr lang="en-US" sz="1200" b="1" dirty="0">
                <a:solidFill>
                  <a:srgbClr val="1A1A1A"/>
                </a:solidFill>
                <a:latin typeface="Open Sans" pitchFamily="34" charset="0"/>
                <a:ea typeface="Open Sans" pitchFamily="34" charset="-122"/>
                <a:cs typeface="Open Sans" pitchFamily="34" charset="-120"/>
              </a:rPr>
              <a:t>Read the chain backwards and it lands on the question. Full statement, with its three stated threats to validity: student notes, Section 4.</a:t>
            </a:r>
            <a:endParaRPr lang="en-US" sz="1200" dirty="0"/>
          </a:p>
        </p:txBody>
      </p:sp>
      <p:sp>
        <p:nvSpPr>
          <p:cNvPr id="9" name="Text 6"/>
          <p:cNvSpPr/>
          <p:nvPr/>
        </p:nvSpPr>
        <p:spPr>
          <a:xfrm>
            <a:off x="731520" y="1280160"/>
            <a:ext cx="7690104" cy="347472"/>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Dilini, Suwa Sevana Teaching Hospital - object-level authorisation testing  [Illustrative example - do not cite]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Threats to validity, and how to state them</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219456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The testbed does not resemble the target environment. State the divergence and scope the claim to the testbed.</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The baseline was chosen because it is easy to beat. Choose the baseline the target environment would actually use, and say why it is the fair comparison.</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The metric rewards the wrong behaviour. Check the degenerate case; if doing nothing scores well, the metric is wrong.</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The seeded set or dataset leaks the answer. Fix it in advance, keep it out of sight during the run, and disclose how it was built.</a:t>
            </a:r>
            <a:endParaRPr lang="en-US" sz="1300" dirty="0"/>
          </a:p>
        </p:txBody>
      </p:sp>
      <p:sp>
        <p:nvSpPr>
          <p:cNvPr id="7" name="Text 5"/>
          <p:cNvSpPr/>
          <p:nvPr/>
        </p:nvSpPr>
        <p:spPr>
          <a:xfrm>
            <a:off x="731520" y="3758184"/>
            <a:ext cx="7690104" cy="640080"/>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1B3A6B"/>
                </a:solidFill>
                <a:latin typeface="Open Sans" pitchFamily="34" charset="0"/>
                <a:ea typeface="Open Sans" pitchFamily="34" charset="-122"/>
                <a:cs typeface="Open Sans" pitchFamily="34" charset="-120"/>
              </a:rPr>
              <a:t>State them. Do not hide them. Naming a limitation is a mark of rigour, not a confession.</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E9E5C"/>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13232"/>
            <a:ext cx="7690104" cy="658368"/>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Grade this methodology</a:t>
            </a:r>
            <a:endParaRPr lang="en-US" sz="3600" dirty="0"/>
          </a:p>
        </p:txBody>
      </p:sp>
      <p:sp>
        <p:nvSpPr>
          <p:cNvPr id="5" name="Text 3"/>
          <p:cNvSpPr/>
          <p:nvPr/>
        </p:nvSpPr>
        <p:spPr>
          <a:xfrm>
            <a:off x="731520" y="1426464"/>
            <a:ext cx="7690104" cy="365760"/>
          </a:xfrm>
          <a:prstGeom prst="rect">
            <a:avLst/>
          </a:prstGeom>
          <a:noFill/>
          <a:ln/>
        </p:spPr>
        <p:txBody>
          <a:bodyPr wrap="square" lIns="0" tIns="0" rIns="0" bIns="0" rtlCol="0" anchor="t"/>
          <a:lstStyle/>
          <a:p>
            <a:pPr indent="0" marL="0">
              <a:buNone/>
            </a:pPr>
            <a:r>
              <a:rPr lang="en-US" sz="1600" b="1" dirty="0">
                <a:solidFill>
                  <a:srgbClr val="FFFFFF"/>
                </a:solidFill>
                <a:latin typeface="Open Sans" pitchFamily="34" charset="0"/>
                <a:ea typeface="Open Sans" pitchFamily="34" charset="-122"/>
                <a:cs typeface="Open Sans" pitchFamily="34" charset="-120"/>
              </a:rPr>
              <a:t>The excerpt is in your notes at Section 4.5.</a:t>
            </a:r>
            <a:endParaRPr lang="en-US" sz="1600" dirty="0"/>
          </a:p>
        </p:txBody>
      </p:sp>
      <p:sp>
        <p:nvSpPr>
          <p:cNvPr id="6" name="Text 4"/>
          <p:cNvSpPr/>
          <p:nvPr/>
        </p:nvSpPr>
        <p:spPr>
          <a:xfrm>
            <a:off x="1371600" y="1901952"/>
            <a:ext cx="6400800" cy="2029968"/>
          </a:xfrm>
          <a:prstGeom prst="rect">
            <a:avLst/>
          </a:prstGeom>
          <a:solidFill>
            <a:srgbClr val="FFFFFF"/>
          </a:solidFill>
          <a:ln/>
        </p:spPr>
        <p:txBody>
          <a:bodyPr wrap="square" lIns="152400" tIns="152400" rIns="152400" bIns="152400" rtlCol="0" anchor="ctr"/>
          <a:lstStyle/>
          <a:p>
            <a:pPr indent="0" marL="0">
              <a:spcAft>
                <a:spcPts val="700"/>
              </a:spcAft>
              <a:buNone/>
            </a:pPr>
            <a:r>
              <a:rPr lang="en-US" sz="1700" b="1" dirty="0">
                <a:solidFill>
                  <a:srgbClr val="1B3A6B"/>
                </a:solidFill>
                <a:latin typeface="Open Sans" pitchFamily="34" charset="0"/>
                <a:ea typeface="Open Sans" pitchFamily="34" charset="-122"/>
                <a:cs typeface="Open Sans" pitchFamily="34" charset="-120"/>
              </a:rPr>
              <a:t>Four rounds, judged against Criterion 3:</a:t>
            </a:r>
            <a:endParaRPr lang="en-US" sz="1600" dirty="0"/>
          </a:p>
          <a:p>
            <a:pPr indent="0" marL="0">
              <a:spcAft>
                <a:spcPts val="700"/>
              </a:spcAft>
              <a:buNone/>
            </a:pPr>
            <a:r>
              <a:rPr lang="en-US" sz="1600" b="1" dirty="0">
                <a:solidFill>
                  <a:srgbClr val="1A1A1A"/>
                </a:solidFill>
                <a:latin typeface="Open Sans" pitchFamily="34" charset="0"/>
                <a:ea typeface="Open Sans" pitchFamily="34" charset="-122"/>
                <a:cs typeface="Open Sans" pitchFamily="34" charset="-120"/>
              </a:rPr>
              <a:t>1.  Which method family does it name?</a:t>
            </a:r>
            <a:endParaRPr lang="en-US" sz="1600" dirty="0"/>
          </a:p>
          <a:p>
            <a:pPr indent="0" marL="0">
              <a:spcAft>
                <a:spcPts val="700"/>
              </a:spcAft>
              <a:buNone/>
            </a:pPr>
            <a:r>
              <a:rPr lang="en-US" sz="1600" b="1" dirty="0">
                <a:solidFill>
                  <a:srgbClr val="1A1A1A"/>
                </a:solidFill>
                <a:latin typeface="Open Sans" pitchFamily="34" charset="0"/>
                <a:ea typeface="Open Sans" pitchFamily="34" charset="-122"/>
                <a:cs typeface="Open Sans" pitchFamily="34" charset="-120"/>
              </a:rPr>
              <a:t>2.  Which tool is justified, and on what grounds?</a:t>
            </a:r>
            <a:endParaRPr lang="en-US" sz="1600" dirty="0"/>
          </a:p>
          <a:p>
            <a:pPr indent="0" marL="0">
              <a:spcAft>
                <a:spcPts val="700"/>
              </a:spcAft>
              <a:buNone/>
            </a:pPr>
            <a:r>
              <a:rPr lang="en-US" sz="1600" b="1" dirty="0">
                <a:solidFill>
                  <a:srgbClr val="1A1A1A"/>
                </a:solidFill>
                <a:latin typeface="Open Sans" pitchFamily="34" charset="0"/>
                <a:ea typeface="Open Sans" pitchFamily="34" charset="-122"/>
                <a:cs typeface="Open Sans" pitchFamily="34" charset="-120"/>
              </a:rPr>
              <a:t>3.  Which metric, baseline and environment?</a:t>
            </a:r>
            <a:endParaRPr lang="en-US" sz="1600" dirty="0"/>
          </a:p>
          <a:p>
            <a:pPr indent="0" marL="0">
              <a:spcAft>
                <a:spcPts val="700"/>
              </a:spcAft>
              <a:buNone/>
            </a:pPr>
            <a:r>
              <a:rPr lang="en-US" sz="1600" b="1" dirty="0">
                <a:solidFill>
                  <a:srgbClr val="1A1A1A"/>
                </a:solidFill>
                <a:latin typeface="Open Sans" pitchFamily="34" charset="0"/>
                <a:ea typeface="Open Sans" pitchFamily="34" charset="-122"/>
                <a:cs typeface="Open Sans" pitchFamily="34" charset="-120"/>
              </a:rPr>
              <a:t>4.  Name the single edit that moves it up a band.</a:t>
            </a:r>
            <a:endParaRPr lang="en-US" sz="1600" dirty="0"/>
          </a:p>
        </p:txBody>
      </p:sp>
      <p:sp>
        <p:nvSpPr>
          <p:cNvPr id="7" name="Text 5"/>
          <p:cNvSpPr/>
          <p:nvPr/>
        </p:nvSpPr>
        <p:spPr>
          <a:xfrm>
            <a:off x="1371600" y="4078224"/>
            <a:ext cx="6400800" cy="566928"/>
          </a:xfrm>
          <a:prstGeom prst="rect">
            <a:avLst/>
          </a:prstGeom>
          <a:noFill/>
          <a:ln/>
        </p:spPr>
        <p:txBody>
          <a:bodyPr wrap="square" lIns="0" tIns="0" rIns="0" bIns="0" rtlCol="0" anchor="t"/>
          <a:lstStyle/>
          <a:p>
            <a:pPr indent="0" marL="0">
              <a:buNone/>
            </a:pPr>
            <a:r>
              <a:rPr lang="en-US" sz="1600" b="1" dirty="0">
                <a:solidFill>
                  <a:srgbClr val="FFFFFF"/>
                </a:solidFill>
                <a:latin typeface="Open Sans" pitchFamily="34" charset="0"/>
                <a:ea typeface="Open Sans" pitchFamily="34" charset="-122"/>
                <a:cs typeface="Open Sans" pitchFamily="34" charset="-120"/>
              </a:rPr>
              <a:t>Hold the room on round 3. The evaluation gap is the session thesis; the tool gap is not.</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The Criterion 3 yardstick</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411480" y="1417320"/>
            <a:ext cx="8321040" cy="1737360"/>
          </a:xfrm>
          <a:prstGeom prst="rect">
            <a:avLst/>
          </a:prstGeom>
          <a:solidFill>
            <a:srgbClr val="E3E9EF"/>
          </a:solidFill>
          <a:ln/>
        </p:spPr>
        <p:txBody>
          <a:bodyPr wrap="square" lIns="127000" tIns="127000" rIns="127000" bIns="127000" rtlCol="0" anchor="t"/>
          <a:lstStyle/>
          <a:p>
            <a:pPr indent="0" marL="0">
              <a:spcAft>
                <a:spcPts val="700"/>
              </a:spcAft>
              <a:buNone/>
            </a:pPr>
            <a:r>
              <a:rPr lang="en-US" sz="1300" b="1" dirty="0">
                <a:solidFill>
                  <a:srgbClr val="1B3A6B"/>
                </a:solidFill>
                <a:latin typeface="Open Sans" pitchFamily="34" charset="0"/>
                <a:ea typeface="Open Sans" pitchFamily="34" charset="-122"/>
                <a:cs typeface="Open Sans" pitchFamily="34" charset="-120"/>
              </a:rPr>
              <a:t>Criterion 3, Methodology &amp; Technical Rigour - Distinction (70 - 100%)</a:t>
            </a:r>
            <a:endParaRPr lang="en-US" sz="1300" dirty="0"/>
          </a:p>
          <a:p>
            <a:pPr indent="0" marL="0">
              <a:spcAft>
                <a:spcPts val="700"/>
              </a:spcAft>
              <a:buNone/>
            </a:pPr>
            <a:r>
              <a:rPr lang="en-US" sz="1300" dirty="0">
                <a:solidFill>
                  <a:srgbClr val="1A1A1A"/>
                </a:solidFill>
                <a:latin typeface="Open Sans" pitchFamily="34" charset="0"/>
                <a:ea typeface="Open Sans" pitchFamily="34" charset="-122"/>
                <a:cs typeface="Open Sans" pitchFamily="34" charset="-120"/>
              </a:rPr>
              <a:t>"Research approach is clearly justified and appropriate for the cybersecurity or network engineering context. Proposed solution is concrete, technically credible, and extends beyond generic description. Tools and technologies are named, compared, and selected with domain-specific justification. System or architecture design is coherent and credibly implementation-ready. Evaluation strategy is defined with measurable, domain-appropriate criteria."</a:t>
            </a:r>
            <a:endParaRPr lang="en-US" sz="1300" dirty="0"/>
          </a:p>
        </p:txBody>
      </p:sp>
      <p:sp>
        <p:nvSpPr>
          <p:cNvPr id="7" name="Text 5"/>
          <p:cNvSpPr/>
          <p:nvPr/>
        </p:nvSpPr>
        <p:spPr>
          <a:xfrm>
            <a:off x="411480" y="3264408"/>
            <a:ext cx="8321040" cy="1188720"/>
          </a:xfrm>
          <a:prstGeom prst="rect">
            <a:avLst/>
          </a:prstGeom>
          <a:solidFill>
            <a:srgbClr val="EDF1F5"/>
          </a:solidFill>
          <a:ln/>
        </p:spPr>
        <p:txBody>
          <a:bodyPr wrap="square" lIns="127000" tIns="127000" rIns="127000" bIns="127000" rtlCol="0" anchor="t"/>
          <a:lstStyle/>
          <a:p>
            <a:pPr indent="0" marL="0">
              <a:spcAft>
                <a:spcPts val="700"/>
              </a:spcAft>
              <a:buNone/>
            </a:pPr>
            <a:r>
              <a:rPr lang="en-US" sz="1300" b="1" dirty="0">
                <a:solidFill>
                  <a:srgbClr val="B11E2A"/>
                </a:solidFill>
                <a:latin typeface="Open Sans" pitchFamily="34" charset="0"/>
                <a:ea typeface="Open Sans" pitchFamily="34" charset="-122"/>
                <a:cs typeface="Open Sans" pitchFamily="34" charset="-120"/>
              </a:rPr>
              <a:t>Criterion 3, Methodology &amp; Technical Rigour - Pass (40 - 59%)  -  the diagnostic mirror</a:t>
            </a:r>
            <a:endParaRPr lang="en-US" sz="1300" dirty="0"/>
          </a:p>
          <a:p>
            <a:pPr indent="0" marL="0">
              <a:spcAft>
                <a:spcPts val="700"/>
              </a:spcAft>
              <a:buNone/>
            </a:pPr>
            <a:r>
              <a:rPr lang="en-US" sz="1300" dirty="0">
                <a:solidFill>
                  <a:srgbClr val="1A1A1A"/>
                </a:solidFill>
                <a:latin typeface="Open Sans" pitchFamily="34" charset="0"/>
                <a:ea typeface="Open Sans" pitchFamily="34" charset="-122"/>
                <a:cs typeface="Open Sans" pitchFamily="34" charset="-120"/>
              </a:rPr>
              <a:t>"Methodology is present but justification is weak or generic. Solution is described at a high level without sufficient technical depth. Tools may be listed without comparison or domain-specific justification. Evaluation strategy is vague or underdeveloped."</a:t>
            </a:r>
            <a:endParaRPr lang="en-US" sz="1300" dirty="0"/>
          </a:p>
        </p:txBody>
      </p:sp>
      <p:sp>
        <p:nvSpPr>
          <p:cNvPr id="8" name="Text 6"/>
          <p:cNvSpPr/>
          <p:nvPr/>
        </p:nvSpPr>
        <p:spPr>
          <a:xfrm>
            <a:off x="411480" y="4526280"/>
            <a:ext cx="8321040" cy="237744"/>
          </a:xfrm>
          <a:prstGeom prst="rect">
            <a:avLst/>
          </a:prstGeom>
          <a:noFill/>
          <a:ln/>
        </p:spPr>
        <p:txBody>
          <a:bodyPr wrap="square" lIns="0" tIns="0" rIns="0" bIns="0" rtlCol="0" anchor="t"/>
          <a:lstStyle/>
          <a:p>
            <a:pPr indent="0" marL="0">
              <a:buNone/>
            </a:pPr>
            <a:r>
              <a:rPr lang="en-US" sz="1100" i="1" dirty="0">
                <a:solidFill>
                  <a:srgbClr val="595959"/>
                </a:solidFill>
                <a:latin typeface="Open Sans" pitchFamily="34" charset="0"/>
                <a:ea typeface="Open Sans" pitchFamily="34" charset="-122"/>
                <a:cs typeface="Open Sans" pitchFamily="34" charset="-120"/>
              </a:rPr>
              <a:t>Quoted whole from the assessment rubric. Everything else said about the rubric today is paraphrase.</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Bridge, and the ethics trigger</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417320"/>
            <a:ext cx="7690104" cy="1783080"/>
          </a:xfrm>
          <a:prstGeom prst="rect">
            <a:avLst/>
          </a:prstGeom>
          <a:solidFill>
            <a:srgbClr val="C5D6E8"/>
          </a:solidFill>
          <a:ln/>
        </p:spPr>
        <p:txBody>
          <a:bodyPr wrap="square" lIns="127000" tIns="127000" rIns="127000" bIns="127000" rtlCol="0" anchor="t"/>
          <a:lstStyle/>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The Week 8 proposal draft now carries a methodology chapter: method, justified tools, architecture, evaluation design.</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Run your question and your draft evaluation through the Evaluation Design Mirror before you write it up.</a:t>
            </a:r>
            <a:endParaRPr lang="en-US" sz="1300" dirty="0"/>
          </a:p>
          <a:p>
            <a:pPr marL="342900" indent="-342900">
              <a:lnSpc>
                <a:spcPct val="105000"/>
              </a:lnSpc>
              <a:spcAft>
                <a:spcPts val="600"/>
              </a:spcAft>
              <a:buSzPct val="100000"/>
              <a:buChar char="•"/>
            </a:pPr>
            <a:r>
              <a:rPr lang="en-US" sz="1300" b="1" dirty="0">
                <a:solidFill>
                  <a:srgbClr val="1A1A1A"/>
                </a:solidFill>
                <a:latin typeface="Open Sans" pitchFamily="34" charset="0"/>
                <a:ea typeface="Open Sans" pitchFamily="34" charset="-122"/>
                <a:cs typeface="Open Sans" pitchFamily="34" charset="-120"/>
              </a:rPr>
              <a:t>Fixing the method is what makes the Week 7 ethics application possible. The window opens straight after this session; approval is targeted around Week 10, and the evidence becomes Appendix A.</a:t>
            </a:r>
            <a:endParaRPr lang="en-US" sz="1300" dirty="0"/>
          </a:p>
        </p:txBody>
      </p:sp>
      <p:sp>
        <p:nvSpPr>
          <p:cNvPr id="7" name="Text 5"/>
          <p:cNvSpPr/>
          <p:nvPr/>
        </p:nvSpPr>
        <p:spPr>
          <a:xfrm>
            <a:off x="731520" y="3346704"/>
            <a:ext cx="7690104" cy="512064"/>
          </a:xfrm>
          <a:prstGeom prst="rect">
            <a:avLst/>
          </a:prstGeom>
          <a:solidFill>
            <a:srgbClr val="E3E9EF"/>
          </a:solidFill>
          <a:ln/>
        </p:spPr>
        <p:txBody>
          <a:bodyPr wrap="square" lIns="127000" tIns="127000" rIns="127000" bIns="127000" rtlCol="0" anchor="ctr"/>
          <a:lstStyle/>
          <a:p>
            <a:pPr indent="0" marL="0">
              <a:buNone/>
            </a:pPr>
            <a:r>
              <a:rPr lang="en-US" sz="1300" b="1" dirty="0">
                <a:solidFill>
                  <a:srgbClr val="B11E2A"/>
                </a:solidFill>
                <a:latin typeface="Open Sans" pitchFamily="34" charset="0"/>
                <a:ea typeface="Open Sans" pitchFamily="34" charset="-122"/>
                <a:cs typeface="Open Sans" pitchFamily="34" charset="-120"/>
              </a:rPr>
              <a:t>The one load-bearing dependency: </a:t>
            </a:r>
            <a:pPr indent="0" marL="0">
              <a:buNone/>
            </a:pPr>
            <a:r>
              <a:rPr lang="en-US" sz="1300" b="1" dirty="0">
                <a:solidFill>
                  <a:srgbClr val="1A1A1A"/>
                </a:solidFill>
                <a:latin typeface="Open Sans" pitchFamily="34" charset="0"/>
                <a:ea typeface="Open Sans" pitchFamily="34" charset="-122"/>
                <a:cs typeface="Open Sans" pitchFamily="34" charset="-120"/>
              </a:rPr>
              <a:t>no fixed method, no ethics application.</a:t>
            </a:r>
            <a:endParaRPr lang="en-US" sz="1300" dirty="0"/>
          </a:p>
        </p:txBody>
      </p:sp>
      <p:sp>
        <p:nvSpPr>
          <p:cNvPr id="8" name="Text 6"/>
          <p:cNvSpPr/>
          <p:nvPr/>
        </p:nvSpPr>
        <p:spPr>
          <a:xfrm>
            <a:off x="731520" y="3968496"/>
            <a:ext cx="7690104" cy="457200"/>
          </a:xfrm>
          <a:prstGeom prst="rect">
            <a:avLst/>
          </a:prstGeom>
          <a:solidFill>
            <a:srgbClr val="EAF0F6"/>
          </a:solidFill>
          <a:ln/>
        </p:spPr>
        <p:txBody>
          <a:bodyPr wrap="square" lIns="127000" tIns="127000" rIns="127000" bIns="127000" rtlCol="0" anchor="ctr"/>
          <a:lstStyle/>
          <a:p>
            <a:pPr indent="0" marL="0">
              <a:buNone/>
            </a:pPr>
            <a:r>
              <a:rPr lang="en-US" sz="1300" b="1" dirty="0">
                <a:solidFill>
                  <a:srgbClr val="1B3A6B"/>
                </a:solidFill>
                <a:latin typeface="Open Sans" pitchFamily="34" charset="0"/>
                <a:ea typeface="Open Sans" pitchFamily="34" charset="-122"/>
                <a:cs typeface="Open Sans" pitchFamily="34" charset="-120"/>
              </a:rPr>
              <a:t>Session 4: framing boundaries and consequences, including ethics.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1B3A6B"/>
          </a:solidFill>
          <a:ln/>
        </p:spPr>
      </p:sp>
      <p:sp>
        <p:nvSpPr>
          <p:cNvPr id="3" name="Text 1"/>
          <p:cNvSpPr/>
          <p:nvPr/>
        </p:nvSpPr>
        <p:spPr>
          <a:xfrm>
            <a:off x="384048" y="1097280"/>
            <a:ext cx="5303520" cy="868680"/>
          </a:xfrm>
          <a:prstGeom prst="rect">
            <a:avLst/>
          </a:prstGeom>
          <a:noFill/>
          <a:ln/>
        </p:spPr>
        <p:txBody>
          <a:bodyPr wrap="square" lIns="0" tIns="0" rIns="0" bIns="0" rtlCol="0" anchor="t"/>
          <a:lstStyle/>
          <a:p>
            <a:pPr indent="0" marL="0">
              <a:buNone/>
            </a:pPr>
            <a:r>
              <a:rPr lang="en-US" sz="4800" b="1" dirty="0">
                <a:solidFill>
                  <a:srgbClr val="1A1A1A"/>
                </a:solidFill>
                <a:latin typeface="Open Sans" pitchFamily="34" charset="0"/>
                <a:ea typeface="Open Sans" pitchFamily="34" charset="-122"/>
                <a:cs typeface="Open Sans" pitchFamily="34" charset="-120"/>
              </a:rPr>
              <a:t>Questions &amp;</a:t>
            </a:r>
            <a:endParaRPr lang="en-US" sz="4800" dirty="0"/>
          </a:p>
        </p:txBody>
      </p:sp>
      <p:sp>
        <p:nvSpPr>
          <p:cNvPr id="4" name="Text 2"/>
          <p:cNvSpPr/>
          <p:nvPr/>
        </p:nvSpPr>
        <p:spPr>
          <a:xfrm>
            <a:off x="384048" y="1938528"/>
            <a:ext cx="5303520" cy="868680"/>
          </a:xfrm>
          <a:prstGeom prst="rect">
            <a:avLst/>
          </a:prstGeom>
          <a:noFill/>
          <a:ln/>
        </p:spPr>
        <p:txBody>
          <a:bodyPr wrap="square" lIns="0" tIns="0" rIns="0" bIns="0" rtlCol="0" anchor="t"/>
          <a:lstStyle/>
          <a:p>
            <a:pPr indent="0" marL="0">
              <a:buNone/>
            </a:pPr>
            <a:r>
              <a:rPr lang="en-US" sz="4800" b="1" dirty="0">
                <a:solidFill>
                  <a:srgbClr val="1B3A6B"/>
                </a:solidFill>
                <a:latin typeface="Open Sans" pitchFamily="34" charset="0"/>
                <a:ea typeface="Open Sans" pitchFamily="34" charset="-122"/>
                <a:cs typeface="Open Sans" pitchFamily="34" charset="-120"/>
              </a:rPr>
              <a:t>Discussion</a:t>
            </a:r>
            <a:endParaRPr lang="en-US" sz="4800" dirty="0"/>
          </a:p>
        </p:txBody>
      </p:sp>
      <p:sp>
        <p:nvSpPr>
          <p:cNvPr id="5" name="Shape 3"/>
          <p:cNvSpPr/>
          <p:nvPr/>
        </p:nvSpPr>
        <p:spPr>
          <a:xfrm>
            <a:off x="384048" y="2852928"/>
            <a:ext cx="749808" cy="73152"/>
          </a:xfrm>
          <a:prstGeom prst="rect">
            <a:avLst/>
          </a:prstGeom>
          <a:solidFill>
            <a:srgbClr val="1B3A6B"/>
          </a:solidFill>
          <a:ln/>
        </p:spPr>
      </p:sp>
      <p:sp>
        <p:nvSpPr>
          <p:cNvPr id="6" name="Shape 4"/>
          <p:cNvSpPr/>
          <p:nvPr/>
        </p:nvSpPr>
        <p:spPr>
          <a:xfrm>
            <a:off x="1188720" y="2852928"/>
            <a:ext cx="384048" cy="73152"/>
          </a:xfrm>
          <a:prstGeom prst="rect">
            <a:avLst/>
          </a:prstGeom>
          <a:solidFill>
            <a:srgbClr val="E0701A"/>
          </a:solidFill>
          <a:ln/>
        </p:spPr>
      </p:sp>
      <p:sp>
        <p:nvSpPr>
          <p:cNvPr id="7" name="Text 5"/>
          <p:cNvSpPr/>
          <p:nvPr/>
        </p:nvSpPr>
        <p:spPr>
          <a:xfrm>
            <a:off x="384048" y="3035808"/>
            <a:ext cx="5303520" cy="658368"/>
          </a:xfrm>
          <a:prstGeom prst="rect">
            <a:avLst/>
          </a:prstGeom>
          <a:noFill/>
          <a:ln/>
        </p:spPr>
        <p:txBody>
          <a:bodyPr wrap="square" lIns="0" tIns="0" rIns="0" bIns="0" rtlCol="0" anchor="t"/>
          <a:lstStyle/>
          <a:p>
            <a:pPr indent="0" marL="0">
              <a:buNone/>
            </a:pPr>
            <a:r>
              <a:rPr lang="en-US" sz="1600" i="1" dirty="0">
                <a:solidFill>
                  <a:srgbClr val="595959"/>
                </a:solidFill>
                <a:latin typeface="Open Sans" pitchFamily="34" charset="0"/>
                <a:ea typeface="Open Sans" pitchFamily="34" charset="-122"/>
                <a:cs typeface="Open Sans" pitchFamily="34" charset="-120"/>
              </a:rPr>
              <a:t>Metric. Baseline. Environment. Bring a methodology section to the Week 8 draft.</a:t>
            </a:r>
            <a:endParaRPr lang="en-US" sz="1600" dirty="0"/>
          </a:p>
        </p:txBody>
      </p:sp>
      <p:pic>
        <p:nvPicPr>
          <p:cNvPr id="8" name="Image 0" descr="preencoded.png">    </p:cNvPr>
          <p:cNvPicPr>
            <a:picLocks noChangeAspect="1"/>
          </p:cNvPicPr>
          <p:nvPr/>
        </p:nvPicPr>
        <p:blipFill>
          <a:blip r:embed="rId1"/>
          <a:stretch>
            <a:fillRect/>
          </a:stretch>
        </p:blipFill>
        <p:spPr>
          <a:xfrm>
            <a:off x="6195060" y="502920"/>
            <a:ext cx="2743200" cy="3840480"/>
          </a:xfrm>
          <a:prstGeom prst="rect">
            <a:avLst/>
          </a:prstGeom>
        </p:spPr>
      </p:pic>
      <p:sp>
        <p:nvSpPr>
          <p:cNvPr id="9" name="Text 6"/>
          <p:cNvSpPr/>
          <p:nvPr/>
        </p:nvSpPr>
        <p:spPr>
          <a:xfrm>
            <a:off x="6217920" y="4480560"/>
            <a:ext cx="2743200" cy="365760"/>
          </a:xfrm>
          <a:prstGeom prst="rect">
            <a:avLst/>
          </a:prstGeom>
          <a:noFill/>
          <a:ln/>
        </p:spPr>
        <p:txBody>
          <a:bodyPr wrap="square" lIns="0" tIns="0" rIns="0" bIns="0" rtlCol="0" anchor="t"/>
          <a:lstStyle/>
          <a:p>
            <a:pPr indent="0" marL="0">
              <a:buNone/>
            </a:pPr>
            <a:r>
              <a:rPr lang="en-US" sz="1100" dirty="0">
                <a:solidFill>
                  <a:srgbClr val="FFFFFF"/>
                </a:solidFill>
                <a:latin typeface="Open Sans" pitchFamily="34" charset="0"/>
                <a:ea typeface="Open Sans" pitchFamily="34" charset="-122"/>
                <a:cs typeface="Open Sans" pitchFamily="34" charset="-120"/>
              </a:rPr>
              <a:t>NB6015CEM  |  Research Project Preparation  |  Level 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DF1F5"/>
          </a:solidFill>
          <a:ln/>
        </p:spPr>
      </p:sp>
      <p:sp>
        <p:nvSpPr>
          <p:cNvPr id="3" name="Text 1"/>
          <p:cNvSpPr/>
          <p:nvPr/>
        </p:nvSpPr>
        <p:spPr>
          <a:xfrm>
            <a:off x="411480" y="566928"/>
            <a:ext cx="8321040" cy="512064"/>
          </a:xfrm>
          <a:prstGeom prst="rect">
            <a:avLst/>
          </a:prstGeom>
          <a:noFill/>
          <a:ln/>
        </p:spPr>
        <p:txBody>
          <a:bodyPr wrap="square" lIns="0" tIns="0" rIns="0" bIns="0" rtlCol="0" anchor="t"/>
          <a:lstStyle/>
          <a:p>
            <a:pPr indent="0" marL="0">
              <a:buNone/>
            </a:pPr>
            <a:r>
              <a:rPr lang="en-US" sz="2400" b="1" dirty="0">
                <a:solidFill>
                  <a:srgbClr val="1A1A1A"/>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1B3A6B"/>
          </a:solidFill>
          <a:ln/>
        </p:spPr>
      </p:sp>
      <p:sp>
        <p:nvSpPr>
          <p:cNvPr id="5" name="Shape 3"/>
          <p:cNvSpPr/>
          <p:nvPr/>
        </p:nvSpPr>
        <p:spPr>
          <a:xfrm>
            <a:off x="960120" y="1124712"/>
            <a:ext cx="256032" cy="64008"/>
          </a:xfrm>
          <a:prstGeom prst="rect">
            <a:avLst/>
          </a:prstGeom>
          <a:solidFill>
            <a:srgbClr val="E0701A"/>
          </a:solidFill>
          <a:ln/>
        </p:spPr>
      </p:sp>
      <p:sp>
        <p:nvSpPr>
          <p:cNvPr id="6" name="Text 4"/>
          <p:cNvSpPr/>
          <p:nvPr/>
        </p:nvSpPr>
        <p:spPr>
          <a:xfrm>
            <a:off x="731520" y="1508760"/>
            <a:ext cx="7863840" cy="2304288"/>
          </a:xfrm>
          <a:prstGeom prst="rect">
            <a:avLst/>
          </a:prstGeom>
          <a:noFill/>
          <a:ln/>
        </p:spPr>
        <p:txBody>
          <a:bodyPr wrap="square" lIns="63500" tIns="63500" rIns="63500" bIns="63500" rtlCol="0" anchor="t"/>
          <a:lstStyle/>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100" dirty="0"/>
          </a:p>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100" dirty="0"/>
          </a:p>
          <a:p>
            <a:pPr indent="0" marL="0">
              <a:spcAft>
                <a:spcPts val="1000"/>
              </a:spcAft>
              <a:buNone/>
            </a:pPr>
            <a:r>
              <a:rPr lang="en-US" sz="1100" dirty="0">
                <a:solidFill>
                  <a:srgbClr val="1A1A1A"/>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100" dirty="0"/>
          </a:p>
          <a:p>
            <a:pPr indent="0" marL="0">
              <a:buNone/>
            </a:pPr>
            <a:r>
              <a:rPr lang="en-US" sz="1100" dirty="0">
                <a:solidFill>
                  <a:srgbClr val="1A1A1A"/>
                </a:solidFill>
                <a:latin typeface="Open Sans" pitchFamily="34" charset="0"/>
                <a:ea typeface="Open Sans" pitchFamily="34" charset="-122"/>
                <a:cs typeface="Open Sans" pitchFamily="34" charset="-120"/>
              </a:rPr>
              <a:t>This disclaimer is subject to change without notice.</a:t>
            </a:r>
            <a:endParaRPr lang="en-US" sz="1100" dirty="0"/>
          </a:p>
        </p:txBody>
      </p:sp>
      <p:sp>
        <p:nvSpPr>
          <p:cNvPr id="7" name="Shape 5"/>
          <p:cNvSpPr/>
          <p:nvPr/>
        </p:nvSpPr>
        <p:spPr>
          <a:xfrm>
            <a:off x="731520" y="3886200"/>
            <a:ext cx="54864" cy="786384"/>
          </a:xfrm>
          <a:prstGeom prst="rect">
            <a:avLst/>
          </a:prstGeom>
          <a:solidFill>
            <a:srgbClr val="EDF1F5"/>
          </a:solidFill>
          <a:ln/>
        </p:spPr>
      </p:sp>
      <p:sp>
        <p:nvSpPr>
          <p:cNvPr id="8" name="Text 6"/>
          <p:cNvSpPr/>
          <p:nvPr/>
        </p:nvSpPr>
        <p:spPr>
          <a:xfrm>
            <a:off x="859536" y="3886200"/>
            <a:ext cx="7735824" cy="786384"/>
          </a:xfrm>
          <a:prstGeom prst="rect">
            <a:avLst/>
          </a:prstGeom>
          <a:noFill/>
          <a:ln/>
        </p:spPr>
        <p:txBody>
          <a:bodyPr wrap="square" lIns="63500" tIns="63500" rIns="63500" bIns="63500" rtlCol="0" anchor="t"/>
          <a:lstStyle/>
          <a:p>
            <a:pPr indent="0" marL="0">
              <a:buNone/>
            </a:pPr>
            <a:r>
              <a:rPr lang="en-US" sz="1100" b="1" dirty="0">
                <a:solidFill>
                  <a:srgbClr val="595959"/>
                </a:solidFill>
                <a:latin typeface="Open Sans" pitchFamily="34" charset="0"/>
                <a:ea typeface="Open Sans" pitchFamily="34" charset="-122"/>
                <a:cs typeface="Open Sans" pitchFamily="34" charset="-120"/>
              </a:rPr>
              <a:t>© 2026 Niranga Dharmaratna</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School of Computing &amp; Engineering</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National Institute of Business Management</a:t>
            </a:r>
            <a:endParaRPr lang="en-US" sz="1100" dirty="0"/>
          </a:p>
          <a:p>
            <a:pPr indent="0" marL="0">
              <a:buNone/>
            </a:pPr>
            <a:r>
              <a:rPr lang="en-US" sz="1100" dirty="0">
                <a:solidFill>
                  <a:srgbClr val="595959"/>
                </a:solidFill>
                <a:latin typeface="Open Sans" pitchFamily="34" charset="0"/>
                <a:ea typeface="Open Sans" pitchFamily="34" charset="-122"/>
                <a:cs typeface="Open Sans" pitchFamily="34" charset="-120"/>
              </a:rPr>
              <a:t>Licensed under CC BY-NC-ND 4.0, creativecommons.org/licenses/by-nc-nd/4.0</a:t>
            </a:r>
            <a:endParaRPr lang="en-US" sz="1100" dirty="0"/>
          </a:p>
        </p:txBody>
      </p:sp>
      <p:sp>
        <p:nvSpPr>
          <p:cNvPr id="9" name="Text 7"/>
          <p:cNvSpPr/>
          <p:nvPr/>
        </p:nvSpPr>
        <p:spPr>
          <a:xfrm>
            <a:off x="859536" y="4782312"/>
            <a:ext cx="7735824" cy="292608"/>
          </a:xfrm>
          <a:prstGeom prst="rect">
            <a:avLst/>
          </a:prstGeom>
          <a:noFill/>
          <a:ln/>
        </p:spPr>
        <p:txBody>
          <a:bodyPr wrap="square" lIns="63500" tIns="63500" rIns="63500" bIns="63500" rtlCol="0" anchor="t"/>
          <a:lstStyle/>
          <a:p>
            <a:pPr indent="0" marL="0">
              <a:buNone/>
            </a:pPr>
            <a:r>
              <a:rPr lang="en-US" sz="1300" b="1" dirty="0">
                <a:solidFill>
                  <a:srgbClr val="1A1A1A"/>
                </a:solidFill>
                <a:latin typeface="Open Sans" pitchFamily="34" charset="0"/>
                <a:ea typeface="Open Sans" pitchFamily="34" charset="-122"/>
                <a:cs typeface="Open Sans" pitchFamily="34" charset="-120"/>
              </a:rPr>
              <a:t>Last modified: 3 October 2026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NB6015CEM Session 3</dc:title>
  <dc:subject>PptxGenJS Presentation</dc:subject>
  <dc:creator>Niranga Dharmaratna</dc:creator>
  <cp:lastModifiedBy>Niranga Dharmaratna</cp:lastModifiedBy>
  <cp:revision>1</cp:revision>
  <dcterms:created xsi:type="dcterms:W3CDTF">2026-10-04T20:25:06Z</dcterms:created>
  <dcterms:modified xsi:type="dcterms:W3CDTF">2026-10-04T20:25:06Z</dcterms:modified>
</cp:coreProperties>
</file>