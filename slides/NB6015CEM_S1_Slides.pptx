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84048" y="292608"/>
            <a:ext cx="6949440" cy="548640"/>
          </a:xfrm>
          <a:prstGeom prst="rect">
            <a:avLst/>
          </a:prstGeom>
          <a:noFill/>
          <a:ln/>
        </p:spPr>
        <p:txBody>
          <a:bodyPr wrap="square" lIns="0" tIns="0" rIns="0" bIns="0" rtlCol="0" anchor="t"/>
          <a:lstStyle/>
          <a:p>
            <a:pPr indent="0" marL="0">
              <a:buNone/>
            </a:pPr>
            <a:r>
              <a:rPr lang="en-US" sz="1300" b="1" dirty="0">
                <a:solidFill>
                  <a:srgbClr val="1A1A1A"/>
                </a:solidFill>
                <a:latin typeface="Open Sans" pitchFamily="34" charset="0"/>
                <a:ea typeface="Open Sans" pitchFamily="34" charset="-122"/>
                <a:cs typeface="Open Sans" pitchFamily="34" charset="-120"/>
              </a:rPr>
              <a:t>National Institute of Business Management (NIBM)</a:t>
            </a:r>
            <a:endParaRPr lang="en-US" sz="1300" dirty="0"/>
          </a:p>
          <a:p>
            <a:pPr indent="0" marL="0">
              <a:buNone/>
            </a:pPr>
            <a:r>
              <a:rPr lang="en-US" sz="1300" b="1" dirty="0">
                <a:solidFill>
                  <a:srgbClr val="1A1A1A"/>
                </a:solidFill>
                <a:latin typeface="Open Sans" pitchFamily="34" charset="0"/>
                <a:ea typeface="Open Sans" pitchFamily="34" charset="-122"/>
                <a:cs typeface="Open Sans" pitchFamily="34" charset="-120"/>
              </a:rPr>
              <a:t>Coventry University (CU)</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t"/>
          <a:lstStyle/>
          <a:p>
            <a:pPr indent="0" marL="0">
              <a:buNone/>
            </a:pPr>
            <a:r>
              <a:rPr lang="en-US" sz="1200" b="1" dirty="0">
                <a:solidFill>
                  <a:srgbClr val="1B3A6B"/>
                </a:solidFill>
                <a:latin typeface="Open Sans" pitchFamily="34" charset="0"/>
                <a:ea typeface="Open Sans" pitchFamily="34" charset="-122"/>
                <a:cs typeface="Open Sans" pitchFamily="34" charset="-120"/>
              </a:rPr>
              <a:t>NB6015CEM  |  RESEARCH PROJECT PREPARATION</a:t>
            </a:r>
            <a:endParaRPr lang="en-US" sz="1200" dirty="0"/>
          </a:p>
        </p:txBody>
      </p:sp>
      <p:sp>
        <p:nvSpPr>
          <p:cNvPr id="4" name="Text 2"/>
          <p:cNvSpPr/>
          <p:nvPr/>
        </p:nvSpPr>
        <p:spPr>
          <a:xfrm>
            <a:off x="384048" y="1188720"/>
            <a:ext cx="5760720" cy="1920240"/>
          </a:xfrm>
          <a:prstGeom prst="rect">
            <a:avLst/>
          </a:prstGeom>
          <a:noFill/>
          <a:ln/>
        </p:spPr>
        <p:txBody>
          <a:bodyPr wrap="square" lIns="0" tIns="0" rIns="0" bIns="0" rtlCol="0" anchor="t"/>
          <a:lstStyle/>
          <a:p>
            <a:pPr indent="0" marL="0">
              <a:buNone/>
            </a:pPr>
            <a:r>
              <a:rPr lang="en-US" sz="4600" b="1" dirty="0">
                <a:solidFill>
                  <a:srgbClr val="1A1A1A"/>
                </a:solidFill>
                <a:latin typeface="Open Sans" pitchFamily="34" charset="0"/>
                <a:ea typeface="Open Sans" pitchFamily="34" charset="-122"/>
                <a:cs typeface="Open Sans" pitchFamily="34" charset="-120"/>
              </a:rPr>
              <a:t>RESEARCH PROJECT PREPARATION</a:t>
            </a:r>
            <a:endParaRPr lang="en-US" sz="4600" dirty="0"/>
          </a:p>
        </p:txBody>
      </p:sp>
      <p:sp>
        <p:nvSpPr>
          <p:cNvPr id="5" name="Shape 3"/>
          <p:cNvSpPr/>
          <p:nvPr/>
        </p:nvSpPr>
        <p:spPr>
          <a:xfrm>
            <a:off x="384048" y="3145536"/>
            <a:ext cx="749808" cy="82296"/>
          </a:xfrm>
          <a:prstGeom prst="rect">
            <a:avLst/>
          </a:prstGeom>
          <a:solidFill>
            <a:srgbClr val="1B3A6B"/>
          </a:solidFill>
          <a:ln/>
        </p:spPr>
      </p:sp>
      <p:sp>
        <p:nvSpPr>
          <p:cNvPr id="6" name="Shape 4"/>
          <p:cNvSpPr/>
          <p:nvPr/>
        </p:nvSpPr>
        <p:spPr>
          <a:xfrm>
            <a:off x="1188720" y="3145536"/>
            <a:ext cx="384048" cy="82296"/>
          </a:xfrm>
          <a:prstGeom prst="rect">
            <a:avLst/>
          </a:prstGeom>
          <a:solidFill>
            <a:srgbClr val="E0701A"/>
          </a:solidFill>
          <a:ln/>
        </p:spPr>
      </p:sp>
      <p:sp>
        <p:nvSpPr>
          <p:cNvPr id="7" name="Text 5"/>
          <p:cNvSpPr/>
          <p:nvPr/>
        </p:nvSpPr>
        <p:spPr>
          <a:xfrm>
            <a:off x="384048" y="3310128"/>
            <a:ext cx="5303520" cy="731520"/>
          </a:xfrm>
          <a:prstGeom prst="rect">
            <a:avLst/>
          </a:prstGeom>
          <a:noFill/>
          <a:ln/>
        </p:spPr>
        <p:txBody>
          <a:bodyPr wrap="square" lIns="0" tIns="0" rIns="0" bIns="0" rtlCol="0" anchor="t"/>
          <a:lstStyle/>
          <a:p>
            <a:pPr indent="0" marL="0">
              <a:buNone/>
            </a:pPr>
            <a:r>
              <a:rPr lang="en-US" sz="2000" i="1" dirty="0">
                <a:solidFill>
                  <a:srgbClr val="595959"/>
                </a:solidFill>
                <a:latin typeface="Open Sans" pitchFamily="34" charset="0"/>
                <a:ea typeface="Open Sans" pitchFamily="34" charset="-122"/>
                <a:cs typeface="Open Sans" pitchFamily="34" charset="-120"/>
              </a:rPr>
              <a:t>Day 1 - Launch, Topic Selection &amp; Research Questions</a:t>
            </a:r>
            <a:endParaRPr lang="en-US" sz="2000" dirty="0"/>
          </a:p>
        </p:txBody>
      </p:sp>
      <p:sp>
        <p:nvSpPr>
          <p:cNvPr id="8" name="Text 6"/>
          <p:cNvSpPr/>
          <p:nvPr/>
        </p:nvSpPr>
        <p:spPr>
          <a:xfrm>
            <a:off x="384048" y="4169664"/>
            <a:ext cx="5303520" cy="310896"/>
          </a:xfrm>
          <a:prstGeom prst="rect">
            <a:avLst/>
          </a:prstGeom>
          <a:noFill/>
          <a:ln/>
        </p:spPr>
        <p:txBody>
          <a:bodyPr wrap="square" lIns="0" tIns="0" rIns="0" bIns="0" rtlCol="0" anchor="t"/>
          <a:lstStyle/>
          <a:p>
            <a:pPr indent="0" marL="0">
              <a:buNone/>
            </a:pPr>
            <a:r>
              <a:rPr lang="en-US" sz="1300" b="1" dirty="0">
                <a:solidFill>
                  <a:srgbClr val="1B3A6B"/>
                </a:solidFill>
                <a:latin typeface="Open Sans" pitchFamily="34" charset="0"/>
                <a:ea typeface="Open Sans" pitchFamily="34" charset="-122"/>
                <a:cs typeface="Open Sans" pitchFamily="34" charset="-120"/>
              </a:rPr>
              <a:t>BSc (Hons) Ethical Hacking &amp; Network Security</a:t>
            </a:r>
            <a:endParaRPr lang="en-US" sz="1300" dirty="0"/>
          </a:p>
        </p:txBody>
      </p:sp>
      <p:sp>
        <p:nvSpPr>
          <p:cNvPr id="9" name="Text 7"/>
          <p:cNvSpPr/>
          <p:nvPr/>
        </p:nvSpPr>
        <p:spPr>
          <a:xfrm>
            <a:off x="384048" y="4681728"/>
            <a:ext cx="5029200" cy="329184"/>
          </a:xfrm>
          <a:prstGeom prst="rect">
            <a:avLst/>
          </a:prstGeom>
          <a:noFill/>
          <a:ln/>
        </p:spPr>
        <p:txBody>
          <a:bodyPr wrap="square" lIns="0" tIns="0" rIns="0" bIns="0" rtlCol="0" anchor="t"/>
          <a:lstStyle/>
          <a:p>
            <a:pPr indent="0" marL="0">
              <a:buNone/>
            </a:pPr>
            <a:r>
              <a:rPr lang="en-US" sz="1300" dirty="0">
                <a:solidFill>
                  <a:srgbClr val="595959"/>
                </a:solidFill>
                <a:latin typeface="Open Sans" pitchFamily="34" charset="0"/>
                <a:ea typeface="Open Sans" pitchFamily="34" charset="-122"/>
                <a:cs typeface="Open Sans" pitchFamily="34" charset="-120"/>
              </a:rPr>
              <a:t>Niranga Dharmaratna  |  niranga@nibm.lk</a:t>
            </a:r>
            <a:endParaRPr lang="en-US" sz="1300" dirty="0"/>
          </a:p>
        </p:txBody>
      </p:sp>
      <p:pic>
        <p:nvPicPr>
          <p:cNvPr id="10" name="Image 0" descr="preencoded.png">    </p:cNvPr>
          <p:cNvPicPr>
            <a:picLocks noChangeAspect="1"/>
          </p:cNvPicPr>
          <p:nvPr/>
        </p:nvPicPr>
        <p:blipFill>
          <a:blip r:embed="rId1"/>
          <a:stretch>
            <a:fillRect/>
          </a:stretch>
        </p:blipFill>
        <p:spPr>
          <a:xfrm>
            <a:off x="5943600" y="662940"/>
            <a:ext cx="2834640" cy="4251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What We Cover Today</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694944"/>
          </a:xfrm>
          <a:prstGeom prst="rect">
            <a:avLst/>
          </a:prstGeom>
          <a:solidFill>
            <a:srgbClr val="E0701A"/>
          </a:solidFill>
          <a:ln/>
        </p:spPr>
        <p:txBody>
          <a:bodyPr wrap="square" lIns="101600" tIns="101600" rIns="101600" bIns="1016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From capable builder to capable researcher - your first rep</a:t>
            </a:r>
            <a:endParaRPr lang="en-US" sz="1400" dirty="0"/>
          </a:p>
        </p:txBody>
      </p:sp>
      <p:sp>
        <p:nvSpPr>
          <p:cNvPr id="7" name="Text 5"/>
          <p:cNvSpPr/>
          <p:nvPr/>
        </p:nvSpPr>
        <p:spPr>
          <a:xfrm>
            <a:off x="731520" y="2240280"/>
            <a:ext cx="4206240" cy="2514600"/>
          </a:xfrm>
          <a:prstGeom prst="rect">
            <a:avLst/>
          </a:prstGeom>
          <a:solidFill>
            <a:srgbClr val="C5D6E8"/>
          </a:solidFill>
          <a:ln/>
        </p:spPr>
        <p:txBody>
          <a:bodyPr wrap="square" lIns="127000" tIns="127000" rIns="127000" bIns="127000" rtlCol="0" anchor="t"/>
          <a:lstStyle/>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Orient to the full research project journey and what each session unlocks</a:t>
            </a:r>
            <a:endParaRPr lang="en-US" sz="1400" dirty="0"/>
          </a:p>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Select a tractable, Level-6-scoped topic within cybersecurity or network engineering</a:t>
            </a:r>
            <a:endParaRPr lang="en-US" sz="1400" dirty="0"/>
          </a:p>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Form an achievable, evaluable research question</a:t>
            </a:r>
            <a:endParaRPr lang="en-US" sz="1400" dirty="0"/>
          </a:p>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Understand what Criterion 1 of the assessment rubric demands</a:t>
            </a:r>
            <a:endParaRPr lang="en-US" sz="1400" dirty="0"/>
          </a:p>
        </p:txBody>
      </p:sp>
      <p:pic>
        <p:nvPicPr>
          <p:cNvPr id="8" name="Image 0" descr="preencoded.png">    </p:cNvPr>
          <p:cNvPicPr>
            <a:picLocks noChangeAspect="1"/>
          </p:cNvPicPr>
          <p:nvPr/>
        </p:nvPicPr>
        <p:blipFill>
          <a:blip r:embed="rId1"/>
          <a:stretch>
            <a:fillRect/>
          </a:stretch>
        </p:blipFill>
        <p:spPr>
          <a:xfrm>
            <a:off x="5705521" y="1417320"/>
            <a:ext cx="2442117" cy="33375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Module Learning Outcomes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914400" cy="822960"/>
          </a:xfrm>
          <a:prstGeom prst="rect">
            <a:avLst/>
          </a:prstGeom>
          <a:solidFill>
            <a:srgbClr val="1B3A6B"/>
          </a:solidFill>
          <a:ln/>
        </p:spPr>
        <p:txBody>
          <a:bodyPr wrap="square" lIns="50800" tIns="50800" rIns="50800" bIns="5080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ILO 1</a:t>
            </a:r>
            <a:endParaRPr lang="en-US" sz="1400" dirty="0"/>
          </a:p>
        </p:txBody>
      </p:sp>
      <p:sp>
        <p:nvSpPr>
          <p:cNvPr id="7" name="Text 5"/>
          <p:cNvSpPr/>
          <p:nvPr/>
        </p:nvSpPr>
        <p:spPr>
          <a:xfrm>
            <a:off x="1737360" y="1417320"/>
            <a:ext cx="6684264" cy="822960"/>
          </a:xfrm>
          <a:prstGeom prst="rect">
            <a:avLst/>
          </a:prstGeom>
          <a:solidFill>
            <a:srgbClr val="EDF1F5"/>
          </a:solidFill>
          <a:ln/>
        </p:spPr>
        <p:txBody>
          <a:bodyPr wrap="square" lIns="101600" tIns="101600" rIns="101600" bIns="101600" rtlCol="0" anchor="ctr"/>
          <a:lstStyle/>
          <a:p>
            <a:pPr indent="0" marL="0">
              <a:buNone/>
            </a:pPr>
            <a:r>
              <a:rPr lang="en-US" sz="1300" dirty="0">
                <a:solidFill>
                  <a:srgbClr val="1A1A1A"/>
                </a:solidFill>
                <a:latin typeface="Open Sans" pitchFamily="34" charset="0"/>
                <a:ea typeface="Open Sans" pitchFamily="34" charset="-122"/>
                <a:cs typeface="Open Sans" pitchFamily="34" charset="-120"/>
              </a:rPr>
              <a:t>Devise an achievable research question on a topic of interest.</a:t>
            </a:r>
            <a:endParaRPr lang="en-US" sz="1300" dirty="0"/>
          </a:p>
        </p:txBody>
      </p:sp>
      <p:sp>
        <p:nvSpPr>
          <p:cNvPr id="8" name="Text 6"/>
          <p:cNvSpPr/>
          <p:nvPr/>
        </p:nvSpPr>
        <p:spPr>
          <a:xfrm>
            <a:off x="731520" y="2377440"/>
            <a:ext cx="914400" cy="822960"/>
          </a:xfrm>
          <a:prstGeom prst="rect">
            <a:avLst/>
          </a:prstGeom>
          <a:solidFill>
            <a:srgbClr val="2E9E5C"/>
          </a:solidFill>
          <a:ln/>
        </p:spPr>
        <p:txBody>
          <a:bodyPr wrap="square" lIns="50800" tIns="50800" rIns="50800" bIns="5080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ILO 2</a:t>
            </a:r>
            <a:endParaRPr lang="en-US" sz="1400" dirty="0"/>
          </a:p>
        </p:txBody>
      </p:sp>
      <p:sp>
        <p:nvSpPr>
          <p:cNvPr id="9" name="Text 7"/>
          <p:cNvSpPr/>
          <p:nvPr/>
        </p:nvSpPr>
        <p:spPr>
          <a:xfrm>
            <a:off x="1737360" y="2377440"/>
            <a:ext cx="6684264" cy="822960"/>
          </a:xfrm>
          <a:prstGeom prst="rect">
            <a:avLst/>
          </a:prstGeom>
          <a:solidFill>
            <a:srgbClr val="EDF1F5"/>
          </a:solidFill>
          <a:ln/>
        </p:spPr>
        <p:txBody>
          <a:bodyPr wrap="square" lIns="101600" tIns="101600" rIns="101600" bIns="101600" rtlCol="0" anchor="ctr"/>
          <a:lstStyle/>
          <a:p>
            <a:pPr indent="0" marL="0">
              <a:buNone/>
            </a:pPr>
            <a:r>
              <a:rPr lang="en-US" sz="1300" dirty="0">
                <a:solidFill>
                  <a:srgbClr val="1A1A1A"/>
                </a:solidFill>
                <a:latin typeface="Open Sans" pitchFamily="34" charset="0"/>
                <a:ea typeface="Open Sans" pitchFamily="34" charset="-122"/>
                <a:cs typeface="Open Sans" pitchFamily="34" charset="-120"/>
              </a:rPr>
              <a:t>Critically evaluate and summarise the state of the art in a research area through a structured literature review.</a:t>
            </a:r>
            <a:endParaRPr lang="en-US" sz="1300" dirty="0"/>
          </a:p>
        </p:txBody>
      </p:sp>
      <p:sp>
        <p:nvSpPr>
          <p:cNvPr id="10" name="Text 8"/>
          <p:cNvSpPr/>
          <p:nvPr/>
        </p:nvSpPr>
        <p:spPr>
          <a:xfrm>
            <a:off x="731520" y="3337560"/>
            <a:ext cx="914400" cy="822960"/>
          </a:xfrm>
          <a:prstGeom prst="rect">
            <a:avLst/>
          </a:prstGeom>
          <a:solidFill>
            <a:srgbClr val="E0701A"/>
          </a:solidFill>
          <a:ln/>
        </p:spPr>
        <p:txBody>
          <a:bodyPr wrap="square" lIns="50800" tIns="50800" rIns="50800" bIns="5080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ILO 3</a:t>
            </a:r>
            <a:endParaRPr lang="en-US" sz="1400" dirty="0"/>
          </a:p>
        </p:txBody>
      </p:sp>
      <p:sp>
        <p:nvSpPr>
          <p:cNvPr id="11" name="Text 9"/>
          <p:cNvSpPr/>
          <p:nvPr/>
        </p:nvSpPr>
        <p:spPr>
          <a:xfrm>
            <a:off x="1737360" y="3337560"/>
            <a:ext cx="6684264" cy="822960"/>
          </a:xfrm>
          <a:prstGeom prst="rect">
            <a:avLst/>
          </a:prstGeom>
          <a:solidFill>
            <a:srgbClr val="EDF1F5"/>
          </a:solidFill>
          <a:ln/>
        </p:spPr>
        <p:txBody>
          <a:bodyPr wrap="square" lIns="101600" tIns="101600" rIns="101600" bIns="101600" rtlCol="0" anchor="ctr"/>
          <a:lstStyle/>
          <a:p>
            <a:pPr indent="0" marL="0">
              <a:buNone/>
            </a:pPr>
            <a:r>
              <a:rPr lang="en-US" sz="1300" dirty="0">
                <a:solidFill>
                  <a:srgbClr val="1A1A1A"/>
                </a:solidFill>
                <a:latin typeface="Open Sans" pitchFamily="34" charset="0"/>
                <a:ea typeface="Open Sans" pitchFamily="34" charset="-122"/>
                <a:cs typeface="Open Sans" pitchFamily="34" charset="-120"/>
              </a:rPr>
              <a:t>Analyse the impact of social, legal, and ethical considerations of the proposed research project.</a:t>
            </a:r>
            <a:endParaRPr lang="en-US" sz="1300" dirty="0"/>
          </a:p>
        </p:txBody>
      </p:sp>
      <p:sp>
        <p:nvSpPr>
          <p:cNvPr id="12" name="Text 10"/>
          <p:cNvSpPr/>
          <p:nvPr/>
        </p:nvSpPr>
        <p:spPr>
          <a:xfrm>
            <a:off x="731520" y="4343400"/>
            <a:ext cx="7690104" cy="384048"/>
          </a:xfrm>
          <a:prstGeom prst="rect">
            <a:avLst/>
          </a:prstGeom>
          <a:noFill/>
          <a:ln/>
        </p:spPr>
        <p:txBody>
          <a:bodyPr wrap="square" lIns="0" tIns="0" rIns="0" bIns="0" rtlCol="0" anchor="t"/>
          <a:lstStyle/>
          <a:p>
            <a:pPr indent="0" marL="0">
              <a:buNone/>
            </a:pPr>
            <a:r>
              <a:rPr lang="en-US" sz="1200" i="1" dirty="0">
                <a:solidFill>
                  <a:srgbClr val="595959"/>
                </a:solidFill>
                <a:latin typeface="Open Sans" pitchFamily="34" charset="0"/>
                <a:ea typeface="Open Sans" pitchFamily="34" charset="-122"/>
                <a:cs typeface="Open Sans" pitchFamily="34" charset="-120"/>
              </a:rPr>
              <a:t>Session 1 focuses on ILO 1 - forming an achievable research question. ILOs 2 and 3 are taught in Sessions 2, 3, and 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11E2A"/>
          </a:solidFill>
          <a:ln/>
        </p:spPr>
      </p:sp>
      <p:sp>
        <p:nvSpPr>
          <p:cNvPr id="3" name="Text 1"/>
          <p:cNvSpPr/>
          <p:nvPr/>
        </p:nvSpPr>
        <p:spPr>
          <a:xfrm>
            <a:off x="731520" y="640080"/>
            <a:ext cx="5029200" cy="310896"/>
          </a:xfrm>
          <a:prstGeom prst="rect">
            <a:avLst/>
          </a:prstGeom>
          <a:noFill/>
          <a:ln/>
        </p:spPr>
        <p:txBody>
          <a:bodyPr wrap="square" lIns="0" tIns="0" rIns="0" bIns="0" rtlCol="0" anchor="t"/>
          <a:lstStyle/>
          <a:p>
            <a:pPr indent="0" marL="0">
              <a:buNone/>
            </a:pPr>
            <a:r>
              <a:rPr lang="en-US" sz="1300" b="1" spc="200" kern="0" dirty="0">
                <a:solidFill>
                  <a:srgbClr val="FFFFFF"/>
                </a:solidFill>
                <a:latin typeface="Open Sans" pitchFamily="34" charset="0"/>
                <a:ea typeface="Open Sans" pitchFamily="34" charset="-122"/>
                <a:cs typeface="Open Sans" pitchFamily="34" charset="-120"/>
              </a:rPr>
              <a:t>KEY CONCEPT</a:t>
            </a:r>
            <a:endParaRPr lang="en-US" sz="1300" dirty="0"/>
          </a:p>
        </p:txBody>
      </p:sp>
      <p:sp>
        <p:nvSpPr>
          <p:cNvPr id="4" name="Shape 2"/>
          <p:cNvSpPr/>
          <p:nvPr/>
        </p:nvSpPr>
        <p:spPr>
          <a:xfrm>
            <a:off x="731520" y="1024128"/>
            <a:ext cx="502920" cy="54864"/>
          </a:xfrm>
          <a:prstGeom prst="rect">
            <a:avLst/>
          </a:prstGeom>
          <a:solidFill>
            <a:srgbClr val="E0701A"/>
          </a:solidFill>
          <a:ln/>
        </p:spPr>
      </p:sp>
      <p:sp>
        <p:nvSpPr>
          <p:cNvPr id="5" name="Text 3"/>
          <p:cNvSpPr/>
          <p:nvPr/>
        </p:nvSpPr>
        <p:spPr>
          <a:xfrm>
            <a:off x="731520" y="1188720"/>
            <a:ext cx="7690104" cy="82296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You Can Already Build</a:t>
            </a:r>
            <a:endParaRPr lang="en-US" sz="3200" dirty="0"/>
          </a:p>
        </p:txBody>
      </p:sp>
      <p:sp>
        <p:nvSpPr>
          <p:cNvPr id="6" name="Text 4"/>
          <p:cNvSpPr/>
          <p:nvPr/>
        </p:nvSpPr>
        <p:spPr>
          <a:xfrm>
            <a:off x="731520" y="2194560"/>
            <a:ext cx="7690104" cy="2194560"/>
          </a:xfrm>
          <a:prstGeom prst="rect">
            <a:avLst/>
          </a:prstGeom>
          <a:noFill/>
          <a:ln/>
        </p:spPr>
        <p:txBody>
          <a:bodyPr wrap="square" lIns="0" tIns="0" rIns="0" bIns="0" rtlCol="0" anchor="t"/>
          <a:lstStyle/>
          <a:p>
            <a:pPr indent="0" marL="0">
              <a:spcAft>
                <a:spcPts val="1400"/>
              </a:spcAft>
              <a:buNone/>
            </a:pPr>
            <a:r>
              <a:rPr lang="en-US" sz="1800" dirty="0">
                <a:solidFill>
                  <a:srgbClr val="FFFFFF"/>
                </a:solidFill>
                <a:latin typeface="Open Sans" pitchFamily="34" charset="0"/>
                <a:ea typeface="Open Sans" pitchFamily="34" charset="-122"/>
                <a:cs typeface="Open Sans" pitchFamily="34" charset="-120"/>
              </a:rPr>
              <a:t>The skill this module grows is </a:t>
            </a:r>
            <a:pPr indent="0" marL="0">
              <a:spcAft>
                <a:spcPts val="1400"/>
              </a:spcAft>
              <a:buNone/>
            </a:pPr>
            <a:r>
              <a:rPr lang="en-US" sz="1800" b="1" dirty="0">
                <a:solidFill>
                  <a:srgbClr val="FFFFFF"/>
                </a:solidFill>
                <a:latin typeface="Open Sans" pitchFamily="34" charset="0"/>
                <a:ea typeface="Open Sans" pitchFamily="34" charset="-122"/>
                <a:cs typeface="Open Sans" pitchFamily="34" charset="-120"/>
              </a:rPr>
              <a:t>framing</a:t>
            </a:r>
            <a:pPr indent="0" marL="0">
              <a:spcAft>
                <a:spcPts val="1400"/>
              </a:spcAft>
              <a:buNone/>
            </a:pPr>
            <a:r>
              <a:rPr lang="en-US" sz="1800" dirty="0">
                <a:solidFill>
                  <a:srgbClr val="FFFFFF"/>
                </a:solidFill>
                <a:latin typeface="Open Sans" pitchFamily="34" charset="0"/>
                <a:ea typeface="Open Sans" pitchFamily="34" charset="-122"/>
                <a:cs typeface="Open Sans" pitchFamily="34" charset="-120"/>
              </a:rPr>
              <a:t> - turning a topic into a question you can actually answer.</a:t>
            </a:r>
            <a:endParaRPr lang="en-US" sz="1800" dirty="0"/>
          </a:p>
          <a:p>
            <a:pPr indent="0" marL="0">
              <a:spcAft>
                <a:spcPts val="1400"/>
              </a:spcAft>
              <a:buNone/>
            </a:pPr>
            <a:r>
              <a:rPr lang="en-US" sz="1800" dirty="0">
                <a:solidFill>
                  <a:srgbClr val="FFFFFF"/>
                </a:solidFill>
                <a:latin typeface="Open Sans" pitchFamily="34" charset="0"/>
                <a:ea typeface="Open Sans" pitchFamily="34" charset="-122"/>
                <a:cs typeface="Open Sans" pitchFamily="34" charset="-120"/>
              </a:rPr>
              <a:t>Sessions 2, 3, and 4 each revisit it from a different angle. Today is your first rep.</a:t>
            </a:r>
            <a:endParaRPr lang="en-US" sz="1800" dirty="0"/>
          </a:p>
        </p:txBody>
      </p:sp>
      <p:sp>
        <p:nvSpPr>
          <p:cNvPr id="7" name="Shape 5"/>
          <p:cNvSpPr/>
          <p:nvPr/>
        </p:nvSpPr>
        <p:spPr>
          <a:xfrm>
            <a:off x="731520" y="4617720"/>
            <a:ext cx="502920" cy="64008"/>
          </a:xfrm>
          <a:prstGeom prst="rect">
            <a:avLst/>
          </a:prstGeom>
          <a:solidFill>
            <a:srgbClr val="1B3A6B"/>
          </a:solidFill>
          <a:ln/>
        </p:spPr>
      </p:sp>
      <p:sp>
        <p:nvSpPr>
          <p:cNvPr id="8" name="Shape 6"/>
          <p:cNvSpPr/>
          <p:nvPr/>
        </p:nvSpPr>
        <p:spPr>
          <a:xfrm>
            <a:off x="1280160" y="4617720"/>
            <a:ext cx="256032" cy="64008"/>
          </a:xfrm>
          <a:prstGeom prst="rect">
            <a:avLst/>
          </a:prstGeom>
          <a:solidFill>
            <a:srgbClr val="E0701A"/>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The Module at a Glance</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298448"/>
            <a:ext cx="2478024" cy="1097280"/>
          </a:xfrm>
          <a:prstGeom prst="rect">
            <a:avLst/>
          </a:prstGeom>
          <a:solidFill>
            <a:srgbClr val="1B3A6B"/>
          </a:solidFill>
          <a:ln/>
        </p:spPr>
        <p:txBody>
          <a:bodyPr wrap="square" lIns="50800" tIns="50800" rIns="50800" bIns="50800" rtlCol="0" anchor="ctr"/>
          <a:lstStyle/>
          <a:p>
            <a:pPr algn="ctr" indent="0" marL="0">
              <a:buNone/>
            </a:pPr>
            <a:r>
              <a:rPr lang="en-US" sz="4000" b="1" dirty="0">
                <a:solidFill>
                  <a:srgbClr val="FFFFFF"/>
                </a:solidFill>
                <a:latin typeface="Open Sans" pitchFamily="34" charset="0"/>
                <a:ea typeface="Open Sans" pitchFamily="34" charset="-122"/>
                <a:cs typeface="Open Sans" pitchFamily="34" charset="-120"/>
              </a:rPr>
              <a:t>13</a:t>
            </a:r>
            <a:endParaRPr lang="en-US" sz="1200" dirty="0"/>
          </a:p>
          <a:p>
            <a:pPr algn="ctr" indent="0" marL="0">
              <a:buNone/>
            </a:pPr>
            <a:r>
              <a:rPr lang="en-US" sz="1300" b="1" dirty="0">
                <a:solidFill>
                  <a:srgbClr val="FFFFFF"/>
                </a:solidFill>
                <a:latin typeface="Open Sans" pitchFamily="34" charset="0"/>
                <a:ea typeface="Open Sans" pitchFamily="34" charset="-122"/>
                <a:cs typeface="Open Sans" pitchFamily="34" charset="-120"/>
              </a:rPr>
              <a:t>Weeks</a:t>
            </a:r>
            <a:endParaRPr lang="en-US" sz="1200" dirty="0"/>
          </a:p>
          <a:p>
            <a:pPr algn="ctr" indent="0" marL="0">
              <a:buNone/>
            </a:pPr>
            <a:r>
              <a:rPr lang="en-US" sz="1100" i="1" dirty="0">
                <a:solidFill>
                  <a:srgbClr val="FFFFFF"/>
                </a:solidFill>
                <a:latin typeface="Open Sans" pitchFamily="34" charset="0"/>
                <a:ea typeface="Open Sans" pitchFamily="34" charset="-122"/>
                <a:cs typeface="Open Sans" pitchFamily="34" charset="-120"/>
              </a:rPr>
              <a:t>Teaching + supervised production</a:t>
            </a:r>
            <a:endParaRPr lang="en-US" sz="1200" dirty="0"/>
          </a:p>
        </p:txBody>
      </p:sp>
      <p:sp>
        <p:nvSpPr>
          <p:cNvPr id="7" name="Text 5"/>
          <p:cNvSpPr/>
          <p:nvPr/>
        </p:nvSpPr>
        <p:spPr>
          <a:xfrm>
            <a:off x="3337560" y="1298448"/>
            <a:ext cx="2478024" cy="1097280"/>
          </a:xfrm>
          <a:prstGeom prst="rect">
            <a:avLst/>
          </a:prstGeom>
          <a:solidFill>
            <a:srgbClr val="3E6FA8"/>
          </a:solidFill>
          <a:ln/>
        </p:spPr>
        <p:txBody>
          <a:bodyPr wrap="square" lIns="50800" tIns="50800" rIns="50800" bIns="50800" rtlCol="0" anchor="ctr"/>
          <a:lstStyle/>
          <a:p>
            <a:pPr algn="ctr" indent="0" marL="0">
              <a:buNone/>
            </a:pPr>
            <a:r>
              <a:rPr lang="en-US" sz="4000" b="1" dirty="0">
                <a:solidFill>
                  <a:srgbClr val="FFFFFF"/>
                </a:solidFill>
                <a:latin typeface="Open Sans" pitchFamily="34" charset="0"/>
                <a:ea typeface="Open Sans" pitchFamily="34" charset="-122"/>
                <a:cs typeface="Open Sans" pitchFamily="34" charset="-120"/>
              </a:rPr>
              <a:t>4</a:t>
            </a:r>
            <a:endParaRPr lang="en-US" sz="1200" dirty="0"/>
          </a:p>
          <a:p>
            <a:pPr algn="ctr" indent="0" marL="0">
              <a:buNone/>
            </a:pPr>
            <a:r>
              <a:rPr lang="en-US" sz="1300" b="1" dirty="0">
                <a:solidFill>
                  <a:srgbClr val="FFFFFF"/>
                </a:solidFill>
                <a:latin typeface="Open Sans" pitchFamily="34" charset="0"/>
                <a:ea typeface="Open Sans" pitchFamily="34" charset="-122"/>
                <a:cs typeface="Open Sans" pitchFamily="34" charset="-120"/>
              </a:rPr>
              <a:t>Sessions</a:t>
            </a:r>
            <a:endParaRPr lang="en-US" sz="1200" dirty="0"/>
          </a:p>
          <a:p>
            <a:pPr algn="ctr" indent="0" marL="0">
              <a:buNone/>
            </a:pPr>
            <a:r>
              <a:rPr lang="en-US" sz="1100" i="1" dirty="0">
                <a:solidFill>
                  <a:srgbClr val="FFFFFF"/>
                </a:solidFill>
                <a:latin typeface="Open Sans" pitchFamily="34" charset="0"/>
                <a:ea typeface="Open Sans" pitchFamily="34" charset="-122"/>
                <a:cs typeface="Open Sans" pitchFamily="34" charset="-120"/>
              </a:rPr>
              <a:t>Front-loaded: Weeks 1, 4, 6 and 7</a:t>
            </a:r>
            <a:endParaRPr lang="en-US" sz="1200" dirty="0"/>
          </a:p>
        </p:txBody>
      </p:sp>
      <p:sp>
        <p:nvSpPr>
          <p:cNvPr id="8" name="Text 6"/>
          <p:cNvSpPr/>
          <p:nvPr/>
        </p:nvSpPr>
        <p:spPr>
          <a:xfrm>
            <a:off x="5943600" y="1298448"/>
            <a:ext cx="2478024" cy="1097280"/>
          </a:xfrm>
          <a:prstGeom prst="rect">
            <a:avLst/>
          </a:prstGeom>
          <a:solidFill>
            <a:srgbClr val="E0701A"/>
          </a:solidFill>
          <a:ln/>
        </p:spPr>
        <p:txBody>
          <a:bodyPr wrap="square" lIns="50800" tIns="50800" rIns="50800" bIns="50800" rtlCol="0" anchor="ctr"/>
          <a:lstStyle/>
          <a:p>
            <a:pPr algn="ctr" indent="0" marL="0">
              <a:buNone/>
            </a:pPr>
            <a:r>
              <a:rPr lang="en-US" sz="4000" b="1" dirty="0">
                <a:solidFill>
                  <a:srgbClr val="FFFFFF"/>
                </a:solidFill>
                <a:latin typeface="Open Sans" pitchFamily="34" charset="0"/>
                <a:ea typeface="Open Sans" pitchFamily="34" charset="-122"/>
                <a:cs typeface="Open Sans" pitchFamily="34" charset="-120"/>
              </a:rPr>
              <a:t>3+</a:t>
            </a:r>
            <a:endParaRPr lang="en-US" sz="1200" dirty="0"/>
          </a:p>
          <a:p>
            <a:pPr algn="ctr" indent="0" marL="0">
              <a:buNone/>
            </a:pPr>
            <a:r>
              <a:rPr lang="en-US" sz="1300" b="1" dirty="0">
                <a:solidFill>
                  <a:srgbClr val="FFFFFF"/>
                </a:solidFill>
                <a:latin typeface="Open Sans" pitchFamily="34" charset="0"/>
                <a:ea typeface="Open Sans" pitchFamily="34" charset="-122"/>
                <a:cs typeface="Open Sans" pitchFamily="34" charset="-120"/>
              </a:rPr>
              <a:t>Checkpoints</a:t>
            </a:r>
            <a:endParaRPr lang="en-US" sz="1200" dirty="0"/>
          </a:p>
          <a:p>
            <a:pPr algn="ctr" indent="0" marL="0">
              <a:buNone/>
            </a:pPr>
            <a:r>
              <a:rPr lang="en-US" sz="1100" i="1" dirty="0">
                <a:solidFill>
                  <a:srgbClr val="FFFFFF"/>
                </a:solidFill>
                <a:latin typeface="Open Sans" pitchFamily="34" charset="0"/>
                <a:ea typeface="Open Sans" pitchFamily="34" charset="-122"/>
                <a:cs typeface="Open Sans" pitchFamily="34" charset="-120"/>
              </a:rPr>
              <a:t>Plus must-pass Week 13 defence</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2505456"/>
          <a:ext cx="7690104" cy="914400"/>
        </p:xfrm>
        <a:graphic>
          <a:graphicData uri="http://schemas.openxmlformats.org/drawingml/2006/table">
            <a:tbl>
              <a:tblPr/>
              <a:tblGrid>
                <a:gridCol w="548640"/>
                <a:gridCol w="2194560"/>
                <a:gridCol w="4946904"/>
              </a:tblGrid>
              <a:tr h="0">
                <a:tc>
                  <a:txBody>
                    <a:bodyPr/>
                    <a:lstStyle/>
                    <a:p>
                      <a:pPr indent="0" marL="0">
                        <a:buNone/>
                      </a:pPr>
                      <a:r>
                        <a:rPr lang="en-US" sz="1000" b="1" dirty="0">
                          <a:solidFill>
                            <a:srgbClr val="FFFFFF"/>
                          </a:solidFill>
                          <a:latin typeface="Open Sans" pitchFamily="34" charset="0"/>
                          <a:ea typeface="Open Sans" pitchFamily="34" charset="-122"/>
                          <a:cs typeface="Open Sans" pitchFamily="34" charset="-120"/>
                        </a:rPr>
                        <a:t>Wk</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Open Sans" pitchFamily="34" charset="0"/>
                          <a:ea typeface="Open Sans" pitchFamily="34" charset="-122"/>
                          <a:cs typeface="Open Sans" pitchFamily="34" charset="-120"/>
                        </a:rPr>
                        <a:t>Activity</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Open Sans" pitchFamily="34" charset="0"/>
                          <a:ea typeface="Open Sans" pitchFamily="34" charset="-122"/>
                          <a:cs typeface="Open Sans" pitchFamily="34" charset="-120"/>
                        </a:rPr>
                        <a:t>Focus</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r>
              <a:tr h="0">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1</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S1 - Today</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Topic selection and research-question formation</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3</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Checkpoint 1</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Problem outline - research question assessed, revision expected</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r h="0">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4</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S2</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Critical literature review</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6</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S3</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Methodology, tooling and evaluation design</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r h="0">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7</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S4</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Responsible practice, delivery planning and ethics</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8</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Checkpoint 2</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Full draft - feedback across all five rubric criteria</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r h="0">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12</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Checkpoint 3</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Summative submission (CW1) with ethics-approval evidence</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13</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Defence</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000" dirty="0">
                          <a:solidFill>
                            <a:srgbClr val="1A1A1A"/>
                          </a:solidFill>
                          <a:latin typeface="Open Sans" pitchFamily="34" charset="0"/>
                          <a:ea typeface="Open Sans" pitchFamily="34" charset="-122"/>
                          <a:cs typeface="Open Sans" pitchFamily="34" charset="-120"/>
                        </a:rPr>
                        <a:t>Presentation and viva voce - must-pass gate</a:t>
                      </a:r>
                      <a:endParaRPr lang="en-US" sz="10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4160520" cy="5143500"/>
          </a:xfrm>
          <a:prstGeom prst="rect">
            <a:avLst/>
          </a:prstGeom>
          <a:solidFill>
            <a:srgbClr val="1B3A6B"/>
          </a:solidFill>
          <a:ln/>
        </p:spPr>
      </p:sp>
      <p:sp>
        <p:nvSpPr>
          <p:cNvPr id="3" name="Text 1"/>
          <p:cNvSpPr/>
          <p:nvPr/>
        </p:nvSpPr>
        <p:spPr>
          <a:xfrm>
            <a:off x="411480" y="822960"/>
            <a:ext cx="3474720" cy="178308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Your Research Project Journey</a:t>
            </a:r>
            <a:endParaRPr lang="en-US" sz="3200" dirty="0"/>
          </a:p>
        </p:txBody>
      </p:sp>
      <p:sp>
        <p:nvSpPr>
          <p:cNvPr id="4" name="Text 2"/>
          <p:cNvSpPr/>
          <p:nvPr/>
        </p:nvSpPr>
        <p:spPr>
          <a:xfrm>
            <a:off x="411480" y="2697480"/>
            <a:ext cx="3474720" cy="731520"/>
          </a:xfrm>
          <a:prstGeom prst="rect">
            <a:avLst/>
          </a:prstGeom>
          <a:noFill/>
          <a:ln/>
        </p:spPr>
        <p:txBody>
          <a:bodyPr wrap="square" lIns="0" tIns="0" rIns="0" bIns="0" rtlCol="0" anchor="t"/>
          <a:lstStyle/>
          <a:p>
            <a:pPr indent="0" marL="0">
              <a:buNone/>
            </a:pPr>
            <a:r>
              <a:rPr lang="en-US" sz="1400" i="1" dirty="0">
                <a:solidFill>
                  <a:srgbClr val="FFFFFF"/>
                </a:solidFill>
                <a:latin typeface="Open Sans" pitchFamily="34" charset="0"/>
                <a:ea typeface="Open Sans" pitchFamily="34" charset="-122"/>
                <a:cs typeface="Open Sans" pitchFamily="34" charset="-120"/>
              </a:rPr>
              <a:t>Each session unlocks a different stage of the research process.</a:t>
            </a:r>
            <a:endParaRPr lang="en-US" sz="1400" dirty="0"/>
          </a:p>
        </p:txBody>
      </p:sp>
      <p:sp>
        <p:nvSpPr>
          <p:cNvPr id="5" name="Text 3"/>
          <p:cNvSpPr/>
          <p:nvPr/>
        </p:nvSpPr>
        <p:spPr>
          <a:xfrm>
            <a:off x="411480" y="3703320"/>
            <a:ext cx="3474720" cy="914400"/>
          </a:xfrm>
          <a:prstGeom prst="rect">
            <a:avLst/>
          </a:prstGeom>
          <a:noFill/>
          <a:ln/>
        </p:spPr>
        <p:txBody>
          <a:bodyPr wrap="square" lIns="0" tIns="0" rIns="0" bIns="0" rtlCol="0" anchor="t"/>
          <a:lstStyle/>
          <a:p>
            <a:pPr indent="0" marL="0">
              <a:buNone/>
            </a:pPr>
            <a:r>
              <a:rPr lang="en-US" sz="1300" b="1" dirty="0">
                <a:solidFill>
                  <a:srgbClr val="FFFFFF"/>
                </a:solidFill>
                <a:latin typeface="Open Sans" pitchFamily="34" charset="0"/>
                <a:ea typeface="Open Sans" pitchFamily="34" charset="-122"/>
                <a:cs typeface="Open Sans" pitchFamily="34" charset="-120"/>
              </a:rPr>
              <a:t>Then: passing the Week 13 defence bridges you into NB6019CEM Research Project Delivery, where you build it.</a:t>
            </a:r>
            <a:endParaRPr lang="en-US" sz="1300" dirty="0"/>
          </a:p>
        </p:txBody>
      </p:sp>
      <p:sp>
        <p:nvSpPr>
          <p:cNvPr id="6" name="Text 4"/>
          <p:cNvSpPr/>
          <p:nvPr/>
        </p:nvSpPr>
        <p:spPr>
          <a:xfrm>
            <a:off x="4434840" y="292608"/>
            <a:ext cx="4343400" cy="329184"/>
          </a:xfrm>
          <a:prstGeom prst="rect">
            <a:avLst/>
          </a:prstGeom>
          <a:solidFill>
            <a:srgbClr val="E0701A"/>
          </a:solidFill>
          <a:ln/>
        </p:spPr>
        <p:txBody>
          <a:bodyPr wrap="square" lIns="76200" tIns="76200" rIns="76200" bIns="762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S1 - Today</a:t>
            </a:r>
            <a:endParaRPr lang="en-US" sz="1400" dirty="0"/>
          </a:p>
        </p:txBody>
      </p:sp>
      <p:sp>
        <p:nvSpPr>
          <p:cNvPr id="7" name="Text 5"/>
          <p:cNvSpPr/>
          <p:nvPr/>
        </p:nvSpPr>
        <p:spPr>
          <a:xfrm>
            <a:off x="4434840" y="640080"/>
            <a:ext cx="4343400" cy="713232"/>
          </a:xfrm>
          <a:prstGeom prst="rect">
            <a:avLst/>
          </a:prstGeom>
          <a:solidFill>
            <a:srgbClr val="EDF1F5"/>
          </a:solidFill>
          <a:ln/>
        </p:spPr>
        <p:txBody>
          <a:bodyPr wrap="square" lIns="76200" tIns="76200" rIns="76200" bIns="76200" rtlCol="0" anchor="t"/>
          <a:lstStyle/>
          <a:p>
            <a:pPr indent="0" marL="0">
              <a:buNone/>
            </a:pPr>
            <a:r>
              <a:rPr lang="en-US" sz="1200" dirty="0">
                <a:solidFill>
                  <a:srgbClr val="1A1A1A"/>
                </a:solidFill>
                <a:latin typeface="Open Sans" pitchFamily="34" charset="0"/>
                <a:ea typeface="Open Sans" pitchFamily="34" charset="-122"/>
                <a:cs typeface="Open Sans" pitchFamily="34" charset="-120"/>
              </a:rPr>
              <a:t>Topic selection and research-question formation. Framing taught head-on.</a:t>
            </a:r>
            <a:endParaRPr lang="en-US" sz="1200" dirty="0"/>
          </a:p>
        </p:txBody>
      </p:sp>
      <p:sp>
        <p:nvSpPr>
          <p:cNvPr id="8" name="Text 6"/>
          <p:cNvSpPr/>
          <p:nvPr/>
        </p:nvSpPr>
        <p:spPr>
          <a:xfrm>
            <a:off x="4434840" y="1472184"/>
            <a:ext cx="4343400" cy="329184"/>
          </a:xfrm>
          <a:prstGeom prst="rect">
            <a:avLst/>
          </a:prstGeom>
          <a:solidFill>
            <a:srgbClr val="C5D6E8"/>
          </a:solidFill>
          <a:ln/>
        </p:spPr>
        <p:txBody>
          <a:bodyPr wrap="square" lIns="76200" tIns="76200" rIns="76200" bIns="762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S2 - Week 4</a:t>
            </a:r>
            <a:endParaRPr lang="en-US" sz="1400" dirty="0"/>
          </a:p>
        </p:txBody>
      </p:sp>
      <p:sp>
        <p:nvSpPr>
          <p:cNvPr id="9" name="Text 7"/>
          <p:cNvSpPr/>
          <p:nvPr/>
        </p:nvSpPr>
        <p:spPr>
          <a:xfrm>
            <a:off x="4434840" y="1819656"/>
            <a:ext cx="4343400" cy="713232"/>
          </a:xfrm>
          <a:prstGeom prst="rect">
            <a:avLst/>
          </a:prstGeom>
          <a:solidFill>
            <a:srgbClr val="EDF1F5"/>
          </a:solidFill>
          <a:ln/>
        </p:spPr>
        <p:txBody>
          <a:bodyPr wrap="square" lIns="76200" tIns="76200" rIns="76200" bIns="76200" rtlCol="0" anchor="t"/>
          <a:lstStyle/>
          <a:p>
            <a:pPr indent="0" marL="0">
              <a:buNone/>
            </a:pPr>
            <a:r>
              <a:rPr lang="en-US" sz="1200" dirty="0">
                <a:solidFill>
                  <a:srgbClr val="1A1A1A"/>
                </a:solidFill>
                <a:latin typeface="Open Sans" pitchFamily="34" charset="0"/>
                <a:ea typeface="Open Sans" pitchFamily="34" charset="-122"/>
                <a:cs typeface="Open Sans" pitchFamily="34" charset="-120"/>
              </a:rPr>
              <a:t>Critical literature review. Framing the problem against the known.</a:t>
            </a:r>
            <a:endParaRPr lang="en-US" sz="1200" dirty="0"/>
          </a:p>
        </p:txBody>
      </p:sp>
      <p:sp>
        <p:nvSpPr>
          <p:cNvPr id="10" name="Text 8"/>
          <p:cNvSpPr/>
          <p:nvPr/>
        </p:nvSpPr>
        <p:spPr>
          <a:xfrm>
            <a:off x="4434840" y="2651760"/>
            <a:ext cx="4343400" cy="329184"/>
          </a:xfrm>
          <a:prstGeom prst="rect">
            <a:avLst/>
          </a:prstGeom>
          <a:solidFill>
            <a:srgbClr val="C5D6E8"/>
          </a:solidFill>
          <a:ln/>
        </p:spPr>
        <p:txBody>
          <a:bodyPr wrap="square" lIns="76200" tIns="76200" rIns="76200" bIns="762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S3 - Week 6</a:t>
            </a:r>
            <a:endParaRPr lang="en-US" sz="1400" dirty="0"/>
          </a:p>
        </p:txBody>
      </p:sp>
      <p:sp>
        <p:nvSpPr>
          <p:cNvPr id="11" name="Text 9"/>
          <p:cNvSpPr/>
          <p:nvPr/>
        </p:nvSpPr>
        <p:spPr>
          <a:xfrm>
            <a:off x="4434840" y="2999232"/>
            <a:ext cx="4343400" cy="713232"/>
          </a:xfrm>
          <a:prstGeom prst="rect">
            <a:avLst/>
          </a:prstGeom>
          <a:solidFill>
            <a:srgbClr val="EDF1F5"/>
          </a:solidFill>
          <a:ln/>
        </p:spPr>
        <p:txBody>
          <a:bodyPr wrap="square" lIns="76200" tIns="76200" rIns="76200" bIns="76200" rtlCol="0" anchor="t"/>
          <a:lstStyle/>
          <a:p>
            <a:pPr indent="0" marL="0">
              <a:buNone/>
            </a:pPr>
            <a:r>
              <a:rPr lang="en-US" sz="1200" dirty="0">
                <a:solidFill>
                  <a:srgbClr val="1A1A1A"/>
                </a:solidFill>
                <a:latin typeface="Open Sans" pitchFamily="34" charset="0"/>
                <a:ea typeface="Open Sans" pitchFamily="34" charset="-122"/>
                <a:cs typeface="Open Sans" pitchFamily="34" charset="-120"/>
              </a:rPr>
              <a:t>Methodology, tooling and evaluation design. Framing as testable.</a:t>
            </a:r>
            <a:endParaRPr lang="en-US" sz="1200" dirty="0"/>
          </a:p>
        </p:txBody>
      </p:sp>
      <p:sp>
        <p:nvSpPr>
          <p:cNvPr id="12" name="Text 10"/>
          <p:cNvSpPr/>
          <p:nvPr/>
        </p:nvSpPr>
        <p:spPr>
          <a:xfrm>
            <a:off x="4434840" y="3831336"/>
            <a:ext cx="4343400" cy="329184"/>
          </a:xfrm>
          <a:prstGeom prst="rect">
            <a:avLst/>
          </a:prstGeom>
          <a:solidFill>
            <a:srgbClr val="C5D6E8"/>
          </a:solidFill>
          <a:ln/>
        </p:spPr>
        <p:txBody>
          <a:bodyPr wrap="square" lIns="76200" tIns="76200" rIns="76200" bIns="762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S4 - Week 7</a:t>
            </a:r>
            <a:endParaRPr lang="en-US" sz="1400" dirty="0"/>
          </a:p>
        </p:txBody>
      </p:sp>
      <p:sp>
        <p:nvSpPr>
          <p:cNvPr id="13" name="Text 11"/>
          <p:cNvSpPr/>
          <p:nvPr/>
        </p:nvSpPr>
        <p:spPr>
          <a:xfrm>
            <a:off x="4434840" y="4178808"/>
            <a:ext cx="4343400" cy="713232"/>
          </a:xfrm>
          <a:prstGeom prst="rect">
            <a:avLst/>
          </a:prstGeom>
          <a:solidFill>
            <a:srgbClr val="EDF1F5"/>
          </a:solidFill>
          <a:ln/>
        </p:spPr>
        <p:txBody>
          <a:bodyPr wrap="square" lIns="76200" tIns="76200" rIns="76200" bIns="76200" rtlCol="0" anchor="t"/>
          <a:lstStyle/>
          <a:p>
            <a:pPr indent="0" marL="0">
              <a:buNone/>
            </a:pPr>
            <a:r>
              <a:rPr lang="en-US" sz="1200" dirty="0">
                <a:solidFill>
                  <a:srgbClr val="1A1A1A"/>
                </a:solidFill>
                <a:latin typeface="Open Sans" pitchFamily="34" charset="0"/>
                <a:ea typeface="Open Sans" pitchFamily="34" charset="-122"/>
                <a:cs typeface="Open Sans" pitchFamily="34" charset="-120"/>
              </a:rPr>
              <a:t>Responsible practice, delivery planning and ethics. Framing boundaries.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What a Strong Project Looks Like - Exemplar A</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261872"/>
            <a:ext cx="7690104" cy="237744"/>
          </a:xfrm>
          <a:prstGeom prst="rect">
            <a:avLst/>
          </a:prstGeom>
          <a:noFill/>
          <a:ln/>
        </p:spPr>
        <p:txBody>
          <a:bodyPr wrap="square" lIns="0" tIns="0" rIns="0" bIns="0" rtlCol="0" anchor="t"/>
          <a:lstStyle/>
          <a:p>
            <a:pPr indent="0" marL="0">
              <a:buNone/>
            </a:pPr>
            <a:r>
              <a:rPr lang="en-US" sz="1100" i="1" dirty="0">
                <a:solidFill>
                  <a:srgbClr val="595959"/>
                </a:solidFill>
                <a:latin typeface="Open Sans" pitchFamily="34" charset="0"/>
                <a:ea typeface="Open Sans" pitchFamily="34" charset="-122"/>
                <a:cs typeface="Open Sans" pitchFamily="34" charset="-120"/>
              </a:rPr>
              <a:t>[Illustrative example - do not cite]</a:t>
            </a:r>
            <a:endParaRPr lang="en-US" sz="1100" dirty="0"/>
          </a:p>
        </p:txBody>
      </p:sp>
      <p:sp>
        <p:nvSpPr>
          <p:cNvPr id="7" name="Text 5"/>
          <p:cNvSpPr/>
          <p:nvPr/>
        </p:nvSpPr>
        <p:spPr>
          <a:xfrm>
            <a:off x="731520" y="1554480"/>
            <a:ext cx="7690104" cy="3154680"/>
          </a:xfrm>
          <a:prstGeom prst="rect">
            <a:avLst/>
          </a:prstGeom>
          <a:solidFill>
            <a:srgbClr val="C5D6E8"/>
          </a:solidFill>
          <a:ln/>
        </p:spPr>
        <p:txBody>
          <a:bodyPr wrap="square" lIns="152400" tIns="152400" rIns="152400" bIns="152400" rtlCol="0" anchor="t"/>
          <a:lstStyle/>
          <a:p>
            <a:pPr indent="0" marL="0">
              <a:spcAft>
                <a:spcPts val="800"/>
              </a:spcAft>
              <a:buNone/>
            </a:pPr>
            <a:r>
              <a:rPr lang="en-US" sz="1400" b="1" dirty="0">
                <a:solidFill>
                  <a:srgbClr val="1A1A1A"/>
                </a:solidFill>
                <a:latin typeface="Open Sans" pitchFamily="34" charset="0"/>
                <a:ea typeface="Open Sans" pitchFamily="34" charset="-122"/>
                <a:cs typeface="Open Sans" pitchFamily="34" charset="-120"/>
              </a:rPr>
              <a:t>Tharindu | Sevana Bank mobile-banking app</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Problem: </a:t>
            </a:r>
            <a:pPr indent="0" marL="0">
              <a:spcAft>
                <a:spcPts val="800"/>
              </a:spcAft>
              <a:buNone/>
            </a:pPr>
            <a:r>
              <a:rPr lang="en-US" sz="1300" dirty="0">
                <a:solidFill>
                  <a:srgbClr val="1A1A1A"/>
                </a:solidFill>
                <a:latin typeface="Open Sans" pitchFamily="34" charset="0"/>
                <a:ea typeface="Open Sans" pitchFamily="34" charset="-122"/>
                <a:cs typeface="Open Sans" pitchFamily="34" charset="-120"/>
              </a:rPr>
              <a:t>The SOC sees a flood of failed logins but cannot cheaply separate distributed credential-stuffing from ordinary user error.</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Solution: </a:t>
            </a:r>
            <a:pPr indent="0" marL="0">
              <a:spcAft>
                <a:spcPts val="800"/>
              </a:spcAft>
              <a:buNone/>
            </a:pPr>
            <a:r>
              <a:rPr lang="en-US" sz="1300" dirty="0">
                <a:solidFill>
                  <a:srgbClr val="1A1A1A"/>
                </a:solidFill>
                <a:latin typeface="Open Sans" pitchFamily="34" charset="0"/>
                <a:ea typeface="Open Sans" pitchFamily="34" charset="-122"/>
                <a:cs typeface="Open Sans" pitchFamily="34" charset="-120"/>
              </a:rPr>
              <a:t>A lightweight detection module scoring authentication events on velocity, device-fingerprint dispersion and failure-pattern features, evaluated on replayed and synthetic traffic in a VM testbed.</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Research question: </a:t>
            </a:r>
            <a:pPr indent="0" marL="0">
              <a:spcAft>
                <a:spcPts val="800"/>
              </a:spcAft>
              <a:buNone/>
            </a:pPr>
            <a:r>
              <a:rPr lang="en-US" sz="1300" i="1" dirty="0">
                <a:solidFill>
                  <a:srgbClr val="1A1A1A"/>
                </a:solidFill>
                <a:latin typeface="Open Sans" pitchFamily="34" charset="0"/>
                <a:ea typeface="Open Sans" pitchFamily="34" charset="-122"/>
                <a:cs typeface="Open Sans" pitchFamily="34" charset="-120"/>
              </a:rPr>
              <a:t>"To what extent can an unsupervised, feature-based model detect distributed credential-stuffing against a mobile-banking authentication endpoint at a false-positive rate low enough for SOC triage, compared with a rate-limiting baseline?"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What a Strong Project Looks Like - Exemplar B</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554480"/>
            <a:ext cx="7690104" cy="3154680"/>
          </a:xfrm>
          <a:prstGeom prst="rect">
            <a:avLst/>
          </a:prstGeom>
          <a:solidFill>
            <a:srgbClr val="C5D6E8"/>
          </a:solidFill>
          <a:ln/>
        </p:spPr>
        <p:txBody>
          <a:bodyPr wrap="square" lIns="152400" tIns="152400" rIns="152400" bIns="152400" rtlCol="0" anchor="t"/>
          <a:lstStyle/>
          <a:p>
            <a:pPr indent="0" marL="0">
              <a:spcAft>
                <a:spcPts val="800"/>
              </a:spcAft>
              <a:buNone/>
            </a:pPr>
            <a:r>
              <a:rPr lang="en-US" sz="1400" b="1" dirty="0">
                <a:solidFill>
                  <a:srgbClr val="1A1A1A"/>
                </a:solidFill>
                <a:latin typeface="Open Sans" pitchFamily="34" charset="0"/>
                <a:ea typeface="Open Sans" pitchFamily="34" charset="-122"/>
                <a:cs typeface="Open Sans" pitchFamily="34" charset="-120"/>
              </a:rPr>
              <a:t>Chathura | Pahana Retail (Windows and Active Directory, no hardening baseline)</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Problem: </a:t>
            </a:r>
            <a:pPr indent="0" marL="0">
              <a:spcAft>
                <a:spcPts val="800"/>
              </a:spcAft>
              <a:buNone/>
            </a:pPr>
            <a:r>
              <a:rPr lang="en-US" sz="1300" dirty="0">
                <a:solidFill>
                  <a:srgbClr val="1A1A1A"/>
                </a:solidFill>
                <a:latin typeface="Open Sans" pitchFamily="34" charset="0"/>
                <a:ea typeface="Open Sans" pitchFamily="34" charset="-122"/>
                <a:cs typeface="Open Sans" pitchFamily="34" charset="-120"/>
              </a:rPr>
              <a:t>A growing e-commerce business running Windows and Active Directory on out-of-the-box defaults with no hardening applied.</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Solution: </a:t>
            </a:r>
            <a:pPr indent="0" marL="0">
              <a:spcAft>
                <a:spcPts val="800"/>
              </a:spcAft>
              <a:buNone/>
            </a:pPr>
            <a:r>
              <a:rPr lang="en-US" sz="1300" dirty="0">
                <a:solidFill>
                  <a:srgbClr val="1A1A1A"/>
                </a:solidFill>
                <a:latin typeface="Open Sans" pitchFamily="34" charset="0"/>
                <a:ea typeface="Open Sans" pitchFamily="34" charset="-122"/>
                <a:cs typeface="Open Sans" pitchFamily="34" charset="-120"/>
              </a:rPr>
              <a:t>Apply the CIS Windows secure-configuration baseline (CIS Control 4, NIST CSF Protect) and measure change in exploitability against a fixed set of common attack techniques in a VM testbed, versus the unhardened default.</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Research question: </a:t>
            </a:r>
            <a:pPr indent="0" marL="0">
              <a:spcAft>
                <a:spcPts val="800"/>
              </a:spcAft>
              <a:buNone/>
            </a:pPr>
            <a:r>
              <a:rPr lang="en-US" sz="1300" i="1" dirty="0">
                <a:solidFill>
                  <a:srgbClr val="1A1A1A"/>
                </a:solidFill>
                <a:latin typeface="Open Sans" pitchFamily="34" charset="0"/>
                <a:ea typeface="Open Sans" pitchFamily="34" charset="-122"/>
                <a:cs typeface="Open Sans" pitchFamily="34" charset="-120"/>
              </a:rPr>
              <a:t>"To what extent does applying the CIS Windows secure-configuration baseline reduce the success rate of a defined set of common attack techniques in a small Active Directory testbed, compared with an out-of-the-box default configuration?"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AF0F6"/>
          </a:solidFill>
          <a:ln/>
        </p:spPr>
      </p:sp>
      <p:sp>
        <p:nvSpPr>
          <p:cNvPr id="3" name="Shape 1"/>
          <p:cNvSpPr/>
          <p:nvPr/>
        </p:nvSpPr>
        <p:spPr>
          <a:xfrm>
            <a:off x="731520" y="1097280"/>
            <a:ext cx="502920" cy="45720"/>
          </a:xfrm>
          <a:prstGeom prst="rect">
            <a:avLst/>
          </a:prstGeom>
          <a:solidFill>
            <a:srgbClr val="1B3A6B"/>
          </a:solidFill>
          <a:ln/>
        </p:spPr>
      </p:sp>
      <p:sp>
        <p:nvSpPr>
          <p:cNvPr id="4" name="Text 2"/>
          <p:cNvSpPr/>
          <p:nvPr/>
        </p:nvSpPr>
        <p:spPr>
          <a:xfrm>
            <a:off x="731520" y="1325880"/>
            <a:ext cx="7690104" cy="1517904"/>
          </a:xfrm>
          <a:prstGeom prst="rect">
            <a:avLst/>
          </a:prstGeom>
          <a:noFill/>
          <a:ln/>
        </p:spPr>
        <p:txBody>
          <a:bodyPr wrap="square" lIns="0" tIns="0" rIns="0" bIns="0" rtlCol="0" anchor="t"/>
          <a:lstStyle/>
          <a:p>
            <a:pPr indent="0" marL="0">
              <a:buNone/>
            </a:pPr>
            <a:r>
              <a:rPr lang="en-US" sz="3600" b="1" dirty="0">
                <a:solidFill>
                  <a:srgbClr val="1A1A1A"/>
                </a:solidFill>
                <a:latin typeface="Open Sans" pitchFamily="34" charset="0"/>
                <a:ea typeface="Open Sans" pitchFamily="34" charset="-122"/>
                <a:cs typeface="Open Sans" pitchFamily="34" charset="-120"/>
              </a:rPr>
              <a:t>01   Topic Selection</a:t>
            </a:r>
            <a:endParaRPr lang="en-US" sz="3600" dirty="0"/>
          </a:p>
        </p:txBody>
      </p:sp>
      <p:sp>
        <p:nvSpPr>
          <p:cNvPr id="5" name="Shape 3"/>
          <p:cNvSpPr/>
          <p:nvPr/>
        </p:nvSpPr>
        <p:spPr>
          <a:xfrm>
            <a:off x="731520" y="2788920"/>
            <a:ext cx="749808" cy="82296"/>
          </a:xfrm>
          <a:prstGeom prst="rect">
            <a:avLst/>
          </a:prstGeom>
          <a:solidFill>
            <a:srgbClr val="1B3A6B"/>
          </a:solidFill>
          <a:ln/>
        </p:spPr>
      </p:sp>
      <p:sp>
        <p:nvSpPr>
          <p:cNvPr id="6" name="Shape 4"/>
          <p:cNvSpPr/>
          <p:nvPr/>
        </p:nvSpPr>
        <p:spPr>
          <a:xfrm>
            <a:off x="1536192" y="2788920"/>
            <a:ext cx="384048" cy="82296"/>
          </a:xfrm>
          <a:prstGeom prst="rect">
            <a:avLst/>
          </a:prstGeom>
          <a:solidFill>
            <a:srgbClr val="E0701A"/>
          </a:solidFill>
          <a:ln/>
        </p:spPr>
      </p:sp>
      <p:pic>
        <p:nvPicPr>
          <p:cNvPr id="7" name="Image 0" descr="preencoded.png">    </p:cNvPr>
          <p:cNvPicPr>
            <a:picLocks noChangeAspect="1"/>
          </p:cNvPicPr>
          <p:nvPr/>
        </p:nvPicPr>
        <p:blipFill>
          <a:blip r:embed="rId1"/>
          <a:stretch>
            <a:fillRect/>
          </a:stretch>
        </p:blipFill>
        <p:spPr>
          <a:xfrm>
            <a:off x="5715863" y="3017520"/>
            <a:ext cx="2970937" cy="18745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The Four Solution Archetypes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278892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Detection/monitoring tool</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 identify threats or anomalies in system or network traffic</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Hardening/defence framework</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 reduce the attack surface or exploitability of a system through structured configuration controls</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Protocol/architecture design</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 design or evaluate a secure communication, authentication, or network architecture</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Security-testing methodology</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 a structured, repeatable approach to finding a defined class of vulnerability</a:t>
            </a:r>
            <a:endParaRPr lang="en-US" sz="1400" dirty="0"/>
          </a:p>
        </p:txBody>
      </p:sp>
      <p:sp>
        <p:nvSpPr>
          <p:cNvPr id="7" name="Text 5"/>
          <p:cNvSpPr/>
          <p:nvPr/>
        </p:nvSpPr>
        <p:spPr>
          <a:xfrm>
            <a:off x="731520" y="4297680"/>
            <a:ext cx="7690104" cy="384048"/>
          </a:xfrm>
          <a:prstGeom prst="rect">
            <a:avLst/>
          </a:prstGeom>
          <a:solidFill>
            <a:srgbClr val="E0701A"/>
          </a:solidFill>
          <a:ln/>
        </p:spPr>
        <p:txBody>
          <a:bodyPr wrap="square" lIns="101600" tIns="101600" rIns="101600" bIns="101600" rtlCol="0" anchor="ctr"/>
          <a:lstStyle/>
          <a:p>
            <a:pPr indent="0" marL="0">
              <a:buNone/>
            </a:pPr>
            <a:r>
              <a:rPr lang="en-US" sz="1300" b="1" dirty="0">
                <a:solidFill>
                  <a:srgbClr val="1A1A1A"/>
                </a:solidFill>
                <a:latin typeface="Open Sans" pitchFamily="34" charset="0"/>
                <a:ea typeface="Open Sans" pitchFamily="34" charset="-122"/>
                <a:cs typeface="Open Sans" pitchFamily="34" charset="-120"/>
              </a:rPr>
              <a:t>A project proposes a concrete solution. It is not a survey.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What Makes a Topic Level-6 Tractable?</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324612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Bounded:</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the scope is clearly delimited - one system, one threat class, one control. Not "all hospitals" or "the whole internet".</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Buildable in a testbed:</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the solution can be implemented and tested in a self-built virtualised environment. No access to a live third-party network is required or proposed.</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Evaluable against a baseline:</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there is a measurable before-and-after, or a comparison with an alternative. The question has an answer that is not simply yes or no.</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Achievable in the time available:</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the core proof-of-concept is completable within the project timeline.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Topic vs Research Question</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1691640"/>
          </a:xfrm>
          <a:prstGeom prst="rect">
            <a:avLst/>
          </a:prstGeom>
          <a:solidFill>
            <a:srgbClr val="C5D6E8"/>
          </a:solidFill>
          <a:ln/>
        </p:spPr>
        <p:txBody>
          <a:bodyPr wrap="square" lIns="127000" tIns="127000" rIns="127000" bIns="127000" rtlCol="0" anchor="t"/>
          <a:lstStyle/>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A topic names what you are interested in.</a:t>
            </a:r>
            <a:endParaRPr lang="en-US" sz="1300" dirty="0"/>
          </a:p>
          <a:p>
            <a:pPr indent="0" marL="0">
              <a:spcAft>
                <a:spcPts val="800"/>
              </a:spcAft>
              <a:buNone/>
            </a:pPr>
            <a:r>
              <a:rPr lang="en-US" sz="1300" dirty="0">
                <a:solidFill>
                  <a:srgbClr val="1A1A1A"/>
                </a:solidFill>
                <a:latin typeface="Open Sans" pitchFamily="34" charset="0"/>
                <a:ea typeface="Open Sans" pitchFamily="34" charset="-122"/>
                <a:cs typeface="Open Sans" pitchFamily="34" charset="-120"/>
              </a:rPr>
              <a:t>A research question commits you to a specific, walkable path through it - one you can prove you have completed.</a:t>
            </a:r>
            <a:endParaRPr lang="en-US" sz="1300" dirty="0"/>
          </a:p>
          <a:p>
            <a:pPr indent="0" marL="0">
              <a:spcAft>
                <a:spcPts val="800"/>
              </a:spcAft>
              <a:buNone/>
            </a:pPr>
            <a:r>
              <a:rPr lang="en-US" sz="1300" i="1" dirty="0">
                <a:solidFill>
                  <a:srgbClr val="1A1A1A"/>
                </a:solidFill>
                <a:latin typeface="Open Sans" pitchFamily="34" charset="0"/>
                <a:ea typeface="Open Sans" pitchFamily="34" charset="-122"/>
                <a:cs typeface="Open Sans" pitchFamily="34" charset="-120"/>
              </a:rPr>
              <a:t>"Intrusion detection" is a topic. A research question names the classifier, the threat, the environment, the metric, and the baseline.</a:t>
            </a:r>
            <a:endParaRPr lang="en-US" sz="1300" dirty="0"/>
          </a:p>
        </p:txBody>
      </p:sp>
      <p:sp>
        <p:nvSpPr>
          <p:cNvPr id="7" name="Shape 5"/>
          <p:cNvSpPr/>
          <p:nvPr/>
        </p:nvSpPr>
        <p:spPr>
          <a:xfrm>
            <a:off x="731520" y="3200400"/>
            <a:ext cx="7690104" cy="1325880"/>
          </a:xfrm>
          <a:prstGeom prst="rect">
            <a:avLst/>
          </a:prstGeom>
          <a:solidFill>
            <a:srgbClr val="F0EAE0"/>
          </a:solidFill>
          <a:ln/>
        </p:spPr>
      </p:sp>
      <p:sp>
        <p:nvSpPr>
          <p:cNvPr id="8" name="Shape 6"/>
          <p:cNvSpPr/>
          <p:nvPr/>
        </p:nvSpPr>
        <p:spPr>
          <a:xfrm>
            <a:off x="731520" y="3200400"/>
            <a:ext cx="82296" cy="1325880"/>
          </a:xfrm>
          <a:prstGeom prst="rect">
            <a:avLst/>
          </a:prstGeom>
          <a:solidFill>
            <a:srgbClr val="977F5A"/>
          </a:solidFill>
          <a:ln/>
        </p:spPr>
      </p:sp>
      <p:sp>
        <p:nvSpPr>
          <p:cNvPr id="9" name="Text 7"/>
          <p:cNvSpPr/>
          <p:nvPr/>
        </p:nvSpPr>
        <p:spPr>
          <a:xfrm>
            <a:off x="941832" y="3273552"/>
            <a:ext cx="7223760" cy="237744"/>
          </a:xfrm>
          <a:prstGeom prst="rect">
            <a:avLst/>
          </a:prstGeom>
          <a:noFill/>
          <a:ln/>
        </p:spPr>
        <p:txBody>
          <a:bodyPr wrap="square" lIns="0" tIns="0" rIns="0" bIns="0" rtlCol="0" anchor="t"/>
          <a:lstStyle/>
          <a:p>
            <a:pPr indent="0" marL="0">
              <a:buNone/>
            </a:pPr>
            <a:r>
              <a:rPr lang="en-US" sz="1400" b="1" dirty="0">
                <a:solidFill>
                  <a:srgbClr val="977F5A"/>
                </a:solidFill>
                <a:latin typeface="Open Sans" pitchFamily="34" charset="0"/>
                <a:ea typeface="Open Sans" pitchFamily="34" charset="-122"/>
                <a:cs typeface="Open Sans" pitchFamily="34" charset="-120"/>
              </a:rPr>
              <a:t>Analogy</a:t>
            </a:r>
            <a:endParaRPr lang="en-US" sz="1400" dirty="0"/>
          </a:p>
        </p:txBody>
      </p:sp>
      <p:sp>
        <p:nvSpPr>
          <p:cNvPr id="10" name="Text 8"/>
          <p:cNvSpPr/>
          <p:nvPr/>
        </p:nvSpPr>
        <p:spPr>
          <a:xfrm>
            <a:off x="941832" y="3529584"/>
            <a:ext cx="7223760" cy="923544"/>
          </a:xfrm>
          <a:prstGeom prst="rect">
            <a:avLst/>
          </a:prstGeom>
          <a:noFill/>
          <a:ln/>
        </p:spPr>
        <p:txBody>
          <a:bodyPr wrap="square" lIns="0" tIns="0" rIns="0" bIns="0" rtlCol="0" anchor="t"/>
          <a:lstStyle/>
          <a:p>
            <a:pPr indent="0" marL="0">
              <a:buNone/>
            </a:pPr>
            <a:r>
              <a:rPr lang="en-US" sz="1300" dirty="0">
                <a:solidFill>
                  <a:srgbClr val="1A1A1A"/>
                </a:solidFill>
                <a:latin typeface="Open Sans" pitchFamily="34" charset="0"/>
                <a:ea typeface="Open Sans" pitchFamily="34" charset="-122"/>
                <a:cs typeface="Open Sans" pitchFamily="34" charset="-120"/>
              </a:rPr>
              <a:t>A topic is a destination on a map. A research question is the specific, walkable route you commit to and can prove you completed. "Intrusion detection" is the destination. The strong question names the road, the distance, the terrain, and the arrival condition.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0701A"/>
          </a:solidFill>
          <a:ln/>
        </p:spPr>
      </p:sp>
      <p:sp>
        <p:nvSpPr>
          <p:cNvPr id="3" name="Shape 1"/>
          <p:cNvSpPr/>
          <p:nvPr/>
        </p:nvSpPr>
        <p:spPr>
          <a:xfrm>
            <a:off x="731520" y="502920"/>
            <a:ext cx="502920" cy="45720"/>
          </a:xfrm>
          <a:prstGeom prst="rect">
            <a:avLst/>
          </a:prstGeom>
          <a:solidFill>
            <a:srgbClr val="FFFFFF"/>
          </a:solidFill>
          <a:ln/>
        </p:spPr>
      </p:sp>
      <p:sp>
        <p:nvSpPr>
          <p:cNvPr id="4" name="Text 2"/>
          <p:cNvSpPr/>
          <p:nvPr/>
        </p:nvSpPr>
        <p:spPr>
          <a:xfrm>
            <a:off x="731520" y="621792"/>
            <a:ext cx="7690104" cy="548640"/>
          </a:xfrm>
          <a:prstGeom prst="rect">
            <a:avLst/>
          </a:prstGeom>
          <a:noFill/>
          <a:ln/>
        </p:spPr>
        <p:txBody>
          <a:bodyPr wrap="square" lIns="0" tIns="0" rIns="0" bIns="0" rtlCol="0" anchor="t"/>
          <a:lstStyle/>
          <a:p>
            <a:pPr indent="0" marL="0">
              <a:buNone/>
            </a:pPr>
            <a:r>
              <a:rPr lang="en-US" sz="2800" b="1" dirty="0">
                <a:solidFill>
                  <a:srgbClr val="FFFFFF"/>
                </a:solidFill>
                <a:latin typeface="Open Sans" pitchFamily="34" charset="0"/>
                <a:ea typeface="Open Sans" pitchFamily="34" charset="-122"/>
                <a:cs typeface="Open Sans" pitchFamily="34" charset="-120"/>
              </a:rPr>
              <a:t>Activity - Pick a Problem</a:t>
            </a:r>
            <a:endParaRPr lang="en-US" sz="2800" dirty="0"/>
          </a:p>
        </p:txBody>
      </p:sp>
      <p:sp>
        <p:nvSpPr>
          <p:cNvPr id="5" name="Text 3"/>
          <p:cNvSpPr/>
          <p:nvPr/>
        </p:nvSpPr>
        <p:spPr>
          <a:xfrm>
            <a:off x="731520" y="1298448"/>
            <a:ext cx="4572000" cy="3520440"/>
          </a:xfrm>
          <a:prstGeom prst="rect">
            <a:avLst/>
          </a:prstGeom>
          <a:solidFill>
            <a:srgbClr val="595959"/>
          </a:solidFill>
          <a:ln/>
        </p:spPr>
        <p:txBody>
          <a:bodyPr wrap="square" lIns="127000" tIns="127000" rIns="127000" bIns="127000" rtlCol="0" anchor="t"/>
          <a:lstStyle/>
          <a:p>
            <a:pPr indent="0" marL="0">
              <a:spcAft>
                <a:spcPts val="300"/>
              </a:spcAft>
              <a:buNone/>
            </a:pPr>
            <a:r>
              <a:rPr lang="en-US" sz="1500" b="1" dirty="0">
                <a:solidFill>
                  <a:srgbClr val="FFFFFF"/>
                </a:solidFill>
                <a:latin typeface="Open Sans" pitchFamily="34" charset="0"/>
                <a:ea typeface="Open Sans" pitchFamily="34" charset="-122"/>
                <a:cs typeface="Open Sans" pitchFamily="34" charset="-120"/>
              </a:rPr>
              <a:t>Time: 20 minutes</a:t>
            </a:r>
            <a:endParaRPr lang="en-US" sz="1200" dirty="0"/>
          </a:p>
          <a:p>
            <a:pPr indent="0" marL="0">
              <a:spcAft>
                <a:spcPts val="300"/>
              </a:spcAft>
              <a:buNone/>
            </a:pPr>
            <a:r>
              <a:rPr lang="en-US" sz="1300" b="1" dirty="0">
                <a:solidFill>
                  <a:srgbClr val="FFFFFF"/>
                </a:solidFill>
                <a:latin typeface="Open Sans" pitchFamily="34" charset="0"/>
                <a:ea typeface="Open Sans" pitchFamily="34" charset="-122"/>
                <a:cs typeface="Open Sans" pitchFamily="34" charset="-120"/>
              </a:rPr>
              <a:t>1.  Choose one starting context:</a:t>
            </a:r>
            <a:endParaRPr lang="en-US" sz="1200" dirty="0"/>
          </a:p>
          <a:p>
            <a:pPr marL="342900" indent="-342900">
              <a:spcAft>
                <a:spcPts val="300"/>
              </a:spcAft>
              <a:buSzPct val="100000"/>
              <a:buChar char="•"/>
            </a:pPr>
            <a:r>
              <a:rPr lang="en-US" sz="1300" dirty="0">
                <a:solidFill>
                  <a:srgbClr val="FFFFFF"/>
                </a:solidFill>
                <a:latin typeface="Open Sans" pitchFamily="34" charset="0"/>
                <a:ea typeface="Open Sans" pitchFamily="34" charset="-122"/>
                <a:cs typeface="Open Sans" pitchFamily="34" charset="-120"/>
              </a:rPr>
              <a:t>Sarala Pay (microfinance wallet) - SIM-swap account takeover</a:t>
            </a:r>
            <a:endParaRPr lang="en-US" sz="1200" dirty="0"/>
          </a:p>
          <a:p>
            <a:pPr marL="342900" indent="-342900">
              <a:spcAft>
                <a:spcPts val="300"/>
              </a:spcAft>
              <a:buSzPct val="100000"/>
              <a:buChar char="•"/>
            </a:pPr>
            <a:r>
              <a:rPr lang="en-US" sz="1300" dirty="0">
                <a:solidFill>
                  <a:srgbClr val="FFFFFF"/>
                </a:solidFill>
                <a:latin typeface="Open Sans" pitchFamily="34" charset="0"/>
                <a:ea typeface="Open Sans" pitchFamily="34" charset="-122"/>
                <a:cs typeface="Open Sans" pitchFamily="34" charset="-120"/>
              </a:rPr>
              <a:t>Arogya Family Clinics - flat, unsegmented clinic network</a:t>
            </a:r>
            <a:endParaRPr lang="en-US" sz="1200" dirty="0"/>
          </a:p>
          <a:p>
            <a:pPr marL="342900" indent="-342900">
              <a:spcAft>
                <a:spcPts val="300"/>
              </a:spcAft>
              <a:buSzPct val="100000"/>
              <a:buChar char="•"/>
            </a:pPr>
            <a:r>
              <a:rPr lang="en-US" sz="1300" dirty="0">
                <a:solidFill>
                  <a:srgbClr val="FFFFFF"/>
                </a:solidFill>
                <a:latin typeface="Open Sans" pitchFamily="34" charset="0"/>
                <a:ea typeface="Open Sans" pitchFamily="34" charset="-122"/>
                <a:cs typeface="Open Sans" pitchFamily="34" charset="-120"/>
              </a:rPr>
              <a:t>Yathra Logistics - public REST API</a:t>
            </a:r>
            <a:endParaRPr lang="en-US" sz="1200" dirty="0"/>
          </a:p>
          <a:p>
            <a:pPr marL="342900" indent="-342900">
              <a:spcAft>
                <a:spcPts val="300"/>
              </a:spcAft>
              <a:buSzPct val="100000"/>
              <a:buChar char="•"/>
            </a:pPr>
            <a:r>
              <a:rPr lang="en-US" sz="1300" dirty="0">
                <a:solidFill>
                  <a:srgbClr val="FFFFFF"/>
                </a:solidFill>
                <a:latin typeface="Open Sans" pitchFamily="34" charset="0"/>
                <a:ea typeface="Open Sans" pitchFamily="34" charset="-122"/>
                <a:cs typeface="Open Sans" pitchFamily="34" charset="-120"/>
              </a:rPr>
              <a:t>Campus BYOD wireless network</a:t>
            </a:r>
            <a:endParaRPr lang="en-US" sz="1200" dirty="0"/>
          </a:p>
          <a:p>
            <a:pPr indent="0" marL="0">
              <a:spcAft>
                <a:spcPts val="300"/>
              </a:spcAft>
              <a:buNone/>
            </a:pPr>
            <a:r>
              <a:rPr lang="en-US" sz="1300" b="1" dirty="0">
                <a:solidFill>
                  <a:srgbClr val="FFFFFF"/>
                </a:solidFill>
                <a:latin typeface="Open Sans" pitchFamily="34" charset="0"/>
                <a:ea typeface="Open Sans" pitchFamily="34" charset="-122"/>
                <a:cs typeface="Open Sans" pitchFamily="34" charset="-120"/>
              </a:rPr>
              <a:t>2.  Pick an archetype</a:t>
            </a:r>
            <a:endParaRPr lang="en-US" sz="1200" dirty="0"/>
          </a:p>
          <a:p>
            <a:pPr indent="0" marL="0">
              <a:spcAft>
                <a:spcPts val="300"/>
              </a:spcAft>
              <a:buNone/>
            </a:pPr>
            <a:r>
              <a:rPr lang="en-US" sz="1200" i="1" dirty="0">
                <a:solidFill>
                  <a:srgbClr val="FFFFFF"/>
                </a:solidFill>
                <a:latin typeface="Open Sans" pitchFamily="34" charset="0"/>
                <a:ea typeface="Open Sans" pitchFamily="34" charset="-122"/>
                <a:cs typeface="Open Sans" pitchFamily="34" charset="-120"/>
              </a:rPr>
              <a:t>     Detection  |  Hardening  |  Protocol/architecture  |  Methodology</a:t>
            </a:r>
            <a:endParaRPr lang="en-US" sz="1200" dirty="0"/>
          </a:p>
          <a:p>
            <a:pPr indent="0" marL="0">
              <a:spcAft>
                <a:spcPts val="300"/>
              </a:spcAft>
              <a:buNone/>
            </a:pPr>
            <a:r>
              <a:rPr lang="en-US" sz="1300" b="1" dirty="0">
                <a:solidFill>
                  <a:srgbClr val="FFFFFF"/>
                </a:solidFill>
                <a:latin typeface="Open Sans" pitchFamily="34" charset="0"/>
                <a:ea typeface="Open Sans" pitchFamily="34" charset="-122"/>
                <a:cs typeface="Open Sans" pitchFamily="34" charset="-120"/>
              </a:rPr>
              <a:t>3.  Draft a first-cut research question</a:t>
            </a:r>
            <a:endParaRPr lang="en-US" sz="1200" dirty="0"/>
          </a:p>
          <a:p>
            <a:pPr indent="0" marL="0">
              <a:spcAft>
                <a:spcPts val="300"/>
              </a:spcAft>
              <a:buNone/>
            </a:pPr>
            <a:r>
              <a:rPr lang="en-US" sz="1200" i="1" dirty="0">
                <a:solidFill>
                  <a:srgbClr val="FFFFFF"/>
                </a:solidFill>
                <a:latin typeface="Open Sans" pitchFamily="34" charset="0"/>
                <a:ea typeface="Open Sans" pitchFamily="34" charset="-122"/>
                <a:cs typeface="Open Sans" pitchFamily="34" charset="-120"/>
              </a:rPr>
              <a:t>It will be weak. That is the point. Week 2 is the question clinic.</a:t>
            </a:r>
            <a:endParaRPr lang="en-US" sz="1200" dirty="0"/>
          </a:p>
        </p:txBody>
      </p:sp>
      <p:pic>
        <p:nvPicPr>
          <p:cNvPr id="6" name="Image 0" descr="preencoded.png">    </p:cNvPr>
          <p:cNvPicPr>
            <a:picLocks noChangeAspect="1"/>
          </p:cNvPicPr>
          <p:nvPr/>
        </p:nvPicPr>
        <p:blipFill>
          <a:blip r:embed="rId1"/>
          <a:stretch>
            <a:fillRect/>
          </a:stretch>
        </p:blipFill>
        <p:spPr>
          <a:xfrm>
            <a:off x="5844354" y="1298448"/>
            <a:ext cx="2575932" cy="35204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AF0F6"/>
          </a:solidFill>
          <a:ln/>
        </p:spPr>
      </p:sp>
      <p:sp>
        <p:nvSpPr>
          <p:cNvPr id="3" name="Shape 1"/>
          <p:cNvSpPr/>
          <p:nvPr/>
        </p:nvSpPr>
        <p:spPr>
          <a:xfrm>
            <a:off x="731520" y="1097280"/>
            <a:ext cx="502920" cy="45720"/>
          </a:xfrm>
          <a:prstGeom prst="rect">
            <a:avLst/>
          </a:prstGeom>
          <a:solidFill>
            <a:srgbClr val="1B3A6B"/>
          </a:solidFill>
          <a:ln/>
        </p:spPr>
      </p:sp>
      <p:sp>
        <p:nvSpPr>
          <p:cNvPr id="4" name="Text 2"/>
          <p:cNvSpPr/>
          <p:nvPr/>
        </p:nvSpPr>
        <p:spPr>
          <a:xfrm>
            <a:off x="731520" y="1325880"/>
            <a:ext cx="7690104" cy="1517904"/>
          </a:xfrm>
          <a:prstGeom prst="rect">
            <a:avLst/>
          </a:prstGeom>
          <a:noFill/>
          <a:ln/>
        </p:spPr>
        <p:txBody>
          <a:bodyPr wrap="square" lIns="0" tIns="0" rIns="0" bIns="0" rtlCol="0" anchor="t"/>
          <a:lstStyle/>
          <a:p>
            <a:pPr indent="0" marL="0">
              <a:buNone/>
            </a:pPr>
            <a:r>
              <a:rPr lang="en-US" sz="3600" b="1" dirty="0">
                <a:solidFill>
                  <a:srgbClr val="1A1A1A"/>
                </a:solidFill>
                <a:latin typeface="Open Sans" pitchFamily="34" charset="0"/>
                <a:ea typeface="Open Sans" pitchFamily="34" charset="-122"/>
                <a:cs typeface="Open Sans" pitchFamily="34" charset="-120"/>
              </a:rPr>
              <a:t>02   From Topic to</a:t>
            </a:r>
            <a:endParaRPr lang="en-US" sz="3600" dirty="0"/>
          </a:p>
          <a:p>
            <a:pPr indent="0" marL="0">
              <a:buNone/>
            </a:pPr>
            <a:r>
              <a:rPr lang="en-US" sz="3600" b="1" dirty="0">
                <a:solidFill>
                  <a:srgbClr val="1A1A1A"/>
                </a:solidFill>
                <a:latin typeface="Open Sans" pitchFamily="34" charset="0"/>
                <a:ea typeface="Open Sans" pitchFamily="34" charset="-122"/>
                <a:cs typeface="Open Sans" pitchFamily="34" charset="-120"/>
              </a:rPr>
              <a:t>Research Question</a:t>
            </a:r>
            <a:endParaRPr lang="en-US" sz="3600" dirty="0"/>
          </a:p>
        </p:txBody>
      </p:sp>
      <p:sp>
        <p:nvSpPr>
          <p:cNvPr id="5" name="Shape 3"/>
          <p:cNvSpPr/>
          <p:nvPr/>
        </p:nvSpPr>
        <p:spPr>
          <a:xfrm>
            <a:off x="731520" y="2788920"/>
            <a:ext cx="749808" cy="82296"/>
          </a:xfrm>
          <a:prstGeom prst="rect">
            <a:avLst/>
          </a:prstGeom>
          <a:solidFill>
            <a:srgbClr val="1B3A6B"/>
          </a:solidFill>
          <a:ln/>
        </p:spPr>
      </p:sp>
      <p:sp>
        <p:nvSpPr>
          <p:cNvPr id="6" name="Shape 4"/>
          <p:cNvSpPr/>
          <p:nvPr/>
        </p:nvSpPr>
        <p:spPr>
          <a:xfrm>
            <a:off x="1536192" y="2788920"/>
            <a:ext cx="384048" cy="82296"/>
          </a:xfrm>
          <a:prstGeom prst="rect">
            <a:avLst/>
          </a:prstGeom>
          <a:solidFill>
            <a:srgbClr val="E0701A"/>
          </a:solidFill>
          <a:ln/>
        </p:spPr>
      </p:sp>
      <p:pic>
        <p:nvPicPr>
          <p:cNvPr id="7" name="Image 0" descr="preencoded.png">    </p:cNvPr>
          <p:cNvPicPr>
            <a:picLocks noChangeAspect="1"/>
          </p:cNvPicPr>
          <p:nvPr/>
        </p:nvPicPr>
        <p:blipFill>
          <a:blip r:embed="rId1"/>
          <a:stretch>
            <a:fillRect/>
          </a:stretch>
        </p:blipFill>
        <p:spPr>
          <a:xfrm>
            <a:off x="5715863" y="3017520"/>
            <a:ext cx="2970937" cy="18745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A Topic Is Not a Question</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3383280"/>
          </a:xfrm>
          <a:prstGeom prst="rect">
            <a:avLst/>
          </a:prstGeom>
          <a:solidFill>
            <a:srgbClr val="C5D6E8"/>
          </a:solidFill>
          <a:ln/>
        </p:spPr>
        <p:txBody>
          <a:bodyPr wrap="square" lIns="152400" tIns="152400" rIns="152400" bIns="152400" rtlCol="0" anchor="t"/>
          <a:lstStyle/>
          <a:p>
            <a:pPr indent="0" marL="0">
              <a:spcAft>
                <a:spcPts val="400"/>
              </a:spcAft>
              <a:buNone/>
            </a:pPr>
            <a:r>
              <a:rPr lang="en-US" sz="1400" dirty="0">
                <a:solidFill>
                  <a:srgbClr val="1A1A1A"/>
                </a:solidFill>
                <a:latin typeface="Open Sans" pitchFamily="34" charset="0"/>
                <a:ea typeface="Open Sans" pitchFamily="34" charset="-122"/>
                <a:cs typeface="Open Sans" pitchFamily="34" charset="-120"/>
              </a:rPr>
              <a:t>A topic states what you are interested in. A research question defines what you will measure, build, and prove.</a:t>
            </a:r>
            <a:endParaRPr lang="en-US" sz="1300" dirty="0"/>
          </a:p>
          <a:p>
            <a:pPr indent="0" marL="0">
              <a:spcAft>
                <a:spcPts val="400"/>
              </a:spcAft>
              <a:buNone/>
            </a:pPr>
            <a:r>
              <a:rPr lang="en-US" sz="1300" b="1" dirty="0">
                <a:solidFill>
                  <a:srgbClr val="1A1A1A"/>
                </a:solidFill>
                <a:latin typeface="Open Sans" pitchFamily="34" charset="0"/>
                <a:ea typeface="Open Sans" pitchFamily="34" charset="-122"/>
                <a:cs typeface="Open Sans" pitchFamily="34" charset="-120"/>
              </a:rPr>
              <a:t>Kavindu's topic: intrusion detection. His first draft:</a:t>
            </a:r>
            <a:endParaRPr lang="en-US" sz="1300" dirty="0"/>
          </a:p>
          <a:p>
            <a:pPr indent="0" marL="0">
              <a:spcAft>
                <a:spcPts val="400"/>
              </a:spcAft>
              <a:buNone/>
            </a:pPr>
            <a:r>
              <a:rPr lang="en-US" sz="1400" b="1" i="1" dirty="0">
                <a:solidFill>
                  <a:srgbClr val="1A1A1A"/>
                </a:solidFill>
                <a:latin typeface="Open Sans" pitchFamily="34" charset="0"/>
                <a:ea typeface="Open Sans" pitchFamily="34" charset="-122"/>
                <a:cs typeface="Open Sans" pitchFamily="34" charset="-120"/>
              </a:rPr>
              <a:t>"How can machine learning be used to improve intrusion detection?"</a:t>
            </a:r>
            <a:endParaRPr lang="en-US" sz="1300" dirty="0"/>
          </a:p>
          <a:p>
            <a:pPr indent="0" marL="0">
              <a:spcAft>
                <a:spcPts val="400"/>
              </a:spcAft>
              <a:buNone/>
            </a:pPr>
            <a:r>
              <a:rPr lang="en-US" sz="1300" b="1" dirty="0">
                <a:solidFill>
                  <a:srgbClr val="1A1A1A"/>
                </a:solidFill>
                <a:latin typeface="Open Sans" pitchFamily="34" charset="0"/>
                <a:ea typeface="Open Sans" pitchFamily="34" charset="-122"/>
                <a:cs typeface="Open Sans" pitchFamily="34" charset="-120"/>
              </a:rPr>
              <a:t>Why it fails Criterion 1:</a:t>
            </a:r>
            <a:endParaRPr lang="en-US" sz="1300" dirty="0"/>
          </a:p>
          <a:p>
            <a:pPr marL="342900" indent="-342900">
              <a:spcAft>
                <a:spcPts val="400"/>
              </a:spcAft>
              <a:buSzPct val="100000"/>
              <a:buChar char="•"/>
            </a:pPr>
            <a:r>
              <a:rPr lang="en-US" sz="1300" dirty="0">
                <a:solidFill>
                  <a:srgbClr val="1A1A1A"/>
                </a:solidFill>
                <a:latin typeface="Open Sans" pitchFamily="34" charset="0"/>
                <a:ea typeface="Open Sans" pitchFamily="34" charset="-122"/>
                <a:cs typeface="Open Sans" pitchFamily="34" charset="-120"/>
              </a:rPr>
              <a:t>No technique named</a:t>
            </a:r>
            <a:endParaRPr lang="en-US" sz="1300" dirty="0"/>
          </a:p>
          <a:p>
            <a:pPr marL="342900" indent="-342900">
              <a:spcAft>
                <a:spcPts val="400"/>
              </a:spcAft>
              <a:buSzPct val="100000"/>
              <a:buChar char="•"/>
            </a:pPr>
            <a:r>
              <a:rPr lang="en-US" sz="1300" dirty="0">
                <a:solidFill>
                  <a:srgbClr val="1A1A1A"/>
                </a:solidFill>
                <a:latin typeface="Open Sans" pitchFamily="34" charset="0"/>
                <a:ea typeface="Open Sans" pitchFamily="34" charset="-122"/>
                <a:cs typeface="Open Sans" pitchFamily="34" charset="-120"/>
              </a:rPr>
              <a:t>No threat named</a:t>
            </a:r>
            <a:endParaRPr lang="en-US" sz="1300" dirty="0"/>
          </a:p>
          <a:p>
            <a:pPr marL="342900" indent="-342900">
              <a:spcAft>
                <a:spcPts val="400"/>
              </a:spcAft>
              <a:buSzPct val="100000"/>
              <a:buChar char="•"/>
            </a:pPr>
            <a:r>
              <a:rPr lang="en-US" sz="1300" dirty="0">
                <a:solidFill>
                  <a:srgbClr val="1A1A1A"/>
                </a:solidFill>
                <a:latin typeface="Open Sans" pitchFamily="34" charset="0"/>
                <a:ea typeface="Open Sans" pitchFamily="34" charset="-122"/>
                <a:cs typeface="Open Sans" pitchFamily="34" charset="-120"/>
              </a:rPr>
              <a:t>No environment specified</a:t>
            </a:r>
            <a:endParaRPr lang="en-US" sz="1300" dirty="0"/>
          </a:p>
          <a:p>
            <a:pPr marL="342900" indent="-342900">
              <a:spcAft>
                <a:spcPts val="400"/>
              </a:spcAft>
              <a:buSzPct val="100000"/>
              <a:buChar char="•"/>
            </a:pPr>
            <a:r>
              <a:rPr lang="en-US" sz="1300" dirty="0">
                <a:solidFill>
                  <a:srgbClr val="1A1A1A"/>
                </a:solidFill>
                <a:latin typeface="Open Sans" pitchFamily="34" charset="0"/>
                <a:ea typeface="Open Sans" pitchFamily="34" charset="-122"/>
                <a:cs typeface="Open Sans" pitchFamily="34" charset="-120"/>
              </a:rPr>
              <a:t>No metric and no baseline</a:t>
            </a:r>
            <a:endParaRPr lang="en-US" sz="1300" dirty="0"/>
          </a:p>
          <a:p>
            <a:pPr indent="0" marL="0">
              <a:spcAft>
                <a:spcPts val="400"/>
              </a:spcAft>
              <a:buNone/>
            </a:pPr>
            <a:r>
              <a:rPr lang="en-US" sz="1300" i="1" dirty="0">
                <a:solidFill>
                  <a:srgbClr val="1A1A1A"/>
                </a:solidFill>
                <a:latin typeface="Open Sans" pitchFamily="34" charset="0"/>
                <a:ea typeface="Open Sans" pitchFamily="34" charset="-122"/>
                <a:cs typeface="Open Sans" pitchFamily="34" charset="-120"/>
              </a:rPr>
              <a:t>A topic wearing a question mark.</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An Achievable Research Question - Four Properties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324612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Specific:</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names the technique, the threat class, and the system or protocol. Not "machine learning" but "a tree-based classifier trained on flow-level features".</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Technically grounded:</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draws on real domain mechanisms. The question makes sense to a security practitioner who has never taken a research methods course.</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Achievable at Level 6:</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evaluable in a self-built virtualised testbed within the project timeline. Nothing requires access to a live production system.</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Evaluable:</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includes a measurable outcome, a comparison or baseline, and a defined environment. Not answerable by a simple yes or no.</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Aims vs Objectives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3383280"/>
          </a:xfrm>
          <a:prstGeom prst="rect">
            <a:avLst/>
          </a:prstGeom>
          <a:solidFill>
            <a:srgbClr val="C5D6E8"/>
          </a:solidFill>
          <a:ln/>
        </p:spPr>
        <p:txBody>
          <a:bodyPr wrap="square" lIns="152400" tIns="152400" rIns="152400" bIns="152400" rtlCol="0" anchor="t"/>
          <a:lstStyle/>
          <a:p>
            <a:pPr indent="0" marL="0">
              <a:spcAft>
                <a:spcPts val="400"/>
              </a:spcAft>
              <a:buNone/>
            </a:pPr>
            <a:r>
              <a:rPr lang="en-US" sz="1400" dirty="0">
                <a:solidFill>
                  <a:srgbClr val="1A1A1A"/>
                </a:solidFill>
                <a:latin typeface="Open Sans" pitchFamily="34" charset="0"/>
                <a:ea typeface="Open Sans" pitchFamily="34" charset="-122"/>
                <a:cs typeface="Open Sans" pitchFamily="34" charset="-120"/>
              </a:rPr>
              <a:t>An aim is the single, overarching outcome the project is working toward.</a:t>
            </a:r>
            <a:endParaRPr lang="en-US" sz="1300" dirty="0"/>
          </a:p>
          <a:p>
            <a:pPr indent="0" marL="0">
              <a:spcAft>
                <a:spcPts val="400"/>
              </a:spcAft>
              <a:buNone/>
            </a:pPr>
            <a:r>
              <a:rPr lang="en-US" sz="1400" dirty="0">
                <a:solidFill>
                  <a:srgbClr val="1A1A1A"/>
                </a:solidFill>
                <a:latin typeface="Open Sans" pitchFamily="34" charset="0"/>
                <a:ea typeface="Open Sans" pitchFamily="34" charset="-122"/>
                <a:cs typeface="Open Sans" pitchFamily="34" charset="-120"/>
              </a:rPr>
              <a:t>Objectives are the differentiated, measurable steps that together deliver the aim.</a:t>
            </a:r>
            <a:endParaRPr lang="en-US" sz="1300" dirty="0"/>
          </a:p>
          <a:p>
            <a:pPr indent="0" marL="0">
              <a:spcAft>
                <a:spcPts val="400"/>
              </a:spcAft>
              <a:buNone/>
            </a:pPr>
            <a:r>
              <a:rPr lang="en-US" sz="1300" b="1" dirty="0">
                <a:solidFill>
                  <a:srgbClr val="1A1A1A"/>
                </a:solidFill>
                <a:latin typeface="Open Sans" pitchFamily="34" charset="0"/>
                <a:ea typeface="Open Sans" pitchFamily="34" charset="-122"/>
                <a:cs typeface="Open Sans" pitchFamily="34" charset="-120"/>
              </a:rPr>
              <a:t>Common error: </a:t>
            </a:r>
            <a:pPr indent="0" marL="0">
              <a:spcAft>
                <a:spcPts val="400"/>
              </a:spcAft>
              <a:buNone/>
            </a:pPr>
            <a:r>
              <a:rPr lang="en-US" sz="1300" dirty="0">
                <a:solidFill>
                  <a:srgbClr val="1A1A1A"/>
                </a:solidFill>
                <a:latin typeface="Open Sans" pitchFamily="34" charset="0"/>
                <a:ea typeface="Open Sans" pitchFamily="34" charset="-122"/>
                <a:cs typeface="Open Sans" pitchFamily="34" charset="-120"/>
              </a:rPr>
              <a:t>listing three identical sentences all phrased as "to investigate" or "to examine". That is one aim stated three times.</a:t>
            </a:r>
            <a:endParaRPr lang="en-US" sz="1300" dirty="0"/>
          </a:p>
          <a:p>
            <a:pPr indent="0" marL="0">
              <a:spcAft>
                <a:spcPts val="400"/>
              </a:spcAft>
              <a:buNone/>
            </a:pPr>
            <a:r>
              <a:rPr lang="en-US" sz="1300" b="1" dirty="0">
                <a:solidFill>
                  <a:srgbClr val="1A1A1A"/>
                </a:solidFill>
                <a:latin typeface="Open Sans" pitchFamily="34" charset="0"/>
                <a:ea typeface="Open Sans" pitchFamily="34" charset="-122"/>
                <a:cs typeface="Open Sans" pitchFamily="34" charset="-120"/>
              </a:rPr>
              <a:t>Example aim (Chathura / Pahana Retail):</a:t>
            </a:r>
            <a:endParaRPr lang="en-US" sz="1300" dirty="0"/>
          </a:p>
          <a:p>
            <a:pPr indent="0" marL="0">
              <a:spcAft>
                <a:spcPts val="400"/>
              </a:spcAft>
              <a:buNone/>
            </a:pPr>
            <a:r>
              <a:rPr lang="en-US" sz="1300" i="1" dirty="0">
                <a:solidFill>
                  <a:srgbClr val="1A1A1A"/>
                </a:solidFill>
                <a:latin typeface="Open Sans" pitchFamily="34" charset="0"/>
                <a:ea typeface="Open Sans" pitchFamily="34" charset="-122"/>
                <a:cs typeface="Open Sans" pitchFamily="34" charset="-120"/>
              </a:rPr>
              <a:t>To evaluate whether applying the CIS baseline reduces the exploitability of a Windows SME testbed.</a:t>
            </a:r>
            <a:endParaRPr lang="en-US" sz="1300" dirty="0"/>
          </a:p>
          <a:p>
            <a:pPr indent="0" marL="0">
              <a:spcAft>
                <a:spcPts val="400"/>
              </a:spcAft>
              <a:buNone/>
            </a:pPr>
            <a:r>
              <a:rPr lang="en-US" sz="1300" b="1" dirty="0">
                <a:solidFill>
                  <a:srgbClr val="1A1A1A"/>
                </a:solidFill>
                <a:latin typeface="Open Sans" pitchFamily="34" charset="0"/>
                <a:ea typeface="Open Sans" pitchFamily="34" charset="-122"/>
                <a:cs typeface="Open Sans" pitchFamily="34" charset="-120"/>
              </a:rPr>
              <a:t>Example objectives:</a:t>
            </a:r>
            <a:endParaRPr lang="en-US" sz="1300" dirty="0"/>
          </a:p>
          <a:p>
            <a:pPr marL="342900" indent="-342900">
              <a:spcAft>
                <a:spcPts val="400"/>
              </a:spcAft>
              <a:buSzPct val="100000"/>
              <a:buChar char="•"/>
            </a:pPr>
            <a:r>
              <a:rPr lang="en-US" sz="1300" dirty="0">
                <a:solidFill>
                  <a:srgbClr val="1A1A1A"/>
                </a:solidFill>
                <a:latin typeface="Open Sans" pitchFamily="34" charset="0"/>
                <a:ea typeface="Open Sans" pitchFamily="34" charset="-122"/>
                <a:cs typeface="Open Sans" pitchFamily="34" charset="-120"/>
              </a:rPr>
              <a:t>Establish an unhardened baseline testbed and document its attack surface</a:t>
            </a:r>
            <a:endParaRPr lang="en-US" sz="1300" dirty="0"/>
          </a:p>
          <a:p>
            <a:pPr marL="342900" indent="-342900">
              <a:spcAft>
                <a:spcPts val="400"/>
              </a:spcAft>
              <a:buSzPct val="100000"/>
              <a:buChar char="•"/>
            </a:pPr>
            <a:r>
              <a:rPr lang="en-US" sz="1300" dirty="0">
                <a:solidFill>
                  <a:srgbClr val="1A1A1A"/>
                </a:solidFill>
                <a:latin typeface="Open Sans" pitchFamily="34" charset="0"/>
                <a:ea typeface="Open Sans" pitchFamily="34" charset="-122"/>
                <a:cs typeface="Open Sans" pitchFamily="34" charset="-120"/>
              </a:rPr>
              <a:t>Apply the CIS Windows configuration baseline to the testbed</a:t>
            </a:r>
            <a:endParaRPr lang="en-US" sz="1300" dirty="0"/>
          </a:p>
          <a:p>
            <a:pPr marL="342900" indent="-342900">
              <a:spcAft>
                <a:spcPts val="400"/>
              </a:spcAft>
              <a:buSzPct val="100000"/>
              <a:buChar char="•"/>
            </a:pPr>
            <a:r>
              <a:rPr lang="en-US" sz="1300" dirty="0">
                <a:solidFill>
                  <a:srgbClr val="1A1A1A"/>
                </a:solidFill>
                <a:latin typeface="Open Sans" pitchFamily="34" charset="0"/>
                <a:ea typeface="Open Sans" pitchFamily="34" charset="-122"/>
                <a:cs typeface="Open Sans" pitchFamily="34" charset="-120"/>
              </a:rPr>
              <a:t>Measure the change in attack-technique success rate against the hardened versus baseline state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Transformation 1 - Weak vs Strong (Kavindu)</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411480" y="1371600"/>
            <a:ext cx="4133088" cy="402336"/>
          </a:xfrm>
          <a:prstGeom prst="rect">
            <a:avLst/>
          </a:prstGeom>
          <a:solidFill>
            <a:srgbClr val="B11E2A"/>
          </a:solidFill>
          <a:ln/>
        </p:spPr>
        <p:txBody>
          <a:bodyPr wrap="square" lIns="76200" tIns="76200" rIns="76200" bIns="7620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Weak</a:t>
            </a:r>
            <a:endParaRPr lang="en-US" sz="1500" dirty="0"/>
          </a:p>
        </p:txBody>
      </p:sp>
      <p:sp>
        <p:nvSpPr>
          <p:cNvPr id="7" name="Text 5"/>
          <p:cNvSpPr/>
          <p:nvPr/>
        </p:nvSpPr>
        <p:spPr>
          <a:xfrm>
            <a:off x="4645152" y="1371600"/>
            <a:ext cx="4133088" cy="402336"/>
          </a:xfrm>
          <a:prstGeom prst="rect">
            <a:avLst/>
          </a:prstGeom>
          <a:solidFill>
            <a:srgbClr val="2E9E5C"/>
          </a:solidFill>
          <a:ln/>
        </p:spPr>
        <p:txBody>
          <a:bodyPr wrap="square" lIns="76200" tIns="76200" rIns="76200" bIns="7620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Strong</a:t>
            </a:r>
            <a:endParaRPr lang="en-US" sz="1500" dirty="0"/>
          </a:p>
        </p:txBody>
      </p:sp>
      <p:sp>
        <p:nvSpPr>
          <p:cNvPr id="8" name="Text 6"/>
          <p:cNvSpPr/>
          <p:nvPr/>
        </p:nvSpPr>
        <p:spPr>
          <a:xfrm>
            <a:off x="411480" y="1810512"/>
            <a:ext cx="4133088" cy="2926080"/>
          </a:xfrm>
          <a:prstGeom prst="rect">
            <a:avLst/>
          </a:prstGeom>
          <a:noFill/>
          <a:ln w="9525">
            <a:solidFill>
              <a:srgbClr val="CCCCCC"/>
            </a:solidFill>
          </a:ln>
        </p:spPr>
        <p:txBody>
          <a:bodyPr wrap="square" lIns="101600" tIns="101600" rIns="101600" bIns="101600" rtlCol="0" anchor="t"/>
          <a:lstStyle/>
          <a:p>
            <a:pPr indent="0" marL="0">
              <a:spcAft>
                <a:spcPts val="400"/>
              </a:spcAft>
              <a:buNone/>
            </a:pPr>
            <a:r>
              <a:rPr lang="en-US" sz="1300" b="1" i="1" dirty="0">
                <a:solidFill>
                  <a:srgbClr val="1A1A1A"/>
                </a:solidFill>
                <a:latin typeface="Open Sans" pitchFamily="34" charset="0"/>
                <a:ea typeface="Open Sans" pitchFamily="34" charset="-122"/>
                <a:cs typeface="Open Sans" pitchFamily="34" charset="-120"/>
              </a:rPr>
              <a:t>"How can machine learning be used to improve intrusion detection?"</a:t>
            </a:r>
            <a:endParaRPr lang="en-US" sz="1300" dirty="0"/>
          </a:p>
          <a:p>
            <a:pPr indent="0" marL="0">
              <a:spcAft>
                <a:spcPts val="400"/>
              </a:spcAft>
              <a:buNone/>
            </a:pPr>
            <a:r>
              <a:rPr lang="en-US" sz="1300" b="1" dirty="0">
                <a:solidFill>
                  <a:srgbClr val="1A1A1A"/>
                </a:solidFill>
                <a:latin typeface="Open Sans" pitchFamily="34" charset="0"/>
                <a:ea typeface="Open Sans" pitchFamily="34" charset="-122"/>
                <a:cs typeface="Open Sans" pitchFamily="34" charset="-120"/>
              </a:rPr>
              <a:t>Why it fails:</a:t>
            </a:r>
            <a:endParaRPr lang="en-US" sz="1300" dirty="0"/>
          </a:p>
          <a:p>
            <a:pPr marL="342900" indent="-342900">
              <a:spcAft>
                <a:spcPts val="400"/>
              </a:spcAft>
              <a:buSzPct val="100000"/>
              <a:buChar char="•"/>
            </a:pPr>
            <a:r>
              <a:rPr lang="en-US" sz="1300" dirty="0">
                <a:solidFill>
                  <a:srgbClr val="1A1A1A"/>
                </a:solidFill>
                <a:latin typeface="Open Sans" pitchFamily="34" charset="0"/>
                <a:ea typeface="Open Sans" pitchFamily="34" charset="-122"/>
                <a:cs typeface="Open Sans" pitchFamily="34" charset="-120"/>
              </a:rPr>
              <a:t>No technique named</a:t>
            </a:r>
            <a:endParaRPr lang="en-US" sz="1300" dirty="0"/>
          </a:p>
          <a:p>
            <a:pPr marL="342900" indent="-342900">
              <a:spcAft>
                <a:spcPts val="400"/>
              </a:spcAft>
              <a:buSzPct val="100000"/>
              <a:buChar char="•"/>
            </a:pPr>
            <a:r>
              <a:rPr lang="en-US" sz="1300" dirty="0">
                <a:solidFill>
                  <a:srgbClr val="1A1A1A"/>
                </a:solidFill>
                <a:latin typeface="Open Sans" pitchFamily="34" charset="0"/>
                <a:ea typeface="Open Sans" pitchFamily="34" charset="-122"/>
                <a:cs typeface="Open Sans" pitchFamily="34" charset="-120"/>
              </a:rPr>
              <a:t>No threat named</a:t>
            </a:r>
            <a:endParaRPr lang="en-US" sz="1300" dirty="0"/>
          </a:p>
          <a:p>
            <a:pPr marL="342900" indent="-342900">
              <a:spcAft>
                <a:spcPts val="400"/>
              </a:spcAft>
              <a:buSzPct val="100000"/>
              <a:buChar char="•"/>
            </a:pPr>
            <a:r>
              <a:rPr lang="en-US" sz="1300" dirty="0">
                <a:solidFill>
                  <a:srgbClr val="1A1A1A"/>
                </a:solidFill>
                <a:latin typeface="Open Sans" pitchFamily="34" charset="0"/>
                <a:ea typeface="Open Sans" pitchFamily="34" charset="-122"/>
                <a:cs typeface="Open Sans" pitchFamily="34" charset="-120"/>
              </a:rPr>
              <a:t>No environment</a:t>
            </a:r>
            <a:endParaRPr lang="en-US" sz="1300" dirty="0"/>
          </a:p>
          <a:p>
            <a:pPr marL="342900" indent="-342900">
              <a:spcAft>
                <a:spcPts val="400"/>
              </a:spcAft>
              <a:buSzPct val="100000"/>
              <a:buChar char="•"/>
            </a:pPr>
            <a:r>
              <a:rPr lang="en-US" sz="1300" dirty="0">
                <a:solidFill>
                  <a:srgbClr val="1A1A1A"/>
                </a:solidFill>
                <a:latin typeface="Open Sans" pitchFamily="34" charset="0"/>
                <a:ea typeface="Open Sans" pitchFamily="34" charset="-122"/>
                <a:cs typeface="Open Sans" pitchFamily="34" charset="-120"/>
              </a:rPr>
              <a:t>No metric, no baseline</a:t>
            </a:r>
            <a:endParaRPr lang="en-US" sz="1300" dirty="0"/>
          </a:p>
          <a:p>
            <a:pPr indent="0" marL="0">
              <a:spcAft>
                <a:spcPts val="400"/>
              </a:spcAft>
              <a:buNone/>
            </a:pPr>
            <a:r>
              <a:rPr lang="en-US" sz="1300" i="1" dirty="0">
                <a:solidFill>
                  <a:srgbClr val="1A1A1A"/>
                </a:solidFill>
                <a:latin typeface="Open Sans" pitchFamily="34" charset="0"/>
                <a:ea typeface="Open Sans" pitchFamily="34" charset="-122"/>
                <a:cs typeface="Open Sans" pitchFamily="34" charset="-120"/>
              </a:rPr>
              <a:t>A topic wearing a question mark.</a:t>
            </a:r>
            <a:endParaRPr lang="en-US" sz="1300" dirty="0"/>
          </a:p>
        </p:txBody>
      </p:sp>
      <p:sp>
        <p:nvSpPr>
          <p:cNvPr id="9" name="Text 7"/>
          <p:cNvSpPr/>
          <p:nvPr/>
        </p:nvSpPr>
        <p:spPr>
          <a:xfrm>
            <a:off x="4645152" y="1810512"/>
            <a:ext cx="4133088" cy="2926080"/>
          </a:xfrm>
          <a:prstGeom prst="rect">
            <a:avLst/>
          </a:prstGeom>
          <a:noFill/>
          <a:ln w="9525">
            <a:solidFill>
              <a:srgbClr val="CCCCCC"/>
            </a:solidFill>
          </a:ln>
        </p:spPr>
        <p:txBody>
          <a:bodyPr wrap="square" lIns="101600" tIns="101600" rIns="101600" bIns="101600" rtlCol="0" anchor="t"/>
          <a:lstStyle/>
          <a:p>
            <a:pPr indent="0" marL="0">
              <a:spcAft>
                <a:spcPts val="400"/>
              </a:spcAft>
              <a:buNone/>
            </a:pPr>
            <a:r>
              <a:rPr lang="en-US" sz="1300" i="1" dirty="0">
                <a:solidFill>
                  <a:srgbClr val="1A1A1A"/>
                </a:solidFill>
                <a:latin typeface="Open Sans" pitchFamily="34" charset="0"/>
                <a:ea typeface="Open Sans" pitchFamily="34" charset="-122"/>
                <a:cs typeface="Open Sans" pitchFamily="34" charset="-120"/>
              </a:rPr>
              <a:t>"To what extent can a tree-based classifier trained on flow-level features detect lateral-movement traffic within an enterprise LAN at a false-positive rate suitable for analyst review, compared with a signature-based IDS baseline?"</a:t>
            </a:r>
            <a:endParaRPr lang="en-US" sz="1300" dirty="0"/>
          </a:p>
          <a:p>
            <a:pPr indent="0" marL="0">
              <a:spcAft>
                <a:spcPts val="400"/>
              </a:spcAft>
              <a:buNone/>
            </a:pPr>
            <a:r>
              <a:rPr lang="en-US" sz="1300" b="1" dirty="0">
                <a:solidFill>
                  <a:srgbClr val="1A1A1A"/>
                </a:solidFill>
                <a:latin typeface="Open Sans" pitchFamily="34" charset="0"/>
                <a:ea typeface="Open Sans" pitchFamily="34" charset="-122"/>
                <a:cs typeface="Open Sans" pitchFamily="34" charset="-120"/>
              </a:rPr>
              <a:t>The move:</a:t>
            </a:r>
            <a:endParaRPr lang="en-US" sz="1300" dirty="0"/>
          </a:p>
          <a:p>
            <a:pPr indent="0" marL="0">
              <a:spcAft>
                <a:spcPts val="400"/>
              </a:spcAft>
              <a:buNone/>
            </a:pPr>
            <a:r>
              <a:rPr lang="en-US" sz="1300" b="1" i="1" dirty="0">
                <a:solidFill>
                  <a:srgbClr val="1A1A1A"/>
                </a:solidFill>
                <a:latin typeface="Open Sans" pitchFamily="34" charset="0"/>
                <a:ea typeface="Open Sans" pitchFamily="34" charset="-122"/>
                <a:cs typeface="Open Sans" pitchFamily="34" charset="-120"/>
              </a:rPr>
              <a:t>Pin all five: technique, threat, environment, metric, baseline.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Transformation 2 - Yes/No Value Judgement (Pasan)</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3383280"/>
          </a:xfrm>
          <a:prstGeom prst="rect">
            <a:avLst/>
          </a:prstGeom>
          <a:solidFill>
            <a:srgbClr val="C5D6E8"/>
          </a:solidFill>
          <a:ln/>
        </p:spPr>
        <p:txBody>
          <a:bodyPr wrap="square" lIns="152400" tIns="152400" rIns="152400" bIns="152400" rtlCol="0" anchor="t"/>
          <a:lstStyle/>
          <a:p>
            <a:pPr indent="0" marL="0">
              <a:spcAft>
                <a:spcPts val="800"/>
              </a:spcAft>
              <a:buNone/>
            </a:pPr>
            <a:r>
              <a:rPr lang="en-US" sz="1400" b="1" dirty="0">
                <a:solidFill>
                  <a:srgbClr val="1A1A1A"/>
                </a:solidFill>
                <a:latin typeface="Open Sans" pitchFamily="34" charset="0"/>
                <a:ea typeface="Open Sans" pitchFamily="34" charset="-122"/>
                <a:cs typeface="Open Sans" pitchFamily="34" charset="-120"/>
              </a:rPr>
              <a:t>Pasan | Topic: securing a citizen e-services login portal</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Weak: </a:t>
            </a:r>
            <a:pPr indent="0" marL="0">
              <a:spcAft>
                <a:spcPts val="800"/>
              </a:spcAft>
              <a:buNone/>
            </a:pPr>
            <a:r>
              <a:rPr lang="en-US" sz="1300" i="1" dirty="0">
                <a:solidFill>
                  <a:srgbClr val="1A1A1A"/>
                </a:solidFill>
                <a:latin typeface="Open Sans" pitchFamily="34" charset="0"/>
                <a:ea typeface="Open Sans" pitchFamily="34" charset="-122"/>
                <a:cs typeface="Open Sans" pitchFamily="34" charset="-120"/>
              </a:rPr>
              <a:t>"Is multi-factor authentication good for government web portals?"</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Why it fails: </a:t>
            </a:r>
            <a:pPr indent="0" marL="0">
              <a:spcAft>
                <a:spcPts val="800"/>
              </a:spcAft>
              <a:buNone/>
            </a:pPr>
            <a:r>
              <a:rPr lang="en-US" sz="1300" dirty="0">
                <a:solidFill>
                  <a:srgbClr val="1A1A1A"/>
                </a:solidFill>
                <a:latin typeface="Open Sans" pitchFamily="34" charset="0"/>
                <a:ea typeface="Open Sans" pitchFamily="34" charset="-122"/>
                <a:cs typeface="Open Sans" pitchFamily="34" charset="-120"/>
              </a:rPr>
              <a:t>answerable yes/no, value-laden ("good"), nothing to build or measure.</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Strong: </a:t>
            </a:r>
            <a:pPr indent="0" marL="0">
              <a:spcAft>
                <a:spcPts val="800"/>
              </a:spcAft>
              <a:buNone/>
            </a:pPr>
            <a:r>
              <a:rPr lang="en-US" sz="1300" i="1" dirty="0">
                <a:solidFill>
                  <a:srgbClr val="1A1A1A"/>
                </a:solidFill>
                <a:latin typeface="Open Sans" pitchFamily="34" charset="0"/>
                <a:ea typeface="Open Sans" pitchFamily="34" charset="-122"/>
                <a:cs typeface="Open Sans" pitchFamily="34" charset="-120"/>
              </a:rPr>
              <a:t>"How does adding a phishing-resistant WebAuthn second factor to a citizen e-services portal affect account-takeover success rate and login completion time, compared with OTP-based MFA, in a security-and-usability testbed?"</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The move: </a:t>
            </a:r>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From "is X good" to "how does design choice X affect measurable outcome Y against alternative Z."</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Transformation 3 - Unbounded Scope (Ishara)</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3383280"/>
          </a:xfrm>
          <a:prstGeom prst="rect">
            <a:avLst/>
          </a:prstGeom>
          <a:solidFill>
            <a:srgbClr val="C5D6E8"/>
          </a:solidFill>
          <a:ln/>
        </p:spPr>
        <p:txBody>
          <a:bodyPr wrap="square" lIns="152400" tIns="152400" rIns="152400" bIns="152400" rtlCol="0" anchor="t"/>
          <a:lstStyle/>
          <a:p>
            <a:pPr indent="0" marL="0">
              <a:spcAft>
                <a:spcPts val="800"/>
              </a:spcAft>
              <a:buNone/>
            </a:pPr>
            <a:r>
              <a:rPr lang="en-US" sz="1400" b="1" dirty="0">
                <a:solidFill>
                  <a:srgbClr val="1A1A1A"/>
                </a:solidFill>
                <a:latin typeface="Open Sans" pitchFamily="34" charset="0"/>
                <a:ea typeface="Open Sans" pitchFamily="34" charset="-122"/>
                <a:cs typeface="Open Sans" pitchFamily="34" charset="-120"/>
              </a:rPr>
              <a:t>Ishara | Topic: ransomware resilience in a campus network</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Weak: </a:t>
            </a:r>
            <a:pPr indent="0" marL="0">
              <a:spcAft>
                <a:spcPts val="800"/>
              </a:spcAft>
              <a:buNone/>
            </a:pPr>
            <a:r>
              <a:rPr lang="en-US" sz="1300" i="1" dirty="0">
                <a:solidFill>
                  <a:srgbClr val="1A1A1A"/>
                </a:solidFill>
                <a:latin typeface="Open Sans" pitchFamily="34" charset="0"/>
                <a:ea typeface="Open Sans" pitchFamily="34" charset="-122"/>
                <a:cs typeface="Open Sans" pitchFamily="34" charset="-120"/>
              </a:rPr>
              <a:t>"How can we prevent ransomware in universities?"</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Why it fails: </a:t>
            </a:r>
            <a:pPr indent="0" marL="0">
              <a:spcAft>
                <a:spcPts val="800"/>
              </a:spcAft>
              <a:buNone/>
            </a:pPr>
            <a:r>
              <a:rPr lang="en-US" sz="1300" dirty="0">
                <a:solidFill>
                  <a:srgbClr val="1A1A1A"/>
                </a:solidFill>
                <a:latin typeface="Open Sans" pitchFamily="34" charset="0"/>
                <a:ea typeface="Open Sans" pitchFamily="34" charset="-122"/>
                <a:cs typeface="Open Sans" pitchFamily="34" charset="-120"/>
              </a:rPr>
              <a:t>"prevent" is unachievable as stated, "universities" is unscoped, no method, no measure.</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Strong: </a:t>
            </a:r>
            <a:pPr indent="0" marL="0">
              <a:spcAft>
                <a:spcPts val="800"/>
              </a:spcAft>
              <a:buNone/>
            </a:pPr>
            <a:r>
              <a:rPr lang="en-US" sz="1300" i="1" dirty="0">
                <a:solidFill>
                  <a:srgbClr val="1A1A1A"/>
                </a:solidFill>
                <a:latin typeface="Open Sans" pitchFamily="34" charset="0"/>
                <a:ea typeface="Open Sans" pitchFamily="34" charset="-122"/>
                <a:cs typeface="Open Sans" pitchFamily="34" charset="-120"/>
              </a:rPr>
              <a:t>"To what extent does application allowlisting combined with network micro-segmentation reduce the simulated spread of commodity ransomware across a campus VLAN testbed, compared with endpoint antivirus alone, measured by hosts encrypted and time-to-containment?"</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The move: </a:t>
            </a:r>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From "prevent X everywhere" to "reduce measurable spread of X under a defined control versus a baseline in a bounded testbed."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What Criterion 1 Distinction Asks For</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2331720"/>
          </a:xfrm>
          <a:prstGeom prst="rect">
            <a:avLst/>
          </a:prstGeom>
          <a:solidFill>
            <a:srgbClr val="C5D6E8"/>
          </a:solidFill>
          <a:ln/>
        </p:spPr>
        <p:txBody>
          <a:bodyPr wrap="square" lIns="152400" tIns="152400" rIns="152400" bIns="152400" rtlCol="0" anchor="t"/>
          <a:lstStyle/>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What the Distinction band looks for, in paraphrase (70 to 100%):</a:t>
            </a:r>
            <a:endParaRPr lang="en-US" sz="1300" dirty="0"/>
          </a:p>
          <a:p>
            <a:pPr indent="0" marL="0">
              <a:spcAft>
                <a:spcPts val="800"/>
              </a:spcAft>
              <a:buNone/>
            </a:pPr>
            <a:r>
              <a:rPr lang="en-US" sz="1300" i="1" dirty="0">
                <a:solidFill>
                  <a:srgbClr val="1A1A1A"/>
                </a:solidFill>
                <a:latin typeface="Open Sans" pitchFamily="34" charset="0"/>
                <a:ea typeface="Open Sans" pitchFamily="34" charset="-122"/>
                <a:cs typeface="Open Sans" pitchFamily="34" charset="-120"/>
              </a:rPr>
              <a:t>A question stated with precision and real technical specificity, anchored to a cybersecurity or network engineering problem you can point to in the world.</a:t>
            </a:r>
            <a:endParaRPr lang="en-US" sz="1300" dirty="0"/>
          </a:p>
          <a:p>
            <a:pPr indent="0" marL="0">
              <a:spcAft>
                <a:spcPts val="800"/>
              </a:spcAft>
              <a:buNone/>
            </a:pPr>
            <a:r>
              <a:rPr lang="en-US" sz="1300" i="1" dirty="0">
                <a:solidFill>
                  <a:srgbClr val="1A1A1A"/>
                </a:solidFill>
                <a:latin typeface="Open Sans" pitchFamily="34" charset="0"/>
                <a:ea typeface="Open Sans" pitchFamily="34" charset="-122"/>
                <a:cs typeface="Open Sans" pitchFamily="34" charset="-120"/>
              </a:rPr>
              <a:t>One aim, plus objectives that are visibly different from one another, each measurable, and sized for what one student can finish independently at Level 6.</a:t>
            </a:r>
            <a:endParaRPr lang="en-US" sz="1300" dirty="0"/>
          </a:p>
          <a:p>
            <a:pPr indent="0" marL="0">
              <a:spcAft>
                <a:spcPts val="800"/>
              </a:spcAft>
              <a:buNone/>
            </a:pPr>
            <a:r>
              <a:rPr lang="en-US" sz="1300" i="1" dirty="0">
                <a:solidFill>
                  <a:srgbClr val="1A1A1A"/>
                </a:solidFill>
                <a:latin typeface="Open Sans" pitchFamily="34" charset="0"/>
                <a:ea typeface="Open Sans" pitchFamily="34" charset="-122"/>
                <a:cs typeface="Open Sans" pitchFamily="34" charset="-120"/>
              </a:rPr>
              <a:t>A technical setting described with the exactness a working practitioner would expect.</a:t>
            </a:r>
            <a:endParaRPr lang="en-US" sz="1300" dirty="0"/>
          </a:p>
        </p:txBody>
      </p:sp>
      <p:sp>
        <p:nvSpPr>
          <p:cNvPr id="7" name="Text 5"/>
          <p:cNvSpPr/>
          <p:nvPr/>
        </p:nvSpPr>
        <p:spPr>
          <a:xfrm>
            <a:off x="731520" y="3840480"/>
            <a:ext cx="7690104" cy="868680"/>
          </a:xfrm>
          <a:prstGeom prst="rect">
            <a:avLst/>
          </a:prstGeom>
          <a:solidFill>
            <a:srgbClr val="1B3A6B"/>
          </a:solidFill>
          <a:ln/>
        </p:spPr>
        <p:txBody>
          <a:bodyPr wrap="square" lIns="101600" tIns="101600" rIns="101600" bIns="101600" rtlCol="0" anchor="ctr"/>
          <a:lstStyle/>
          <a:p>
            <a:pPr indent="0" marL="0">
              <a:buNone/>
            </a:pPr>
            <a:r>
              <a:rPr lang="en-US" sz="1300" b="1" i="1" dirty="0">
                <a:solidFill>
                  <a:srgbClr val="FFFFFF"/>
                </a:solidFill>
                <a:latin typeface="Open Sans" pitchFamily="34" charset="0"/>
                <a:ea typeface="Open Sans" pitchFamily="34" charset="-122"/>
                <a:cs typeface="Open Sans" pitchFamily="34" charset="-120"/>
              </a:rPr>
              <a:t>Your yardstick: every word in your question should earn its place. If it could apply to any computing project, or can be answered by a quick search, it is not there yet.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9E5C"/>
          </a:solidFill>
          <a:ln/>
        </p:spPr>
      </p:sp>
      <p:sp>
        <p:nvSpPr>
          <p:cNvPr id="3" name="Shape 1"/>
          <p:cNvSpPr/>
          <p:nvPr/>
        </p:nvSpPr>
        <p:spPr>
          <a:xfrm>
            <a:off x="731520" y="502920"/>
            <a:ext cx="502920" cy="45720"/>
          </a:xfrm>
          <a:prstGeom prst="rect">
            <a:avLst/>
          </a:prstGeom>
          <a:solidFill>
            <a:srgbClr val="FFFFFF"/>
          </a:solidFill>
          <a:ln/>
        </p:spPr>
      </p:sp>
      <p:sp>
        <p:nvSpPr>
          <p:cNvPr id="4" name="Text 2"/>
          <p:cNvSpPr/>
          <p:nvPr/>
        </p:nvSpPr>
        <p:spPr>
          <a:xfrm>
            <a:off x="731520" y="621792"/>
            <a:ext cx="7690104" cy="603504"/>
          </a:xfrm>
          <a:prstGeom prst="rect">
            <a:avLst/>
          </a:prstGeom>
          <a:noFill/>
          <a:ln/>
        </p:spPr>
        <p:txBody>
          <a:bodyPr wrap="square" lIns="0" tIns="0" rIns="0" bIns="0" rtlCol="0" anchor="t"/>
          <a:lstStyle/>
          <a:p>
            <a:pPr indent="0" marL="0">
              <a:buNone/>
            </a:pPr>
            <a:r>
              <a:rPr lang="en-US" sz="2800" b="1" dirty="0">
                <a:solidFill>
                  <a:srgbClr val="FFFFFF"/>
                </a:solidFill>
                <a:latin typeface="Open Sans" pitchFamily="34" charset="0"/>
                <a:ea typeface="Open Sans" pitchFamily="34" charset="-122"/>
                <a:cs typeface="Open Sans" pitchFamily="34" charset="-120"/>
              </a:rPr>
              <a:t>Discussion - Critique This Question</a:t>
            </a:r>
            <a:endParaRPr lang="en-US" sz="2800" dirty="0"/>
          </a:p>
        </p:txBody>
      </p:sp>
      <p:sp>
        <p:nvSpPr>
          <p:cNvPr id="5" name="Text 3"/>
          <p:cNvSpPr/>
          <p:nvPr/>
        </p:nvSpPr>
        <p:spPr>
          <a:xfrm>
            <a:off x="914400" y="1371600"/>
            <a:ext cx="7315200" cy="3383280"/>
          </a:xfrm>
          <a:prstGeom prst="rect">
            <a:avLst/>
          </a:prstGeom>
          <a:solidFill>
            <a:srgbClr val="FFFFFF"/>
          </a:solidFill>
          <a:ln/>
        </p:spPr>
        <p:txBody>
          <a:bodyPr wrap="square" lIns="177800" tIns="177800" rIns="177800" bIns="177800" rtlCol="0" anchor="ctr"/>
          <a:lstStyle/>
          <a:p>
            <a:pPr indent="0" marL="0">
              <a:spcAft>
                <a:spcPts val="1000"/>
              </a:spcAft>
              <a:buNone/>
            </a:pPr>
            <a:r>
              <a:rPr lang="en-US" sz="1400" b="1" dirty="0">
                <a:solidFill>
                  <a:srgbClr val="1A1A1A"/>
                </a:solidFill>
                <a:latin typeface="Open Sans" pitchFamily="34" charset="0"/>
                <a:ea typeface="Open Sans" pitchFamily="34" charset="-122"/>
                <a:cs typeface="Open Sans" pitchFamily="34" charset="-120"/>
              </a:rPr>
              <a:t>Ruwan's draft question:</a:t>
            </a:r>
            <a:endParaRPr lang="en-US" sz="1300" dirty="0"/>
          </a:p>
          <a:p>
            <a:pPr indent="0" marL="0">
              <a:spcAft>
                <a:spcPts val="1000"/>
              </a:spcAft>
              <a:buNone/>
            </a:pPr>
            <a:r>
              <a:rPr lang="en-US" sz="1400" i="1" dirty="0">
                <a:solidFill>
                  <a:srgbClr val="1A1A1A"/>
                </a:solidFill>
                <a:latin typeface="Open Sans" pitchFamily="34" charset="0"/>
                <a:ea typeface="Open Sans" pitchFamily="34" charset="-122"/>
                <a:cs typeface="Open Sans" pitchFamily="34" charset="-120"/>
              </a:rPr>
              <a:t>"This project will develop a phishing-detection system using machine learning to protect online-banking customers, aiming to achieve high accuracy."</a:t>
            </a:r>
            <a:endParaRPr lang="en-US" sz="1300" dirty="0"/>
          </a:p>
          <a:p>
            <a:pPr indent="0" marL="0">
              <a:spcAft>
                <a:spcPts val="1000"/>
              </a:spcAft>
              <a:buNone/>
            </a:pPr>
            <a:r>
              <a:rPr lang="en-US" sz="1300" b="1" dirty="0">
                <a:solidFill>
                  <a:srgbClr val="1A1A1A"/>
                </a:solidFill>
                <a:latin typeface="Open Sans" pitchFamily="34" charset="0"/>
                <a:ea typeface="Open Sans" pitchFamily="34" charset="-122"/>
                <a:cs typeface="Open Sans" pitchFamily="34" charset="-120"/>
              </a:rPr>
              <a:t>Grade it against Criterion 1. What is missing? Then steer it up one band.</a:t>
            </a:r>
            <a:endParaRPr lang="en-US" sz="1300" dirty="0"/>
          </a:p>
          <a:p>
            <a:pPr indent="0" marL="0">
              <a:spcAft>
                <a:spcPts val="1000"/>
              </a:spcAft>
              <a:buNone/>
            </a:pPr>
            <a:r>
              <a:rPr lang="en-US" sz="1300" i="1" dirty="0">
                <a:solidFill>
                  <a:srgbClr val="1A1A1A"/>
                </a:solidFill>
                <a:latin typeface="Open Sans" pitchFamily="34" charset="0"/>
                <a:ea typeface="Open Sans" pitchFamily="34" charset="-122"/>
                <a:cs typeface="Open Sans" pitchFamily="34" charset="-120"/>
              </a:rPr>
              <a:t>Consider: is this a question? What type of phishing? What ML approach? What does "high accuracy" mean - and compared with what baseline? Where is the testbed?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What Happens Next</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329184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Week 2 - Research Question Clinic:</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bring your draft question. The heaviest supervision week. Weak-to-strong iteration in the room.</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Week 3 - Checkpoint 1 (Problem Outline):</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your question is assessed against Criterion 1. Revision is expected. A vague question caught here means five weeks of work are not built on a weak foundation.</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Self-Check Tool:</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run your question through the five Criterion 1 dimensions before the clinic. It identifies exactly which property to fix first.</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Session 2 (Week 4) - Critical Literature Review:</a:t>
            </a:r>
            <a:pPr indent="0" marL="0">
              <a:lnSpc>
                <a:spcPct val="105000"/>
              </a:lnSpc>
              <a:spcAft>
                <a:spcPts val="600"/>
              </a:spcAft>
              <a:buNone/>
            </a:pPr>
            <a:r>
              <a:rPr lang="en-US" sz="1400" dirty="0">
                <a:solidFill>
                  <a:srgbClr val="1A1A1A"/>
                </a:solidFill>
                <a:latin typeface="Open Sans" pitchFamily="34" charset="0"/>
                <a:ea typeface="Open Sans" pitchFamily="34" charset="-122"/>
                <a:cs typeface="Open Sans" pitchFamily="34" charset="-120"/>
              </a:rPr>
              <a:t> framing the problem against what is already known.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Today's Thesis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658368"/>
          </a:xfrm>
          <a:prstGeom prst="rect">
            <a:avLst/>
          </a:prstGeom>
          <a:solidFill>
            <a:srgbClr val="C5D6E8"/>
          </a:solidFill>
          <a:ln/>
        </p:spPr>
        <p:txBody>
          <a:bodyPr wrap="square" lIns="101600" tIns="101600" rIns="101600" bIns="101600" rtlCol="0" anchor="ctr"/>
          <a:lstStyle/>
          <a:p>
            <a:pPr indent="0" marL="0">
              <a:buNone/>
            </a:pPr>
            <a:r>
              <a:rPr lang="en-US" sz="1500" b="1" i="1" dirty="0">
                <a:solidFill>
                  <a:srgbClr val="1A1A1A"/>
                </a:solidFill>
                <a:latin typeface="Open Sans" pitchFamily="34" charset="0"/>
                <a:ea typeface="Open Sans" pitchFamily="34" charset="-122"/>
                <a:cs typeface="Open Sans" pitchFamily="34" charset="-120"/>
              </a:rPr>
              <a:t>You can build. This module grows a different muscle: framing. Today was your first rep.</a:t>
            </a:r>
            <a:endParaRPr lang="en-US" sz="1500" dirty="0"/>
          </a:p>
        </p:txBody>
      </p:sp>
      <p:sp>
        <p:nvSpPr>
          <p:cNvPr id="7" name="Text 5"/>
          <p:cNvSpPr/>
          <p:nvPr/>
        </p:nvSpPr>
        <p:spPr>
          <a:xfrm>
            <a:off x="731520" y="2139696"/>
            <a:ext cx="7690104" cy="1965960"/>
          </a:xfrm>
          <a:prstGeom prst="rect">
            <a:avLst/>
          </a:prstGeom>
          <a:solidFill>
            <a:srgbClr val="EDF1F5"/>
          </a:solidFill>
          <a:ln/>
        </p:spPr>
        <p:txBody>
          <a:bodyPr wrap="square" lIns="127000" tIns="127000" rIns="127000" bIns="127000" rtlCol="0" anchor="t"/>
          <a:lstStyle/>
          <a:p>
            <a:pPr marL="342900" indent="-342900">
              <a:lnSpc>
                <a:spcPct val="105000"/>
              </a:lnSpc>
              <a:spcAft>
                <a:spcPts val="600"/>
              </a:spcAft>
              <a:buSzPct val="100000"/>
              <a:buChar char="•"/>
            </a:pPr>
            <a:r>
              <a:rPr lang="en-US" sz="1300" dirty="0">
                <a:solidFill>
                  <a:srgbClr val="1A1A1A"/>
                </a:solidFill>
                <a:latin typeface="Open Sans" pitchFamily="34" charset="0"/>
                <a:ea typeface="Open Sans" pitchFamily="34" charset="-122"/>
                <a:cs typeface="Open Sans" pitchFamily="34" charset="-120"/>
              </a:rPr>
              <a:t>A topic names what you are interested in. A research question commits you to what you will prove.</a:t>
            </a:r>
            <a:endParaRPr lang="en-US" sz="1300" dirty="0"/>
          </a:p>
          <a:p>
            <a:pPr marL="342900" indent="-342900">
              <a:lnSpc>
                <a:spcPct val="105000"/>
              </a:lnSpc>
              <a:spcAft>
                <a:spcPts val="600"/>
              </a:spcAft>
              <a:buSzPct val="100000"/>
              <a:buChar char="•"/>
            </a:pPr>
            <a:r>
              <a:rPr lang="en-US" sz="1300" dirty="0">
                <a:solidFill>
                  <a:srgbClr val="1A1A1A"/>
                </a:solidFill>
                <a:latin typeface="Open Sans" pitchFamily="34" charset="0"/>
                <a:ea typeface="Open Sans" pitchFamily="34" charset="-122"/>
                <a:cs typeface="Open Sans" pitchFamily="34" charset="-120"/>
              </a:rPr>
              <a:t>A strong question is specific, technically grounded, achievable at Level 6, and evaluable.</a:t>
            </a:r>
            <a:endParaRPr lang="en-US" sz="1300" dirty="0"/>
          </a:p>
          <a:p>
            <a:pPr marL="342900" indent="-342900">
              <a:lnSpc>
                <a:spcPct val="105000"/>
              </a:lnSpc>
              <a:spcAft>
                <a:spcPts val="600"/>
              </a:spcAft>
              <a:buSzPct val="100000"/>
              <a:buChar char="•"/>
            </a:pPr>
            <a:r>
              <a:rPr lang="en-US" sz="1300" dirty="0">
                <a:solidFill>
                  <a:srgbClr val="1A1A1A"/>
                </a:solidFill>
                <a:latin typeface="Open Sans" pitchFamily="34" charset="0"/>
                <a:ea typeface="Open Sans" pitchFamily="34" charset="-122"/>
                <a:cs typeface="Open Sans" pitchFamily="34" charset="-120"/>
              </a:rPr>
              <a:t>Aims and objectives are differentiated - one overarching outcome, several measurable steps.</a:t>
            </a:r>
            <a:endParaRPr lang="en-US" sz="1300" dirty="0"/>
          </a:p>
          <a:p>
            <a:pPr marL="342900" indent="-342900">
              <a:lnSpc>
                <a:spcPct val="105000"/>
              </a:lnSpc>
              <a:spcAft>
                <a:spcPts val="600"/>
              </a:spcAft>
              <a:buSzPct val="100000"/>
              <a:buChar char="•"/>
            </a:pPr>
            <a:r>
              <a:rPr lang="en-US" sz="1300" dirty="0">
                <a:solidFill>
                  <a:srgbClr val="1A1A1A"/>
                </a:solidFill>
                <a:latin typeface="Open Sans" pitchFamily="34" charset="0"/>
                <a:ea typeface="Open Sans" pitchFamily="34" charset="-122"/>
                <a:cs typeface="Open Sans" pitchFamily="34" charset="-120"/>
              </a:rPr>
              <a:t>The Criterion 1 Distinction descriptor is your yardstick.</a:t>
            </a:r>
            <a:endParaRPr lang="en-US" sz="1300" dirty="0"/>
          </a:p>
        </p:txBody>
      </p:sp>
      <p:sp>
        <p:nvSpPr>
          <p:cNvPr id="8" name="Text 6"/>
          <p:cNvSpPr/>
          <p:nvPr/>
        </p:nvSpPr>
        <p:spPr>
          <a:xfrm>
            <a:off x="731520" y="4224528"/>
            <a:ext cx="7690104" cy="548640"/>
          </a:xfrm>
          <a:prstGeom prst="rect">
            <a:avLst/>
          </a:prstGeom>
          <a:solidFill>
            <a:srgbClr val="1B3A6B"/>
          </a:solidFill>
          <a:ln/>
        </p:spPr>
        <p:txBody>
          <a:bodyPr wrap="square" lIns="101600" tIns="101600" rIns="101600" bIns="101600" rtlCol="0" anchor="ctr"/>
          <a:lstStyle/>
          <a:p>
            <a:pPr indent="0" marL="0">
              <a:buNone/>
            </a:pPr>
            <a:r>
              <a:rPr lang="en-US" sz="1200" b="1" dirty="0">
                <a:solidFill>
                  <a:srgbClr val="FFFFFF"/>
                </a:solidFill>
                <a:latin typeface="Open Sans" pitchFamily="34" charset="0"/>
                <a:ea typeface="Open Sans" pitchFamily="34" charset="-122"/>
                <a:cs typeface="Open Sans" pitchFamily="34" charset="-120"/>
              </a:rPr>
              <a:t>Self-study: re-read the student notes (including Exemplar C), draft and re-draft your question, run the Self-Check tool, bring it to the Week 2 clinic.</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1B3A6B"/>
          </a:solidFill>
          <a:ln/>
        </p:spPr>
      </p:sp>
      <p:sp>
        <p:nvSpPr>
          <p:cNvPr id="3" name="Text 1"/>
          <p:cNvSpPr/>
          <p:nvPr/>
        </p:nvSpPr>
        <p:spPr>
          <a:xfrm>
            <a:off x="384048" y="1097280"/>
            <a:ext cx="5303520" cy="868680"/>
          </a:xfrm>
          <a:prstGeom prst="rect">
            <a:avLst/>
          </a:prstGeom>
          <a:noFill/>
          <a:ln/>
        </p:spPr>
        <p:txBody>
          <a:bodyPr wrap="square" lIns="0" tIns="0" rIns="0" bIns="0" rtlCol="0" anchor="t"/>
          <a:lstStyle/>
          <a:p>
            <a:pPr indent="0" marL="0">
              <a:buNone/>
            </a:pPr>
            <a:r>
              <a:rPr lang="en-US" sz="4800" b="1" dirty="0">
                <a:solidFill>
                  <a:srgbClr val="1A1A1A"/>
                </a:solidFill>
                <a:latin typeface="Open Sans" pitchFamily="34" charset="0"/>
                <a:ea typeface="Open Sans" pitchFamily="34" charset="-122"/>
                <a:cs typeface="Open Sans" pitchFamily="34" charset="-120"/>
              </a:rPr>
              <a:t>Questions &amp;</a:t>
            </a:r>
            <a:endParaRPr lang="en-US" sz="4800" dirty="0"/>
          </a:p>
        </p:txBody>
      </p:sp>
      <p:sp>
        <p:nvSpPr>
          <p:cNvPr id="4" name="Text 2"/>
          <p:cNvSpPr/>
          <p:nvPr/>
        </p:nvSpPr>
        <p:spPr>
          <a:xfrm>
            <a:off x="384048" y="1938528"/>
            <a:ext cx="5303520" cy="868680"/>
          </a:xfrm>
          <a:prstGeom prst="rect">
            <a:avLst/>
          </a:prstGeom>
          <a:noFill/>
          <a:ln/>
        </p:spPr>
        <p:txBody>
          <a:bodyPr wrap="square" lIns="0" tIns="0" rIns="0" bIns="0" rtlCol="0" anchor="t"/>
          <a:lstStyle/>
          <a:p>
            <a:pPr indent="0" marL="0">
              <a:buNone/>
            </a:pPr>
            <a:r>
              <a:rPr lang="en-US" sz="4800" b="1" dirty="0">
                <a:solidFill>
                  <a:srgbClr val="1B3A6B"/>
                </a:solidFill>
                <a:latin typeface="Open Sans" pitchFamily="34" charset="0"/>
                <a:ea typeface="Open Sans" pitchFamily="34" charset="-122"/>
                <a:cs typeface="Open Sans" pitchFamily="34" charset="-120"/>
              </a:rPr>
              <a:t>Discussion</a:t>
            </a:r>
            <a:endParaRPr lang="en-US" sz="4800" dirty="0"/>
          </a:p>
        </p:txBody>
      </p:sp>
      <p:sp>
        <p:nvSpPr>
          <p:cNvPr id="5" name="Shape 3"/>
          <p:cNvSpPr/>
          <p:nvPr/>
        </p:nvSpPr>
        <p:spPr>
          <a:xfrm>
            <a:off x="384048" y="2852928"/>
            <a:ext cx="749808" cy="73152"/>
          </a:xfrm>
          <a:prstGeom prst="rect">
            <a:avLst/>
          </a:prstGeom>
          <a:solidFill>
            <a:srgbClr val="1B3A6B"/>
          </a:solidFill>
          <a:ln/>
        </p:spPr>
      </p:sp>
      <p:sp>
        <p:nvSpPr>
          <p:cNvPr id="6" name="Shape 4"/>
          <p:cNvSpPr/>
          <p:nvPr/>
        </p:nvSpPr>
        <p:spPr>
          <a:xfrm>
            <a:off x="1188720" y="2852928"/>
            <a:ext cx="384048" cy="73152"/>
          </a:xfrm>
          <a:prstGeom prst="rect">
            <a:avLst/>
          </a:prstGeom>
          <a:solidFill>
            <a:srgbClr val="E0701A"/>
          </a:solidFill>
          <a:ln/>
        </p:spPr>
      </p:sp>
      <p:sp>
        <p:nvSpPr>
          <p:cNvPr id="7" name="Text 5"/>
          <p:cNvSpPr/>
          <p:nvPr/>
        </p:nvSpPr>
        <p:spPr>
          <a:xfrm>
            <a:off x="384048" y="3035808"/>
            <a:ext cx="5303520" cy="658368"/>
          </a:xfrm>
          <a:prstGeom prst="rect">
            <a:avLst/>
          </a:prstGeom>
          <a:noFill/>
          <a:ln/>
        </p:spPr>
        <p:txBody>
          <a:bodyPr wrap="square" lIns="0" tIns="0" rIns="0" bIns="0" rtlCol="0" anchor="t"/>
          <a:lstStyle/>
          <a:p>
            <a:pPr indent="0" marL="0">
              <a:buNone/>
            </a:pPr>
            <a:r>
              <a:rPr lang="en-US" sz="1600" i="1" dirty="0">
                <a:solidFill>
                  <a:srgbClr val="595959"/>
                </a:solidFill>
                <a:latin typeface="Open Sans" pitchFamily="34" charset="0"/>
                <a:ea typeface="Open Sans" pitchFamily="34" charset="-122"/>
                <a:cs typeface="Open Sans" pitchFamily="34" charset="-120"/>
              </a:rPr>
              <a:t>NB6015CEM - Research Project Preparation  |  Session 1</a:t>
            </a:r>
            <a:endParaRPr lang="en-US" sz="1600" dirty="0"/>
          </a:p>
        </p:txBody>
      </p:sp>
      <p:pic>
        <p:nvPicPr>
          <p:cNvPr id="8" name="Image 0" descr="preencoded.png">    </p:cNvPr>
          <p:cNvPicPr>
            <a:picLocks noChangeAspect="1"/>
          </p:cNvPicPr>
          <p:nvPr/>
        </p:nvPicPr>
        <p:blipFill>
          <a:blip r:embed="rId1"/>
          <a:stretch>
            <a:fillRect/>
          </a:stretch>
        </p:blipFill>
        <p:spPr>
          <a:xfrm>
            <a:off x="6195060" y="502920"/>
            <a:ext cx="2743200" cy="3840480"/>
          </a:xfrm>
          <a:prstGeom prst="rect">
            <a:avLst/>
          </a:prstGeom>
        </p:spPr>
      </p:pic>
      <p:sp>
        <p:nvSpPr>
          <p:cNvPr id="9" name="Text 6"/>
          <p:cNvSpPr/>
          <p:nvPr/>
        </p:nvSpPr>
        <p:spPr>
          <a:xfrm>
            <a:off x="6217920" y="4480560"/>
            <a:ext cx="2743200" cy="365760"/>
          </a:xfrm>
          <a:prstGeom prst="rect">
            <a:avLst/>
          </a:prstGeom>
          <a:noFill/>
          <a:ln/>
        </p:spPr>
        <p:txBody>
          <a:bodyPr wrap="square" lIns="0" tIns="0" rIns="0" bIns="0" rtlCol="0" anchor="t"/>
          <a:lstStyle/>
          <a:p>
            <a:pPr indent="0" marL="0">
              <a:buNone/>
            </a:pPr>
            <a:r>
              <a:rPr lang="en-US" sz="1100" dirty="0">
                <a:solidFill>
                  <a:srgbClr val="FFFFFF"/>
                </a:solidFill>
                <a:latin typeface="Open Sans" pitchFamily="34" charset="0"/>
                <a:ea typeface="Open Sans" pitchFamily="34" charset="-122"/>
                <a:cs typeface="Open Sans" pitchFamily="34" charset="-120"/>
              </a:rPr>
              <a:t>NB6015CEM  |  Research Project Preparation  |  Level 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508760"/>
            <a:ext cx="7863840" cy="2304288"/>
          </a:xfrm>
          <a:prstGeom prst="rect">
            <a:avLst/>
          </a:prstGeom>
          <a:noFill/>
          <a:ln/>
        </p:spPr>
        <p:txBody>
          <a:bodyPr wrap="square" lIns="63500" tIns="63500" rIns="63500" bIns="63500" rtlCol="0" anchor="t"/>
          <a:lstStyle/>
          <a:p>
            <a:pPr indent="0" marL="0">
              <a:spcAft>
                <a:spcPts val="1000"/>
              </a:spcAft>
              <a:buNone/>
            </a:pPr>
            <a:r>
              <a:rPr lang="en-US" sz="1100" dirty="0">
                <a:solidFill>
                  <a:srgbClr val="1A1A1A"/>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100" dirty="0"/>
          </a:p>
          <a:p>
            <a:pPr indent="0" marL="0">
              <a:spcAft>
                <a:spcPts val="1000"/>
              </a:spcAft>
              <a:buNone/>
            </a:pPr>
            <a:r>
              <a:rPr lang="en-US" sz="1100" dirty="0">
                <a:solidFill>
                  <a:srgbClr val="1A1A1A"/>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100" dirty="0"/>
          </a:p>
          <a:p>
            <a:pPr indent="0" marL="0">
              <a:spcAft>
                <a:spcPts val="1000"/>
              </a:spcAft>
              <a:buNone/>
            </a:pPr>
            <a:r>
              <a:rPr lang="en-US" sz="1100" dirty="0">
                <a:solidFill>
                  <a:srgbClr val="1A1A1A"/>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100" dirty="0"/>
          </a:p>
          <a:p>
            <a:pPr indent="0" marL="0">
              <a:buNone/>
            </a:pPr>
            <a:r>
              <a:rPr lang="en-US" sz="1100" dirty="0">
                <a:solidFill>
                  <a:srgbClr val="1A1A1A"/>
                </a:solidFill>
                <a:latin typeface="Open Sans" pitchFamily="34" charset="0"/>
                <a:ea typeface="Open Sans" pitchFamily="34" charset="-122"/>
                <a:cs typeface="Open Sans" pitchFamily="34" charset="-120"/>
              </a:rPr>
              <a:t>This disclaimer is subject to change without notice.</a:t>
            </a:r>
            <a:endParaRPr lang="en-US" sz="1100" dirty="0"/>
          </a:p>
        </p:txBody>
      </p:sp>
      <p:sp>
        <p:nvSpPr>
          <p:cNvPr id="7" name="Shape 5"/>
          <p:cNvSpPr/>
          <p:nvPr/>
        </p:nvSpPr>
        <p:spPr>
          <a:xfrm>
            <a:off x="731520" y="3886200"/>
            <a:ext cx="54864" cy="786384"/>
          </a:xfrm>
          <a:prstGeom prst="rect">
            <a:avLst/>
          </a:prstGeom>
          <a:solidFill>
            <a:srgbClr val="EDF1F5"/>
          </a:solidFill>
          <a:ln/>
        </p:spPr>
      </p:sp>
      <p:sp>
        <p:nvSpPr>
          <p:cNvPr id="8" name="Text 6"/>
          <p:cNvSpPr/>
          <p:nvPr/>
        </p:nvSpPr>
        <p:spPr>
          <a:xfrm>
            <a:off x="859536" y="3886200"/>
            <a:ext cx="7735824" cy="786384"/>
          </a:xfrm>
          <a:prstGeom prst="rect">
            <a:avLst/>
          </a:prstGeom>
          <a:noFill/>
          <a:ln/>
        </p:spPr>
        <p:txBody>
          <a:bodyPr wrap="square" lIns="63500" tIns="63500" rIns="63500" bIns="63500" rtlCol="0" anchor="t"/>
          <a:lstStyle/>
          <a:p>
            <a:pPr indent="0" marL="0">
              <a:buNone/>
            </a:pPr>
            <a:r>
              <a:rPr lang="en-US" sz="1100" b="1" dirty="0">
                <a:solidFill>
                  <a:srgbClr val="595959"/>
                </a:solidFill>
                <a:latin typeface="Open Sans" pitchFamily="34" charset="0"/>
                <a:ea typeface="Open Sans" pitchFamily="34" charset="-122"/>
                <a:cs typeface="Open Sans" pitchFamily="34" charset="-120"/>
              </a:rPr>
              <a:t>© 2026 Niranga Dharmaratna</a:t>
            </a:r>
            <a:endParaRPr lang="en-US" sz="1100" dirty="0"/>
          </a:p>
          <a:p>
            <a:pPr indent="0" marL="0">
              <a:buNone/>
            </a:pPr>
            <a:r>
              <a:rPr lang="en-US" sz="1100" dirty="0">
                <a:solidFill>
                  <a:srgbClr val="595959"/>
                </a:solidFill>
                <a:latin typeface="Open Sans" pitchFamily="34" charset="0"/>
                <a:ea typeface="Open Sans" pitchFamily="34" charset="-122"/>
                <a:cs typeface="Open Sans" pitchFamily="34" charset="-120"/>
              </a:rPr>
              <a:t>School of Computing &amp; Engineering</a:t>
            </a:r>
            <a:endParaRPr lang="en-US" sz="1100" dirty="0"/>
          </a:p>
          <a:p>
            <a:pPr indent="0" marL="0">
              <a:buNone/>
            </a:pPr>
            <a:r>
              <a:rPr lang="en-US" sz="1100" dirty="0">
                <a:solidFill>
                  <a:srgbClr val="595959"/>
                </a:solidFill>
                <a:latin typeface="Open Sans" pitchFamily="34" charset="0"/>
                <a:ea typeface="Open Sans" pitchFamily="34" charset="-122"/>
                <a:cs typeface="Open Sans" pitchFamily="34" charset="-120"/>
              </a:rPr>
              <a:t>National Institute of Business Management</a:t>
            </a:r>
            <a:endParaRPr lang="en-US" sz="1100" dirty="0"/>
          </a:p>
          <a:p>
            <a:pPr indent="0" marL="0">
              <a:buNone/>
            </a:pPr>
            <a:r>
              <a:rPr lang="en-US" sz="1100" dirty="0">
                <a:solidFill>
                  <a:srgbClr val="595959"/>
                </a:solidFill>
                <a:latin typeface="Open Sans" pitchFamily="34" charset="0"/>
                <a:ea typeface="Open Sans" pitchFamily="34" charset="-122"/>
                <a:cs typeface="Open Sans" pitchFamily="34" charset="-120"/>
              </a:rPr>
              <a:t>Licensed under CC BY-NC-ND 4.0, creativecommons.org/licenses/by-nc-nd/4.0</a:t>
            </a:r>
            <a:endParaRPr lang="en-US" sz="1100" dirty="0"/>
          </a:p>
        </p:txBody>
      </p:sp>
      <p:sp>
        <p:nvSpPr>
          <p:cNvPr id="9" name="Text 7"/>
          <p:cNvSpPr/>
          <p:nvPr/>
        </p:nvSpPr>
        <p:spPr>
          <a:xfrm>
            <a:off x="859536" y="4782312"/>
            <a:ext cx="7735824" cy="292608"/>
          </a:xfrm>
          <a:prstGeom prst="rect">
            <a:avLst/>
          </a:prstGeom>
          <a:noFill/>
          <a:ln/>
        </p:spPr>
        <p:txBody>
          <a:bodyPr wrap="square" lIns="63500" tIns="63500" rIns="63500" bIns="63500" rtlCol="0" anchor="t"/>
          <a:lstStyle/>
          <a:p>
            <a:pPr indent="0" marL="0">
              <a:buNone/>
            </a:pPr>
            <a:r>
              <a:rPr lang="en-US" sz="1300" b="1" dirty="0">
                <a:solidFill>
                  <a:srgbClr val="1A1A1A"/>
                </a:solidFill>
                <a:latin typeface="Open Sans" pitchFamily="34" charset="0"/>
                <a:ea typeface="Open Sans" pitchFamily="34" charset="-122"/>
                <a:cs typeface="Open Sans" pitchFamily="34" charset="-120"/>
              </a:rPr>
              <a:t>Last modified: 3 October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NB6015CEM Session 1</dc:title>
  <dc:subject>PptxGenJS Presentation</dc:subject>
  <dc:creator>Niranga Dharmaratna</dc:creator>
  <cp:lastModifiedBy>Niranga Dharmaratna</cp:lastModifiedBy>
  <cp:revision>1</cp:revision>
  <dcterms:created xsi:type="dcterms:W3CDTF">2026-10-03T18:32:48Z</dcterms:created>
  <dcterms:modified xsi:type="dcterms:W3CDTF">2026-10-03T18:32:48Z</dcterms:modified>
</cp:coreProperties>
</file>