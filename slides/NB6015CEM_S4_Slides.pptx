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taught session. Two duties: teach responsible practice, delivery planning and risk, and close the four-session framing arc. Neither may be dropped for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two payloads early: the legal and ethical analysis, and the delivery plan with its two risk registers. Say that the ethics window opens today because Session 3 fixed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session. The arc is the content, not a courtesy. Students should leave able to state it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reveal the crimson punch line here. Let the room sit with the symptom for a moment before naming the cause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plainly. No bullets. Give it real time. This is the sentence the whole session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has the least legal exposure. The room will say Chathura and be right. Then make the point: least legal exposure is not least ethical exposure. Chathura produces the thing most useful to an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briskly. This is scaffolding, not the differentiator. If time is lost, fold slide 9 into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misreading directly: students hear "my own lab" as a way around the Act. It is not a way around it; it is the reason the Act is not engaged, and they must be able to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all four as questions. A student who cannot answer them has not yet decided what data they hold, which is the session thesis surfacing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synthetic generation as the preferred student strategy. Do not let the room read it as proof that the law is avoidable.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slide in the deck. Read the left column aloud and ask whose proposal it is. Then read two anchor phrases from the right and ask the same question. The full strong paragraph is in the notes; do not try to fit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circulate and look for the sentence that names an instrument but no provision, which is the most common draft. Debrief instrument is the paste test: read a rewritten sentence aloud and ask the room whether it could be anyone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 statement to write into is in the student notes, Section 3. Students should lift the shape and fill it with their own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omission: students skip dual-use because their project is defensive. Chathura is the counter-example and the room can check it. The BCS Code of Conduct is supplementary context only: it is not cited in the module specification, the teaching plan or the rubric, and nothing is assessed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scoping trap out loud. Students routinely submit a plan for producing the proposal. Introduce P-weeks (this module) and D-weeks (delivery) here, because slide 18 depends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ethics approval, is the one milestone the student does not control, which is why it sits in the preparation term: approval is in hand before D1. Everything buildable is a D-week milestone. Point at the critical path explicitly, then at M7: a final milestone in the first month of delivery would mean the proposal was planned,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for both. Students write one. Say which one goes missing and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entry could not be moved to another project. That is the test. Read one aloud and ask whether it would fit the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diagnostic question to the room directly: name the one risk that only your project could have. If the answer would fit a neighbour, the register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will find the risk problem faster than the legal one. Let them have that win quickly, then hold them on round 2: the missing noun in the data sentence is the session thesis in miniature. Full answer key in the lecturer guide, Section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cannot answer the form, the finding is that the method is not yet committed. Send them back to Session 3, not to the legal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descriptors quoted whole and attributed. The Pass descriptor is the diagnostic mirror: the cohort failure appears in the marking standard's own words. Read the phrase about generic treatment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what supervision now exists for. The room turns practical at this point and the boundary is worth stating.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arc, then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the style YAML disclaimer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292608"/>
            <a:ext cx="6949440" cy="548640"/>
          </a:xfrm>
          <a:prstGeom prst="rect">
            <a:avLst/>
          </a:prstGeom>
          <a:noFill/>
          <a:ln/>
        </p:spPr>
        <p:txBody>
          <a:bodyPr wrap="square" lIns="0" tIns="0" rIns="0" bIns="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National Institute of Business Management (NIBM)</a:t>
            </a:r>
            <a:endParaRPr lang="en-US" sz="1300" dirty="0"/>
          </a:p>
          <a:p>
            <a:pPr indent="0" marL="0">
              <a:buNone/>
            </a:pPr>
            <a:r>
              <a:rPr lang="en-US" sz="1300" b="1" dirty="0">
                <a:solidFill>
                  <a:srgbClr val="1A1A1A"/>
                </a:solidFill>
                <a:latin typeface="Open Sans" pitchFamily="34" charset="0"/>
                <a:ea typeface="Open Sans" pitchFamily="34" charset="-122"/>
                <a:cs typeface="Open Sans" pitchFamily="34" charset="-120"/>
              </a:rPr>
              <a:t>Coventry University (CU)</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t"/>
          <a:lstStyle/>
          <a:p>
            <a:pPr indent="0" marL="0">
              <a:buNone/>
            </a:pPr>
            <a:r>
              <a:rPr lang="en-US" sz="1200" b="1" dirty="0">
                <a:solidFill>
                  <a:srgbClr val="1B3A6B"/>
                </a:solidFill>
                <a:latin typeface="Open Sans" pitchFamily="34" charset="0"/>
                <a:ea typeface="Open Sans" pitchFamily="34" charset="-122"/>
                <a:cs typeface="Open Sans" pitchFamily="34" charset="-120"/>
              </a:rPr>
              <a:t>NB6015CEM  |  RESEARCH PROJECT PREPARATION</a:t>
            </a:r>
            <a:endParaRPr lang="en-US" sz="1200" dirty="0"/>
          </a:p>
        </p:txBody>
      </p:sp>
      <p:sp>
        <p:nvSpPr>
          <p:cNvPr id="4" name="Text 2"/>
          <p:cNvSpPr/>
          <p:nvPr/>
        </p:nvSpPr>
        <p:spPr>
          <a:xfrm>
            <a:off x="384048" y="1188720"/>
            <a:ext cx="5760720" cy="1920240"/>
          </a:xfrm>
          <a:prstGeom prst="rect">
            <a:avLst/>
          </a:prstGeom>
          <a:noFill/>
          <a:ln/>
        </p:spPr>
        <p:txBody>
          <a:bodyPr wrap="square" lIns="0" tIns="0" rIns="0" bIns="0" rtlCol="0" anchor="t"/>
          <a:lstStyle/>
          <a:p>
            <a:pPr indent="0" marL="0">
              <a:buNone/>
            </a:pPr>
            <a:r>
              <a:rPr lang="en-US" sz="4600" b="1" dirty="0">
                <a:solidFill>
                  <a:srgbClr val="1A1A1A"/>
                </a:solidFill>
                <a:latin typeface="Open Sans" pitchFamily="34" charset="0"/>
                <a:ea typeface="Open Sans" pitchFamily="34" charset="-122"/>
                <a:cs typeface="Open Sans" pitchFamily="34" charset="-120"/>
              </a:rPr>
              <a:t>Responsible Practice</a:t>
            </a:r>
            <a:endParaRPr lang="en-US" sz="4600" dirty="0"/>
          </a:p>
        </p:txBody>
      </p:sp>
      <p:sp>
        <p:nvSpPr>
          <p:cNvPr id="5" name="Shape 3"/>
          <p:cNvSpPr/>
          <p:nvPr/>
        </p:nvSpPr>
        <p:spPr>
          <a:xfrm>
            <a:off x="384048" y="3145536"/>
            <a:ext cx="749808" cy="82296"/>
          </a:xfrm>
          <a:prstGeom prst="rect">
            <a:avLst/>
          </a:prstGeom>
          <a:solidFill>
            <a:srgbClr val="1B3A6B"/>
          </a:solidFill>
          <a:ln/>
        </p:spPr>
      </p:sp>
      <p:sp>
        <p:nvSpPr>
          <p:cNvPr id="6" name="Shape 4"/>
          <p:cNvSpPr/>
          <p:nvPr/>
        </p:nvSpPr>
        <p:spPr>
          <a:xfrm>
            <a:off x="1188720" y="3145536"/>
            <a:ext cx="384048" cy="82296"/>
          </a:xfrm>
          <a:prstGeom prst="rect">
            <a:avLst/>
          </a:prstGeom>
          <a:solidFill>
            <a:srgbClr val="E0701A"/>
          </a:solidFill>
          <a:ln/>
        </p:spPr>
      </p:sp>
      <p:sp>
        <p:nvSpPr>
          <p:cNvPr id="7" name="Text 5"/>
          <p:cNvSpPr/>
          <p:nvPr/>
        </p:nvSpPr>
        <p:spPr>
          <a:xfrm>
            <a:off x="384048" y="3310128"/>
            <a:ext cx="5303520" cy="731520"/>
          </a:xfrm>
          <a:prstGeom prst="rect">
            <a:avLst/>
          </a:prstGeom>
          <a:noFill/>
          <a:ln/>
        </p:spPr>
        <p:txBody>
          <a:bodyPr wrap="square" lIns="0" tIns="0" rIns="0" bIns="0" rtlCol="0" anchor="t"/>
          <a:lstStyle/>
          <a:p>
            <a:pPr indent="0" marL="0">
              <a:buNone/>
            </a:pPr>
            <a:r>
              <a:rPr lang="en-US" sz="2000" i="1" dirty="0">
                <a:solidFill>
                  <a:srgbClr val="595959"/>
                </a:solidFill>
                <a:latin typeface="Open Sans" pitchFamily="34" charset="0"/>
                <a:ea typeface="Open Sans" pitchFamily="34" charset="-122"/>
                <a:cs typeface="Open Sans" pitchFamily="34" charset="-120"/>
              </a:rPr>
              <a:t>Day 4 - Responsible Practice, Delivery Planning and Ethics</a:t>
            </a:r>
            <a:endParaRPr lang="en-US" sz="2000" dirty="0"/>
          </a:p>
        </p:txBody>
      </p:sp>
      <p:sp>
        <p:nvSpPr>
          <p:cNvPr id="8" name="Text 6"/>
          <p:cNvSpPr/>
          <p:nvPr/>
        </p:nvSpPr>
        <p:spPr>
          <a:xfrm>
            <a:off x="384048" y="4169664"/>
            <a:ext cx="5303520" cy="310896"/>
          </a:xfrm>
          <a:prstGeom prst="rect">
            <a:avLst/>
          </a:prstGeom>
          <a:noFill/>
          <a:ln/>
        </p:spPr>
        <p:txBody>
          <a:bodyPr wrap="square" lIns="0" tIns="0" rIns="0" bIns="0" rtlCol="0" anchor="t"/>
          <a:lstStyle/>
          <a:p>
            <a:pPr indent="0" marL="0">
              <a:buNone/>
            </a:pPr>
            <a:r>
              <a:rPr lang="en-US" sz="1300" b="1" dirty="0">
                <a:solidFill>
                  <a:srgbClr val="1B3A6B"/>
                </a:solidFill>
                <a:latin typeface="Open Sans" pitchFamily="34" charset="0"/>
                <a:ea typeface="Open Sans" pitchFamily="34" charset="-122"/>
                <a:cs typeface="Open Sans" pitchFamily="34" charset="-120"/>
              </a:rPr>
              <a:t>BSc (Hons) Ethical Hacking &amp; Network Security</a:t>
            </a:r>
            <a:endParaRPr lang="en-US" sz="1300" dirty="0"/>
          </a:p>
        </p:txBody>
      </p:sp>
      <p:sp>
        <p:nvSpPr>
          <p:cNvPr id="9" name="Text 7"/>
          <p:cNvSpPr/>
          <p:nvPr/>
        </p:nvSpPr>
        <p:spPr>
          <a:xfrm>
            <a:off x="384048" y="4681728"/>
            <a:ext cx="5029200" cy="329184"/>
          </a:xfrm>
          <a:prstGeom prst="rect">
            <a:avLst/>
          </a:prstGeom>
          <a:noFill/>
          <a:ln/>
        </p:spPr>
        <p:txBody>
          <a:bodyPr wrap="square" lIns="0" tIns="0" rIns="0" bIns="0" rtlCol="0" anchor="t"/>
          <a:lstStyle/>
          <a:p>
            <a:pPr indent="0" marL="0">
              <a:buNone/>
            </a:pPr>
            <a:r>
              <a:rPr lang="en-US" sz="1300" dirty="0">
                <a:solidFill>
                  <a:srgbClr val="595959"/>
                </a:solidFill>
                <a:latin typeface="Open Sans" pitchFamily="34" charset="0"/>
                <a:ea typeface="Open Sans" pitchFamily="34" charset="-122"/>
                <a:cs typeface="Open Sans" pitchFamily="34" charset="-120"/>
              </a:rPr>
              <a:t>Niranga Dharmaratna  |  niranga@nibm.lk</a:t>
            </a:r>
            <a:endParaRPr lang="en-US" sz="1300" dirty="0"/>
          </a:p>
        </p:txBody>
      </p:sp>
      <p:pic>
        <p:nvPicPr>
          <p:cNvPr id="10" name="Image 0" descr="preencoded.png">    </p:cNvPr>
          <p:cNvPicPr>
            <a:picLocks noChangeAspect="1"/>
          </p:cNvPicPr>
          <p:nvPr/>
        </p:nvPicPr>
        <p:blipFill>
          <a:blip r:embed="rId1"/>
          <a:stretch>
            <a:fillRect/>
          </a:stretch>
        </p:blipFill>
        <p:spPr>
          <a:xfrm>
            <a:off x="5943600" y="662940"/>
            <a:ext cx="2834640" cy="4251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Today's aims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137160" y="1417320"/>
            <a:ext cx="4114800" cy="777240"/>
          </a:xfrm>
          <a:prstGeom prst="rect">
            <a:avLst/>
          </a:prstGeom>
          <a:solidFill>
            <a:srgbClr val="E0701A"/>
          </a:solidFill>
          <a:ln/>
        </p:spPr>
        <p:txBody>
          <a:bodyPr wrap="square" lIns="101600" tIns="101600" rIns="101600" bIns="101600" rtlCol="0" anchor="ctr"/>
          <a:lstStyle/>
          <a:p>
            <a:pPr indent="0" marL="0">
              <a:buNone/>
            </a:pPr>
            <a:r>
              <a:rPr lang="en-US" sz="1700" b="1" dirty="0">
                <a:solidFill>
                  <a:srgbClr val="1A1A1A"/>
                </a:solidFill>
                <a:latin typeface="Open Sans" pitchFamily="34" charset="0"/>
                <a:ea typeface="Open Sans" pitchFamily="34" charset="-122"/>
                <a:cs typeface="Open Sans" pitchFamily="34" charset="-120"/>
              </a:rPr>
              <a:t>Making the law specific to your project</a:t>
            </a:r>
            <a:endParaRPr lang="en-US" sz="1700" dirty="0"/>
          </a:p>
        </p:txBody>
      </p:sp>
      <p:sp>
        <p:nvSpPr>
          <p:cNvPr id="7" name="Text 5"/>
          <p:cNvSpPr/>
          <p:nvPr/>
        </p:nvSpPr>
        <p:spPr>
          <a:xfrm>
            <a:off x="228600" y="2240280"/>
            <a:ext cx="5029200" cy="2423160"/>
          </a:xfrm>
          <a:prstGeom prst="rect">
            <a:avLst/>
          </a:prstGeom>
          <a:solidFill>
            <a:srgbClr val="C5D6E8"/>
          </a:solidFill>
          <a:ln/>
        </p:spPr>
        <p:txBody>
          <a:bodyPr wrap="square" lIns="127000" tIns="127000" rIns="127000" bIns="127000" rtlCol="0" anchor="t"/>
          <a:lstStyle/>
          <a:p>
            <a:pPr marL="342900" indent="-342900">
              <a:spcAft>
                <a:spcPts val="800"/>
              </a:spcAft>
              <a:buSzPct val="100000"/>
              <a:buChar char="•"/>
            </a:pPr>
            <a:r>
              <a:rPr lang="en-US" sz="1500" b="1" dirty="0">
                <a:solidFill>
                  <a:srgbClr val="1A1A1A"/>
                </a:solidFill>
                <a:latin typeface="Open Sans" pitchFamily="34" charset="0"/>
                <a:ea typeface="Open Sans" pitchFamily="34" charset="-122"/>
                <a:cs typeface="Open Sans" pitchFamily="34" charset="-120"/>
              </a:rPr>
              <a:t>Analyse the legal, ethical, social and professional implications for your project, not for projects in general</a:t>
            </a:r>
            <a:endParaRPr lang="en-US" sz="1500" dirty="0"/>
          </a:p>
          <a:p>
            <a:pPr marL="342900" indent="-342900">
              <a:spcAft>
                <a:spcPts val="800"/>
              </a:spcAft>
              <a:buSzPct val="100000"/>
              <a:buChar char="•"/>
            </a:pPr>
            <a:r>
              <a:rPr lang="en-US" sz="1500" b="1" dirty="0">
                <a:solidFill>
                  <a:srgbClr val="1A1A1A"/>
                </a:solidFill>
                <a:latin typeface="Open Sans" pitchFamily="34" charset="0"/>
                <a:ea typeface="Open Sans" pitchFamily="34" charset="-122"/>
                <a:cs typeface="Open Sans" pitchFamily="34" charset="-120"/>
              </a:rPr>
              <a:t>Build a milestone-based delivery plan and a two-register risk assessment</a:t>
            </a:r>
            <a:endParaRPr lang="en-US" sz="1500" dirty="0"/>
          </a:p>
          <a:p>
            <a:pPr marL="342900" indent="-342900">
              <a:spcAft>
                <a:spcPts val="800"/>
              </a:spcAft>
              <a:buSzPct val="100000"/>
              <a:buChar char="•"/>
            </a:pPr>
            <a:r>
              <a:rPr lang="en-US" sz="1500" b="1" dirty="0">
                <a:solidFill>
                  <a:srgbClr val="1A1A1A"/>
                </a:solidFill>
                <a:latin typeface="Open Sans" pitchFamily="34" charset="0"/>
                <a:ea typeface="Open Sans" pitchFamily="34" charset="-122"/>
                <a:cs typeface="Open Sans" pitchFamily="34" charset="-120"/>
              </a:rPr>
              <a:t>Start the ethics application</a:t>
            </a:r>
            <a:endParaRPr lang="en-US" sz="1500" dirty="0"/>
          </a:p>
        </p:txBody>
      </p:sp>
      <p:sp>
        <p:nvSpPr>
          <p:cNvPr id="8" name="Shape 6"/>
          <p:cNvSpPr/>
          <p:nvPr/>
        </p:nvSpPr>
        <p:spPr>
          <a:xfrm>
            <a:off x="5394960" y="1417320"/>
            <a:ext cx="3611880" cy="3246120"/>
          </a:xfrm>
          <a:prstGeom prst="rect">
            <a:avLst/>
          </a:prstGeom>
          <a:solidFill>
            <a:srgbClr val="EAF0F6"/>
          </a:solidFill>
          <a:ln/>
        </p:spPr>
      </p:sp>
      <p:sp>
        <p:nvSpPr>
          <p:cNvPr id="9" name="Text 7"/>
          <p:cNvSpPr/>
          <p:nvPr/>
        </p:nvSpPr>
        <p:spPr>
          <a:xfrm>
            <a:off x="5577840" y="1572768"/>
            <a:ext cx="3246120" cy="274320"/>
          </a:xfrm>
          <a:prstGeom prst="rect">
            <a:avLst/>
          </a:prstGeom>
          <a:noFill/>
          <a:ln/>
        </p:spPr>
        <p:txBody>
          <a:bodyPr wrap="square" lIns="0" tIns="0" rIns="0" bIns="0" rtlCol="0" anchor="t"/>
          <a:lstStyle/>
          <a:p>
            <a:pPr indent="0" marL="0">
              <a:buNone/>
            </a:pPr>
            <a:r>
              <a:rPr lang="en-US" sz="1400" b="1" dirty="0">
                <a:solidFill>
                  <a:srgbClr val="1B3A6B"/>
                </a:solidFill>
                <a:latin typeface="Open Sans" pitchFamily="34" charset="0"/>
                <a:ea typeface="Open Sans" pitchFamily="34" charset="-122"/>
                <a:cs typeface="Open Sans" pitchFamily="34" charset="-120"/>
              </a:rPr>
              <a:t>What this unlocks</a:t>
            </a:r>
            <a:endParaRPr lang="en-US" sz="1400" dirty="0"/>
          </a:p>
        </p:txBody>
      </p:sp>
      <p:sp>
        <p:nvSpPr>
          <p:cNvPr id="10" name="Text 8"/>
          <p:cNvSpPr/>
          <p:nvPr/>
        </p:nvSpPr>
        <p:spPr>
          <a:xfrm>
            <a:off x="5577840" y="1920240"/>
            <a:ext cx="3246120" cy="2606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Open Sans" pitchFamily="34" charset="0"/>
                <a:ea typeface="Open Sans" pitchFamily="34" charset="-122"/>
                <a:cs typeface="Open Sans" pitchFamily="34" charset="-120"/>
              </a:rPr>
              <a:t>The Week 8 proposal draft</a:t>
            </a:r>
            <a:endParaRPr lang="en-US" sz="1300" dirty="0"/>
          </a:p>
          <a:p>
            <a:pPr marL="342900" indent="-342900">
              <a:spcAft>
                <a:spcPts val="800"/>
              </a:spcAft>
              <a:buSzPct val="100000"/>
              <a:buChar char="•"/>
            </a:pPr>
            <a:r>
              <a:rPr lang="en-US" sz="1300" dirty="0">
                <a:solidFill>
                  <a:srgbClr val="1A1A1A"/>
                </a:solidFill>
                <a:latin typeface="Open Sans" pitchFamily="34" charset="0"/>
                <a:ea typeface="Open Sans" pitchFamily="34" charset="-122"/>
                <a:cs typeface="Open Sans" pitchFamily="34" charset="-120"/>
              </a:rPr>
              <a:t>The Week 7 ethics application window, opening today</a:t>
            </a:r>
            <a:endParaRPr lang="en-US" sz="1300" dirty="0"/>
          </a:p>
          <a:p>
            <a:pPr marL="342900" indent="-342900">
              <a:spcAft>
                <a:spcPts val="800"/>
              </a:spcAft>
              <a:buSzPct val="100000"/>
              <a:buChar char="•"/>
            </a:pPr>
            <a:r>
              <a:rPr lang="en-US" sz="1300" dirty="0">
                <a:solidFill>
                  <a:srgbClr val="1A1A1A"/>
                </a:solidFill>
                <a:latin typeface="Open Sans" pitchFamily="34" charset="0"/>
                <a:ea typeface="Open Sans" pitchFamily="34" charset="-122"/>
                <a:cs typeface="Open Sans" pitchFamily="34" charset="-120"/>
              </a:rPr>
              <a:t>Appendix A of the Week 12 submission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arc completes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82880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600" b="1" dirty="0">
                <a:solidFill>
                  <a:srgbClr val="1A1A1A"/>
                </a:solidFill>
                <a:latin typeface="Open Sans" pitchFamily="34" charset="0"/>
                <a:ea typeface="Open Sans" pitchFamily="34" charset="-122"/>
                <a:cs typeface="Open Sans" pitchFamily="34" charset="-120"/>
              </a:rPr>
              <a:t>Session 1 framed the problem.</a:t>
            </a:r>
            <a:endParaRPr lang="en-US" sz="1600" dirty="0"/>
          </a:p>
          <a:p>
            <a:pPr marL="342900" indent="-342900">
              <a:lnSpc>
                <a:spcPct val="105000"/>
              </a:lnSpc>
              <a:spcAft>
                <a:spcPts val="600"/>
              </a:spcAft>
              <a:buSzPct val="100000"/>
              <a:buChar char="•"/>
            </a:pPr>
            <a:r>
              <a:rPr lang="en-US" sz="1600" b="1" dirty="0">
                <a:solidFill>
                  <a:srgbClr val="1A1A1A"/>
                </a:solidFill>
                <a:latin typeface="Open Sans" pitchFamily="34" charset="0"/>
                <a:ea typeface="Open Sans" pitchFamily="34" charset="-122"/>
                <a:cs typeface="Open Sans" pitchFamily="34" charset="-120"/>
              </a:rPr>
              <a:t>Session 2 framed it against the known.</a:t>
            </a:r>
            <a:endParaRPr lang="en-US" sz="1600" dirty="0"/>
          </a:p>
          <a:p>
            <a:pPr marL="342900" indent="-342900">
              <a:lnSpc>
                <a:spcPct val="105000"/>
              </a:lnSpc>
              <a:spcAft>
                <a:spcPts val="600"/>
              </a:spcAft>
              <a:buSzPct val="100000"/>
              <a:buChar char="•"/>
            </a:pPr>
            <a:r>
              <a:rPr lang="en-US" sz="1600" b="1" dirty="0">
                <a:solidFill>
                  <a:srgbClr val="1A1A1A"/>
                </a:solidFill>
                <a:latin typeface="Open Sans" pitchFamily="34" charset="0"/>
                <a:ea typeface="Open Sans" pitchFamily="34" charset="-122"/>
                <a:cs typeface="Open Sans" pitchFamily="34" charset="-120"/>
              </a:rPr>
              <a:t>Session 3 framed it as testable.</a:t>
            </a:r>
            <a:endParaRPr lang="en-US" sz="1600" dirty="0"/>
          </a:p>
          <a:p>
            <a:pPr marL="342900" indent="-342900">
              <a:lnSpc>
                <a:spcPct val="105000"/>
              </a:lnSpc>
              <a:spcAft>
                <a:spcPts val="600"/>
              </a:spcAft>
              <a:buSzPct val="100000"/>
              <a:buChar char="•"/>
            </a:pPr>
            <a:r>
              <a:rPr lang="en-US" sz="1600" b="1" dirty="0">
                <a:solidFill>
                  <a:srgbClr val="1A1A1A"/>
                </a:solidFill>
                <a:latin typeface="Open Sans" pitchFamily="34" charset="0"/>
                <a:ea typeface="Open Sans" pitchFamily="34" charset="-122"/>
                <a:cs typeface="Open Sans" pitchFamily="34" charset="-120"/>
              </a:rPr>
              <a:t>Session 4 frames its boundaries and consequences.</a:t>
            </a:r>
            <a:endParaRPr lang="en-US" sz="1600" dirty="0"/>
          </a:p>
        </p:txBody>
      </p:sp>
      <p:sp>
        <p:nvSpPr>
          <p:cNvPr id="7" name="Text 5"/>
          <p:cNvSpPr/>
          <p:nvPr/>
        </p:nvSpPr>
        <p:spPr>
          <a:xfrm>
            <a:off x="731520" y="3383280"/>
            <a:ext cx="7690104" cy="822960"/>
          </a:xfrm>
          <a:prstGeom prst="rect">
            <a:avLst/>
          </a:prstGeom>
          <a:solidFill>
            <a:srgbClr val="E3E9EF"/>
          </a:solidFill>
          <a:ln/>
        </p:spPr>
        <p:txBody>
          <a:bodyPr wrap="square" lIns="127000" tIns="127000" rIns="127000" bIns="127000" rtlCol="0" anchor="ctr"/>
          <a:lstStyle/>
          <a:p>
            <a:pPr indent="0" marL="0">
              <a:buNone/>
            </a:pPr>
            <a:r>
              <a:rPr lang="en-US" sz="1500" b="1" dirty="0">
                <a:solidFill>
                  <a:srgbClr val="1A1A1A"/>
                </a:solidFill>
                <a:latin typeface="Open Sans" pitchFamily="34" charset="0"/>
                <a:ea typeface="Open Sans" pitchFamily="34" charset="-122"/>
                <a:cs typeface="Open Sans" pitchFamily="34" charset="-120"/>
              </a:rPr>
              <a:t>Authorisation limits, legal exposure and disclosure define where the work may and may not go.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diagnostic</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1488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A Pass-band responsible-practice section names the instruments and applies neither</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It asserts compliance instead of deriving obligations: "conducted ethically", "stored securely"</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It never says what data the project actually holds</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Its risk register lists the risks of being a student, not the risks of this project</a:t>
            </a:r>
            <a:endParaRPr lang="en-US" sz="1500" dirty="0"/>
          </a:p>
        </p:txBody>
      </p:sp>
      <p:sp>
        <p:nvSpPr>
          <p:cNvPr id="7" name="Text 5"/>
          <p:cNvSpPr/>
          <p:nvPr/>
        </p:nvSpPr>
        <p:spPr>
          <a:xfrm>
            <a:off x="731520" y="3703320"/>
            <a:ext cx="7690104" cy="685800"/>
          </a:xfrm>
          <a:prstGeom prst="rect">
            <a:avLst/>
          </a:prstGeom>
          <a:solidFill>
            <a:srgbClr val="E0701A"/>
          </a:solidFill>
          <a:ln/>
        </p:spPr>
        <p:txBody>
          <a:bodyPr wrap="square" lIns="127000" tIns="127000" rIns="127000" bIns="127000" rtlCol="0" anchor="ctr"/>
          <a:lstStyle/>
          <a:p>
            <a:pPr indent="0" marL="0">
              <a:buNone/>
            </a:pPr>
            <a:r>
              <a:rPr lang="en-US" sz="1500" b="1" dirty="0">
                <a:solidFill>
                  <a:srgbClr val="1A1A1A"/>
                </a:solidFill>
                <a:latin typeface="Open Sans" pitchFamily="34" charset="0"/>
                <a:ea typeface="Open Sans" pitchFamily="34" charset="-122"/>
                <a:cs typeface="Open Sans" pitchFamily="34" charset="-120"/>
              </a:rPr>
              <a:t>The test you will apply all session: Could this sentence appear unchanged in someone else's proposal?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11E2A"/>
          </a:solidFill>
          <a:ln/>
        </p:spPr>
      </p:sp>
      <p:sp>
        <p:nvSpPr>
          <p:cNvPr id="3" name="Text 1"/>
          <p:cNvSpPr/>
          <p:nvPr/>
        </p:nvSpPr>
        <p:spPr>
          <a:xfrm>
            <a:off x="731520" y="640080"/>
            <a:ext cx="5029200" cy="310896"/>
          </a:xfrm>
          <a:prstGeom prst="rect">
            <a:avLst/>
          </a:prstGeom>
          <a:noFill/>
          <a:ln/>
        </p:spPr>
        <p:txBody>
          <a:bodyPr wrap="square" lIns="0" tIns="0" rIns="0" bIns="0" rtlCol="0" anchor="t"/>
          <a:lstStyle/>
          <a:p>
            <a:pPr indent="0" marL="0">
              <a:buNone/>
            </a:pPr>
            <a:r>
              <a:rPr lang="en-US" sz="1300" b="1" spc="200" kern="0" dirty="0">
                <a:solidFill>
                  <a:srgbClr val="FFFFFF"/>
                </a:solidFill>
                <a:latin typeface="Open Sans" pitchFamily="34" charset="0"/>
                <a:ea typeface="Open Sans" pitchFamily="34" charset="-122"/>
                <a:cs typeface="Open Sans" pitchFamily="34" charset="-120"/>
              </a:rPr>
              <a:t>KEY CONCEPT</a:t>
            </a:r>
            <a:endParaRPr lang="en-US" sz="1300" dirty="0"/>
          </a:p>
        </p:txBody>
      </p:sp>
      <p:sp>
        <p:nvSpPr>
          <p:cNvPr id="4" name="Shape 2"/>
          <p:cNvSpPr/>
          <p:nvPr/>
        </p:nvSpPr>
        <p:spPr>
          <a:xfrm>
            <a:off x="731520" y="1024128"/>
            <a:ext cx="502920" cy="54864"/>
          </a:xfrm>
          <a:prstGeom prst="rect">
            <a:avLst/>
          </a:prstGeom>
          <a:solidFill>
            <a:srgbClr val="E0701A"/>
          </a:solidFill>
          <a:ln/>
        </p:spPr>
      </p:sp>
      <p:sp>
        <p:nvSpPr>
          <p:cNvPr id="5" name="Text 3"/>
          <p:cNvSpPr/>
          <p:nvPr/>
        </p:nvSpPr>
        <p:spPr>
          <a:xfrm>
            <a:off x="731520" y="1188720"/>
            <a:ext cx="7690104" cy="118872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Why your legal section reads like everyone else's</a:t>
            </a:r>
            <a:endParaRPr lang="en-US" sz="3200" dirty="0"/>
          </a:p>
        </p:txBody>
      </p:sp>
      <p:sp>
        <p:nvSpPr>
          <p:cNvPr id="6" name="Text 4"/>
          <p:cNvSpPr/>
          <p:nvPr/>
        </p:nvSpPr>
        <p:spPr>
          <a:xfrm>
            <a:off x="731520" y="2560320"/>
            <a:ext cx="7690104" cy="1645920"/>
          </a:xfrm>
          <a:prstGeom prst="rect">
            <a:avLst/>
          </a:prstGeom>
          <a:noFill/>
          <a:ln/>
        </p:spPr>
        <p:txBody>
          <a:bodyPr wrap="square" lIns="0" tIns="0" rIns="0" bIns="0" rtlCol="0" anchor="t"/>
          <a:lstStyle/>
          <a:p>
            <a:pPr indent="0" marL="0">
              <a:buNone/>
            </a:pPr>
            <a:r>
              <a:rPr lang="en-US" sz="2000" b="1" dirty="0">
                <a:solidFill>
                  <a:srgbClr val="FFFFFF"/>
                </a:solidFill>
                <a:latin typeface="Open Sans" pitchFamily="34" charset="0"/>
                <a:ea typeface="Open Sans" pitchFamily="34" charset="-122"/>
                <a:cs typeface="Open Sans" pitchFamily="34" charset="-120"/>
              </a:rPr>
              <a:t>The law becomes specific at the exact moment your method does. Generic legal analysis is a symptom of an uncommitted method, not a missing statute.</a:t>
            </a:r>
            <a:endParaRPr lang="en-US" sz="2000" dirty="0"/>
          </a:p>
        </p:txBody>
      </p:sp>
      <p:sp>
        <p:nvSpPr>
          <p:cNvPr id="7" name="Shape 5"/>
          <p:cNvSpPr/>
          <p:nvPr/>
        </p:nvSpPr>
        <p:spPr>
          <a:xfrm>
            <a:off x="731520" y="4617720"/>
            <a:ext cx="502920" cy="64008"/>
          </a:xfrm>
          <a:prstGeom prst="rect">
            <a:avLst/>
          </a:prstGeom>
          <a:solidFill>
            <a:srgbClr val="1B3A6B"/>
          </a:solidFill>
          <a:ln/>
        </p:spPr>
      </p:sp>
      <p:sp>
        <p:nvSpPr>
          <p:cNvPr id="8" name="Shape 6"/>
          <p:cNvSpPr/>
          <p:nvPr/>
        </p:nvSpPr>
        <p:spPr>
          <a:xfrm>
            <a:off x="1280160" y="4617720"/>
            <a:ext cx="256032" cy="64008"/>
          </a:xfrm>
          <a:prstGeom prst="rect">
            <a:avLst/>
          </a:prstGeom>
          <a:solidFill>
            <a:srgbClr val="E0701A"/>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Proof: three projects, three answers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1600200"/>
                <a:gridCol w="3246120"/>
                <a:gridCol w="2843784"/>
              </a:tblGrid>
              <a:tr h="0">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Project</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The method feature that triggers it</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What bites hardest</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E1 Tharindu, detection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Consumes authentication events that link a credential identifier to an access attempt</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Data protection: lawful basis and data minimisation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E2 Chathura, hardening</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Produces a measured map of which attack techniques a configuration baseline stops and which it does not</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 statute bites; the live issues are dual-use and disclosure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E3 Dilini, methodology</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Seeds authorisation flaws into a health-domain API and tests reaching records across roles</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Special-category data, and the authorisation boundary itself</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731520" y="3977640"/>
            <a:ext cx="7690104" cy="566928"/>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Every answer is derived from the method, not from the law.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01   Legal, Ethical and</a:t>
            </a:r>
            <a:endParaRPr lang="en-US" sz="3600" dirty="0"/>
          </a:p>
          <a:p>
            <a:pPr indent="0" marL="0">
              <a:buNone/>
            </a:pPr>
            <a:r>
              <a:rPr lang="en-US" sz="3600" b="1" dirty="0">
                <a:solidFill>
                  <a:srgbClr val="1A1A1A"/>
                </a:solidFill>
                <a:latin typeface="Open Sans" pitchFamily="34" charset="0"/>
                <a:ea typeface="Open Sans" pitchFamily="34" charset="-122"/>
                <a:cs typeface="Open Sans" pitchFamily="34" charset="-120"/>
              </a:rPr>
              <a:t>Responsible Practice</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Computer Misuse Act 1990</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1488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Section 1: unauthorised access to computer material</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Section 3: unauthorised acts with intent to impair the operation of a computer</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Authorisation is the hinge. Both sections turn on access or acts being unauthorised</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It is a question of fact about permission, not a question about your intent or your skill</a:t>
            </a:r>
            <a:endParaRPr lang="en-US" sz="1500" dirty="0"/>
          </a:p>
        </p:txBody>
      </p:sp>
      <p:sp>
        <p:nvSpPr>
          <p:cNvPr id="7" name="Text 5"/>
          <p:cNvSpPr/>
          <p:nvPr/>
        </p:nvSpPr>
        <p:spPr>
          <a:xfrm>
            <a:off x="731520" y="3703320"/>
            <a:ext cx="7690104" cy="77724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A skilled, well-meaning test on a system you do not own is still unauthorised. A clumsy test on your own testbed is not.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Authorisation and testing boundaries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3317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Work in a cleared environment: a self-built testbed is authorised by its owner, and you are the owner</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Document that authorisation in the project log rather than assuming it</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Isolate the environment so that nothing you generate reaches an external host</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Decide the boundary before the work starts, never after something interesting happens</a:t>
            </a:r>
            <a:endParaRPr lang="en-US" sz="1500" dirty="0"/>
          </a:p>
        </p:txBody>
      </p:sp>
      <p:sp>
        <p:nvSpPr>
          <p:cNvPr id="7" name="Text 5"/>
          <p:cNvSpPr/>
          <p:nvPr/>
        </p:nvSpPr>
        <p:spPr>
          <a:xfrm>
            <a:off x="731520" y="3840480"/>
            <a:ext cx="7690104" cy="68580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An owned testbed is an authorisation, not a loophole. Say why the section is not engaged.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GDPR: the provisions that bite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3317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Lawful basis: on what basis do you process the personal data your method touches?</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Data minimisation: what is the least you could hold and still answer your question?</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Special-category data: does your domain make the data health, biometric or otherwise special?</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Storage limitation and retention: how long do you hold it, and what destroys it?</a:t>
            </a:r>
            <a:endParaRPr lang="en-US" sz="1500" dirty="0"/>
          </a:p>
        </p:txBody>
      </p:sp>
      <p:sp>
        <p:nvSpPr>
          <p:cNvPr id="7" name="Text 5"/>
          <p:cNvSpPr/>
          <p:nvPr/>
        </p:nvSpPr>
        <p:spPr>
          <a:xfrm>
            <a:off x="731520" y="3840480"/>
            <a:ext cx="7690104" cy="640080"/>
          </a:xfrm>
          <a:prstGeom prst="rect">
            <a:avLst/>
          </a:prstGeom>
          <a:solidFill>
            <a:srgbClr val="E0701A"/>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Each one is a question about your dataset, not a definition to be recited.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Applied to the cast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82880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Tharindu, Sevana Bank: authentication events link a credential identifier to an access attempt, so they are personal data</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Dilini, Suwa Sevana Teaching Hospital: patient-portal records sit squarely in special-category territory</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Both answer the same way: generate the data synthetically rather than capture it</a:t>
            </a:r>
            <a:endParaRPr lang="en-US" sz="1500" dirty="0"/>
          </a:p>
        </p:txBody>
      </p:sp>
      <p:sp>
        <p:nvSpPr>
          <p:cNvPr id="7" name="Text 5"/>
          <p:cNvSpPr/>
          <p:nvPr/>
        </p:nvSpPr>
        <p:spPr>
          <a:xfrm>
            <a:off x="731520" y="3383280"/>
            <a:ext cx="7690104" cy="82296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Synthetic generation is the strongest answer available to a student because it removes the question rather than satisfying it.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Generic versus project-specific</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417320"/>
            <a:ext cx="4133088" cy="402336"/>
          </a:xfrm>
          <a:prstGeom prst="rect">
            <a:avLst/>
          </a:prstGeom>
          <a:solidFill>
            <a:srgbClr val="1B3A6B"/>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Generic: fits anyone</a:t>
            </a:r>
            <a:endParaRPr lang="en-US" sz="1500" dirty="0"/>
          </a:p>
        </p:txBody>
      </p:sp>
      <p:sp>
        <p:nvSpPr>
          <p:cNvPr id="7" name="Text 5"/>
          <p:cNvSpPr/>
          <p:nvPr/>
        </p:nvSpPr>
        <p:spPr>
          <a:xfrm>
            <a:off x="4645152" y="1417320"/>
            <a:ext cx="4133088" cy="402336"/>
          </a:xfrm>
          <a:prstGeom prst="rect">
            <a:avLst/>
          </a:prstGeom>
          <a:solidFill>
            <a:srgbClr val="E0701A"/>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Specific: could only be Tharindu</a:t>
            </a:r>
            <a:endParaRPr lang="en-US" sz="1500" dirty="0"/>
          </a:p>
        </p:txBody>
      </p:sp>
      <p:sp>
        <p:nvSpPr>
          <p:cNvPr id="8" name="Text 6"/>
          <p:cNvSpPr/>
          <p:nvPr/>
        </p:nvSpPr>
        <p:spPr>
          <a:xfrm>
            <a:off x="411480" y="1819656"/>
            <a:ext cx="4133088" cy="2798064"/>
          </a:xfrm>
          <a:prstGeom prst="rect">
            <a:avLst/>
          </a:prstGeom>
          <a:noFill/>
          <a:ln w="9525">
            <a:solidFill>
              <a:srgbClr val="CCCCCC"/>
            </a:solidFill>
          </a:ln>
        </p:spPr>
        <p:txBody>
          <a:bodyPr wrap="square" lIns="101600" tIns="101600" rIns="101600" bIns="101600" rtlCol="0" anchor="t"/>
          <a:lstStyle/>
          <a:p>
            <a:pPr indent="0" marL="0">
              <a:spcAft>
                <a:spcPts val="600"/>
              </a:spcAft>
              <a:buNone/>
            </a:pPr>
            <a:r>
              <a:rPr lang="en-US" sz="1100" dirty="0">
                <a:solidFill>
                  <a:srgbClr val="1A1A1A"/>
                </a:solidFill>
                <a:latin typeface="Open Sans" pitchFamily="34" charset="0"/>
                <a:ea typeface="Open Sans" pitchFamily="34" charset="-122"/>
                <a:cs typeface="Open Sans" pitchFamily="34" charset="-120"/>
              </a:rPr>
              <a:t>This project will comply with the Computer Misuse Act 1990 and the General Data Protection Regulation. All testing will be conducted ethically and within the law. Data will be stored securely and deleted after the project. Ethical approval will be obtained before any work begins.</a:t>
            </a:r>
            <a:endParaRPr lang="en-US" sz="1100" dirty="0"/>
          </a:p>
        </p:txBody>
      </p:sp>
      <p:sp>
        <p:nvSpPr>
          <p:cNvPr id="9" name="Text 7"/>
          <p:cNvSpPr/>
          <p:nvPr/>
        </p:nvSpPr>
        <p:spPr>
          <a:xfrm>
            <a:off x="4645152" y="1819656"/>
            <a:ext cx="4133088" cy="2798064"/>
          </a:xfrm>
          <a:prstGeom prst="rect">
            <a:avLst/>
          </a:prstGeom>
          <a:noFill/>
          <a:ln w="9525">
            <a:solidFill>
              <a:srgbClr val="CCCCCC"/>
            </a:solidFill>
          </a:ln>
        </p:spPr>
        <p:txBody>
          <a:bodyPr wrap="square" lIns="101600" tIns="101600" rIns="101600" bIns="101600" rtlCol="0" anchor="t"/>
          <a:lstStyle/>
          <a:p>
            <a:pPr indent="0" marL="0">
              <a:spcAft>
                <a:spcPts val="500"/>
              </a:spcAft>
              <a:buNone/>
            </a:pPr>
            <a:r>
              <a:rPr lang="en-US" sz="1200" b="1" dirty="0">
                <a:solidFill>
                  <a:srgbClr val="E0701A"/>
                </a:solidFill>
                <a:latin typeface="Open Sans" pitchFamily="34" charset="0"/>
                <a:ea typeface="Open Sans" pitchFamily="34" charset="-122"/>
                <a:cs typeface="Open Sans" pitchFamily="34" charset="-120"/>
              </a:rPr>
              <a:t>The three tells</a:t>
            </a:r>
            <a:endParaRPr lang="en-US" sz="1100" dirty="0"/>
          </a:p>
          <a:p>
            <a:pPr indent="0" marL="0">
              <a:spcAft>
                <a:spcPts val="500"/>
              </a:spcAft>
              <a:buNone/>
            </a:pPr>
            <a:r>
              <a:rPr lang="en-US" sz="1100" dirty="0">
                <a:solidFill>
                  <a:srgbClr val="1A1A1A"/>
                </a:solidFill>
                <a:latin typeface="Open Sans" pitchFamily="34" charset="0"/>
                <a:ea typeface="Open Sans" pitchFamily="34" charset="-122"/>
                <a:cs typeface="Open Sans" pitchFamily="34" charset="-120"/>
              </a:rPr>
              <a:t>A named provision. A named artefact of this project. A consequence that changes what you will do.</a:t>
            </a:r>
            <a:endParaRPr lang="en-US" sz="1100" dirty="0"/>
          </a:p>
          <a:p>
            <a:pPr indent="0" marL="0">
              <a:spcAft>
                <a:spcPts val="500"/>
              </a:spcAft>
              <a:buNone/>
            </a:pPr>
            <a:r>
              <a:rPr lang="en-US" sz="1200" b="1" dirty="0">
                <a:solidFill>
                  <a:srgbClr val="E0701A"/>
                </a:solidFill>
                <a:latin typeface="Open Sans" pitchFamily="34" charset="0"/>
                <a:ea typeface="Open Sans" pitchFamily="34" charset="-122"/>
                <a:cs typeface="Open Sans" pitchFamily="34" charset="-120"/>
              </a:rPr>
              <a:t>Anchor phrases from the full paragraph</a:t>
            </a:r>
            <a:endParaRPr lang="en-US" sz="1100" dirty="0"/>
          </a:p>
          <a:p>
            <a:pPr indent="0" marL="0">
              <a:spcAft>
                <a:spcPts val="500"/>
              </a:spcAft>
              <a:buNone/>
            </a:pPr>
            <a:r>
              <a:rPr lang="en-US" sz="1100" dirty="0">
                <a:solidFill>
                  <a:srgbClr val="1A1A1A"/>
                </a:solidFill>
                <a:latin typeface="Open Sans" pitchFamily="34" charset="0"/>
                <a:ea typeface="Open Sans" pitchFamily="34" charset="-122"/>
                <a:cs typeface="Open Sans" pitchFamily="34" charset="-120"/>
              </a:rPr>
              <a:t>"section 1 is not engaged, and the authorisation is recorded in the project log"</a:t>
            </a:r>
            <a:endParaRPr lang="en-US" sz="1100" dirty="0"/>
          </a:p>
          <a:p>
            <a:pPr indent="0" marL="0">
              <a:spcAft>
                <a:spcPts val="500"/>
              </a:spcAft>
              <a:buNone/>
            </a:pPr>
            <a:r>
              <a:rPr lang="en-US" sz="1100" dirty="0">
                <a:solidFill>
                  <a:srgbClr val="1A1A1A"/>
                </a:solidFill>
                <a:latin typeface="Open Sans" pitchFamily="34" charset="0"/>
                <a:ea typeface="Open Sans" pitchFamily="34" charset="-122"/>
                <a:cs typeface="Open Sans" pitchFamily="34" charset="-120"/>
              </a:rPr>
              <a:t>"the dataset is generated synthetically rather than captured, which removes the lawful-basis question under Article 6"</a:t>
            </a:r>
            <a:endParaRPr lang="en-US" sz="1100" dirty="0"/>
          </a:p>
          <a:p>
            <a:pPr indent="0" marL="0">
              <a:spcAft>
                <a:spcPts val="500"/>
              </a:spcAft>
              <a:buNone/>
            </a:pPr>
            <a:r>
              <a:rPr lang="en-US" sz="1100" dirty="0">
                <a:solidFill>
                  <a:srgbClr val="1A1A1A"/>
                </a:solidFill>
                <a:latin typeface="Open Sans" pitchFamily="34" charset="0"/>
                <a:ea typeface="Open Sans" pitchFamily="34" charset="-122"/>
                <a:cs typeface="Open Sans" pitchFamily="34" charset="-120"/>
              </a:rPr>
              <a:t>"identifiers hashed and truncated, applying data minimisation under Article 5(1)(c)"</a:t>
            </a:r>
            <a:endParaRPr lang="en-US" sz="1100" dirty="0"/>
          </a:p>
          <a:p>
            <a:pPr indent="0" marL="0">
              <a:spcAft>
                <a:spcPts val="500"/>
              </a:spcAft>
              <a:buNone/>
            </a:pPr>
            <a:r>
              <a:rPr lang="en-US" sz="1100" i="1" dirty="0">
                <a:solidFill>
                  <a:srgbClr val="595959"/>
                </a:solidFill>
                <a:latin typeface="Open Sans" pitchFamily="34" charset="0"/>
                <a:ea typeface="Open Sans" pitchFamily="34" charset="-122"/>
                <a:cs typeface="Open Sans" pitchFamily="34" charset="-120"/>
              </a:rPr>
              <a:t>Full paragraph: student notes, Section 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0701A"/>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13232"/>
            <a:ext cx="4206240" cy="128016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Make yours specific</a:t>
            </a:r>
            <a:endParaRPr lang="en-US" sz="3600" dirty="0"/>
          </a:p>
        </p:txBody>
      </p:sp>
      <p:sp>
        <p:nvSpPr>
          <p:cNvPr id="5" name="Text 3"/>
          <p:cNvSpPr/>
          <p:nvPr/>
        </p:nvSpPr>
        <p:spPr>
          <a:xfrm>
            <a:off x="731520" y="2103120"/>
            <a:ext cx="4206240" cy="2286000"/>
          </a:xfrm>
          <a:prstGeom prst="rect">
            <a:avLst/>
          </a:prstGeom>
          <a:solidFill>
            <a:srgbClr val="595959"/>
          </a:solidFill>
          <a:ln/>
        </p:spPr>
        <p:txBody>
          <a:bodyPr wrap="square" lIns="152400" tIns="152400" rIns="152400" bIns="152400" rtlCol="0" anchor="t"/>
          <a:lstStyle/>
          <a:p>
            <a:pPr indent="0" marL="0">
              <a:spcAft>
                <a:spcPts val="1000"/>
              </a:spcAft>
              <a:buNone/>
            </a:pPr>
            <a:r>
              <a:rPr lang="en-US" sz="1700" b="1" dirty="0">
                <a:solidFill>
                  <a:srgbClr val="FFFFFF"/>
                </a:solidFill>
                <a:latin typeface="Open Sans" pitchFamily="34" charset="0"/>
                <a:ea typeface="Open Sans" pitchFamily="34" charset="-122"/>
                <a:cs typeface="Open Sans" pitchFamily="34" charset="-120"/>
              </a:rPr>
              <a:t>Take one sentence of your own legal or ethical writing.</a:t>
            </a:r>
            <a:endParaRPr lang="en-US" sz="1700" dirty="0"/>
          </a:p>
          <a:p>
            <a:pPr indent="0" marL="0">
              <a:spcAft>
                <a:spcPts val="1000"/>
              </a:spcAft>
              <a:buNone/>
            </a:pPr>
            <a:r>
              <a:rPr lang="en-US" sz="1700" b="1" dirty="0">
                <a:solidFill>
                  <a:srgbClr val="FFFFFF"/>
                </a:solidFill>
                <a:latin typeface="Open Sans" pitchFamily="34" charset="0"/>
                <a:ea typeface="Open Sans" pitchFamily="34" charset="-122"/>
                <a:cs typeface="Open Sans" pitchFamily="34" charset="-120"/>
              </a:rPr>
              <a:t>Rewrite it so that it could not appear in anyone else's proposal.</a:t>
            </a:r>
            <a:endParaRPr lang="en-US" sz="1700" dirty="0"/>
          </a:p>
          <a:p>
            <a:pPr indent="0" marL="0">
              <a:spcAft>
                <a:spcPts val="1000"/>
              </a:spcAft>
              <a:buNone/>
            </a:pPr>
            <a:r>
              <a:rPr lang="en-US" sz="1700" b="1" dirty="0">
                <a:solidFill>
                  <a:srgbClr val="FFFFFF"/>
                </a:solidFill>
                <a:latin typeface="Open Sans" pitchFamily="34" charset="0"/>
                <a:ea typeface="Open Sans" pitchFamily="34" charset="-122"/>
                <a:cs typeface="Open Sans" pitchFamily="34" charset="-120"/>
              </a:rPr>
              <a:t>Ten minutes. Then we debrief against the three tells.</a:t>
            </a:r>
            <a:endParaRPr lang="en-US" sz="1700" dirty="0"/>
          </a:p>
        </p:txBody>
      </p:sp>
      <p:sp>
        <p:nvSpPr>
          <p:cNvPr id="6" name="Shape 4"/>
          <p:cNvSpPr/>
          <p:nvPr/>
        </p:nvSpPr>
        <p:spPr>
          <a:xfrm>
            <a:off x="5212080" y="2103120"/>
            <a:ext cx="3566160" cy="2286000"/>
          </a:xfrm>
          <a:prstGeom prst="rect">
            <a:avLst/>
          </a:prstGeom>
          <a:solidFill>
            <a:srgbClr val="FFFFFF"/>
          </a:solidFill>
          <a:ln/>
        </p:spPr>
      </p:sp>
      <p:sp>
        <p:nvSpPr>
          <p:cNvPr id="7" name="Text 5"/>
          <p:cNvSpPr/>
          <p:nvPr/>
        </p:nvSpPr>
        <p:spPr>
          <a:xfrm>
            <a:off x="5440680" y="2240280"/>
            <a:ext cx="3108960" cy="274320"/>
          </a:xfrm>
          <a:prstGeom prst="rect">
            <a:avLst/>
          </a:prstGeom>
          <a:noFill/>
          <a:ln/>
        </p:spPr>
        <p:txBody>
          <a:bodyPr wrap="square" lIns="0" tIns="0" rIns="0" bIns="0" rtlCol="0" anchor="t"/>
          <a:lstStyle/>
          <a:p>
            <a:pPr indent="0" marL="0">
              <a:buNone/>
            </a:pPr>
            <a:r>
              <a:rPr lang="en-US" sz="1400" b="1" dirty="0">
                <a:solidFill>
                  <a:srgbClr val="E0701A"/>
                </a:solidFill>
                <a:latin typeface="Open Sans" pitchFamily="34" charset="0"/>
                <a:ea typeface="Open Sans" pitchFamily="34" charset="-122"/>
                <a:cs typeface="Open Sans" pitchFamily="34" charset="-120"/>
              </a:rPr>
              <a:t>Debrief against the three tells</a:t>
            </a:r>
            <a:endParaRPr lang="en-US" sz="1400" dirty="0"/>
          </a:p>
        </p:txBody>
      </p:sp>
      <p:sp>
        <p:nvSpPr>
          <p:cNvPr id="8" name="Text 6"/>
          <p:cNvSpPr/>
          <p:nvPr/>
        </p:nvSpPr>
        <p:spPr>
          <a:xfrm>
            <a:off x="5440680" y="2606040"/>
            <a:ext cx="3108960" cy="16459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Open Sans" pitchFamily="34" charset="0"/>
                <a:ea typeface="Open Sans" pitchFamily="34" charset="-122"/>
                <a:cs typeface="Open Sans" pitchFamily="34" charset="-120"/>
              </a:rPr>
              <a:t>A named provision</a:t>
            </a:r>
            <a:endParaRPr lang="en-US" sz="1300" dirty="0"/>
          </a:p>
          <a:p>
            <a:pPr marL="342900" indent="-342900">
              <a:spcAft>
                <a:spcPts val="800"/>
              </a:spcAft>
              <a:buSzPct val="100000"/>
              <a:buChar char="•"/>
            </a:pPr>
            <a:r>
              <a:rPr lang="en-US" sz="1300" dirty="0">
                <a:solidFill>
                  <a:srgbClr val="1A1A1A"/>
                </a:solidFill>
                <a:latin typeface="Open Sans" pitchFamily="34" charset="0"/>
                <a:ea typeface="Open Sans" pitchFamily="34" charset="-122"/>
                <a:cs typeface="Open Sans" pitchFamily="34" charset="-120"/>
              </a:rPr>
              <a:t>A named artefact of this project</a:t>
            </a:r>
            <a:endParaRPr lang="en-US" sz="1300" dirty="0"/>
          </a:p>
          <a:p>
            <a:pPr marL="342900" indent="-342900">
              <a:spcAft>
                <a:spcPts val="800"/>
              </a:spcAft>
              <a:buSzPct val="100000"/>
              <a:buChar char="•"/>
            </a:pPr>
            <a:r>
              <a:rPr lang="en-US" sz="1300" dirty="0">
                <a:solidFill>
                  <a:srgbClr val="1A1A1A"/>
                </a:solidFill>
                <a:latin typeface="Open Sans" pitchFamily="34" charset="0"/>
                <a:ea typeface="Open Sans" pitchFamily="34" charset="-122"/>
                <a:cs typeface="Open Sans" pitchFamily="34" charset="-120"/>
              </a:rPr>
              <a:t>A consequence that changes what you will do</a:t>
            </a:r>
            <a:endParaRPr lang="en-US" sz="1300" dirty="0"/>
          </a:p>
          <a:p>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All three present? It cannot be pasted into anyone else's proposal.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Responsible disclosure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3317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If your work finds a real flaw in a real product or service: stop testing it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Do not publish, and do not demonstrate it further</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Contact the vendor, or a national CERT where no vendor contact exists, through a coordinated route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Agree a disclosure timeline before any detail appears in your report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Record it in the proposal as a contingency, not as an afterthought</a:t>
            </a:r>
            <a:endParaRPr lang="en-US" sz="1400" dirty="0"/>
          </a:p>
        </p:txBody>
      </p:sp>
      <p:sp>
        <p:nvSpPr>
          <p:cNvPr id="7" name="Text 5"/>
          <p:cNvSpPr/>
          <p:nvPr/>
        </p:nvSpPr>
        <p:spPr>
          <a:xfrm>
            <a:off x="731520" y="3886200"/>
            <a:ext cx="7690104" cy="59436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State it because it is a foreseeable outcome of the method, not because you expect it.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Dual-use, social and professional impact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1488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 defensive artefact is also a map of what defeats the defence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An evaluation of which techniques a baseline stops is an attack playbook read backwards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State it honestly: report in aggregate, and withhold tunable configurations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Supplementary context: the BCS Code of Conduct is the professional frame a practitioner would recognise. It is not a module requirement</a:t>
            </a:r>
            <a:endParaRPr lang="en-US" sz="1400" dirty="0"/>
          </a:p>
        </p:txBody>
      </p:sp>
      <p:sp>
        <p:nvSpPr>
          <p:cNvPr id="7" name="Text 5"/>
          <p:cNvSpPr/>
          <p:nvPr/>
        </p:nvSpPr>
        <p:spPr>
          <a:xfrm>
            <a:off x="731520" y="3703320"/>
            <a:ext cx="7690104" cy="73152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Being defensive is not an exemption from dual-use. Chathura's project has the least legal exposure and the most.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02   Delivery Planning</a:t>
            </a:r>
            <a:endParaRPr lang="en-US" sz="3600" dirty="0"/>
          </a:p>
          <a:p>
            <a:pPr indent="0" marL="0">
              <a:buNone/>
            </a:pPr>
            <a:r>
              <a:rPr lang="en-US" sz="3600" b="1" dirty="0">
                <a:solidFill>
                  <a:srgbClr val="1A1A1A"/>
                </a:solidFill>
                <a:latin typeface="Open Sans" pitchFamily="34" charset="0"/>
                <a:ea typeface="Open Sans" pitchFamily="34" charset="-122"/>
                <a:cs typeface="Open Sans" pitchFamily="34" charset="-120"/>
              </a:rPr>
              <a:t>and Risk</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the timeline is a plan for</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395728"/>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It is the plan for the project you will run next, in NB6019CEM Research Project Delivery</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It is not a plan for writing the proposal. That is the most common scoping error in this section</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milestone is a verifiable deliverable with a date: something that either exists or does not</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date range with an activity beside it is not a milestone. "D3 to D12: implementation" hides slippage until the end</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Milestones are written in P-weeks for this term and D-weeks for delivery</a:t>
            </a:r>
            <a:endParaRPr lang="en-US" sz="1300" dirty="0"/>
          </a:p>
        </p:txBody>
      </p:sp>
      <p:sp>
        <p:nvSpPr>
          <p:cNvPr id="7" name="Text 5"/>
          <p:cNvSpPr/>
          <p:nvPr/>
        </p:nvSpPr>
        <p:spPr>
          <a:xfrm>
            <a:off x="731520" y="3931920"/>
            <a:ext cx="7690104" cy="68580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The ethics sequence is the one exception that spans both modules: approval is obtained now and evidenced in Appendix 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 worked milestone plan: Chathura</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384048"/>
                <a:gridCol w="4343400"/>
                <a:gridCol w="658368"/>
                <a:gridCol w="2304288"/>
              </a:tblGrid>
              <a:tr h="0">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ID</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Milestone (a verifiable deliverable)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Timing</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Dependency</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M1</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Ethics application submitted with method annexe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P7</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Method fixed in Session 3</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M2</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Ethics approval received and filed as Appendix A</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P10</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b="1" dirty="0">
                          <a:solidFill>
                            <a:srgbClr val="1A1A1A"/>
                          </a:solidFill>
                          <a:latin typeface="Open Sans" pitchFamily="34" charset="0"/>
                          <a:ea typeface="Open Sans" pitchFamily="34" charset="-122"/>
                          <a:cs typeface="Open Sans" pitchFamily="34" charset="-120"/>
                        </a:rPr>
                        <a:t>Hard dependency: no data or runs before this</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M3</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Testbed built: domain controller, two workstations, isolated host-only network</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D2</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M2 in hand; first delivery milestone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M4</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Technique set defined and validated against the unhardened baseline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D5</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M3</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M5</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Hardened configuration applied and second snapshot taken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D8</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M4</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M6</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Comparative run complete, results recorded against both snapshots</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D12</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M5</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M7</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Analysis and write-up complete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D16</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M6</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731520" y="4572000"/>
            <a:ext cx="7690104" cy="274320"/>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[Illustrative example - do not cite]  Chathura, Pahana Retail. Full plan: student notes, Section 4.</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Two registers, not one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417320"/>
            <a:ext cx="4133088" cy="402336"/>
          </a:xfrm>
          <a:prstGeom prst="rect">
            <a:avLst/>
          </a:prstGeom>
          <a:solidFill>
            <a:srgbClr val="1B3A6B"/>
          </a:solidFill>
          <a:ln/>
        </p:spPr>
        <p:txBody>
          <a:bodyPr wrap="square" lIns="76200" tIns="76200" rIns="76200" bIns="7620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Register A: delivery and project risks</a:t>
            </a:r>
            <a:endParaRPr lang="en-US" sz="1400" dirty="0"/>
          </a:p>
        </p:txBody>
      </p:sp>
      <p:sp>
        <p:nvSpPr>
          <p:cNvPr id="7" name="Text 5"/>
          <p:cNvSpPr/>
          <p:nvPr/>
        </p:nvSpPr>
        <p:spPr>
          <a:xfrm>
            <a:off x="4645152" y="1417320"/>
            <a:ext cx="4133088" cy="402336"/>
          </a:xfrm>
          <a:prstGeom prst="rect">
            <a:avLst/>
          </a:prstGeom>
          <a:solidFill>
            <a:srgbClr val="E0701A"/>
          </a:solidFill>
          <a:ln/>
        </p:spPr>
        <p:txBody>
          <a:bodyPr wrap="square" lIns="76200" tIns="76200" rIns="76200" bIns="7620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Register B: technical and security risks</a:t>
            </a:r>
            <a:endParaRPr lang="en-US" sz="1400" dirty="0"/>
          </a:p>
        </p:txBody>
      </p:sp>
      <p:sp>
        <p:nvSpPr>
          <p:cNvPr id="8" name="Text 6"/>
          <p:cNvSpPr/>
          <p:nvPr/>
        </p:nvSpPr>
        <p:spPr>
          <a:xfrm>
            <a:off x="411480" y="1819656"/>
            <a:ext cx="4133088" cy="2377440"/>
          </a:xfrm>
          <a:prstGeom prst="rect">
            <a:avLst/>
          </a:prstGeom>
          <a:noFill/>
          <a:ln w="9525">
            <a:solidFill>
              <a:srgbClr val="CCCCCC"/>
            </a:solidFill>
          </a:ln>
        </p:spPr>
        <p:txBody>
          <a:bodyPr wrap="square" lIns="101600" tIns="101600" rIns="101600" bIns="101600" rtlCol="0" anchor="t"/>
          <a:lstStyle/>
          <a:p>
            <a:pPr indent="0" marL="0">
              <a:spcAft>
                <a:spcPts val="700"/>
              </a:spcAft>
              <a:buNone/>
            </a:pPr>
            <a:r>
              <a:rPr lang="en-US" sz="1300" dirty="0">
                <a:solidFill>
                  <a:srgbClr val="1A1A1A"/>
                </a:solidFill>
                <a:latin typeface="Open Sans" pitchFamily="34" charset="0"/>
                <a:ea typeface="Open Sans" pitchFamily="34" charset="-122"/>
                <a:cs typeface="Open Sans" pitchFamily="34" charset="-120"/>
              </a:rPr>
              <a:t>Time, illness, scope creep, approval delay, resource limits.</a:t>
            </a:r>
            <a:endParaRPr lang="en-US" sz="1300" dirty="0"/>
          </a:p>
          <a:p>
            <a:pPr indent="0" marL="0">
              <a:spcAft>
                <a:spcPts val="700"/>
              </a:spcAft>
              <a:buNone/>
            </a:pPr>
            <a:r>
              <a:rPr lang="en-US" sz="1300" dirty="0">
                <a:solidFill>
                  <a:srgbClr val="1A1A1A"/>
                </a:solidFill>
                <a:latin typeface="Open Sans" pitchFamily="34" charset="0"/>
                <a:ea typeface="Open Sans" pitchFamily="34" charset="-122"/>
                <a:cs typeface="Open Sans" pitchFamily="34" charset="-120"/>
              </a:rPr>
              <a:t>Real, and they belong in the proposal.</a:t>
            </a:r>
            <a:endParaRPr lang="en-US" sz="1300" dirty="0"/>
          </a:p>
          <a:p>
            <a:pPr indent="0" marL="0">
              <a:spcAft>
                <a:spcPts val="700"/>
              </a:spcAft>
              <a:buNone/>
            </a:pPr>
            <a:r>
              <a:rPr lang="en-US" sz="1300" b="1" dirty="0">
                <a:solidFill>
                  <a:srgbClr val="1A1A1A"/>
                </a:solidFill>
                <a:latin typeface="Open Sans" pitchFamily="34" charset="0"/>
                <a:ea typeface="Open Sans" pitchFamily="34" charset="-122"/>
                <a:cs typeface="Open Sans" pitchFamily="34" charset="-120"/>
              </a:rPr>
              <a:t>But every student in the room can write them.</a:t>
            </a:r>
            <a:endParaRPr lang="en-US" sz="1300" dirty="0"/>
          </a:p>
        </p:txBody>
      </p:sp>
      <p:sp>
        <p:nvSpPr>
          <p:cNvPr id="9" name="Text 7"/>
          <p:cNvSpPr/>
          <p:nvPr/>
        </p:nvSpPr>
        <p:spPr>
          <a:xfrm>
            <a:off x="4645152" y="1819656"/>
            <a:ext cx="4133088" cy="2377440"/>
          </a:xfrm>
          <a:prstGeom prst="rect">
            <a:avLst/>
          </a:prstGeom>
          <a:noFill/>
          <a:ln w="9525">
            <a:solidFill>
              <a:srgbClr val="CCCCCC"/>
            </a:solidFill>
          </a:ln>
        </p:spPr>
        <p:txBody>
          <a:bodyPr wrap="square" lIns="101600" tIns="101600" rIns="101600" bIns="101600" rtlCol="0" anchor="t"/>
          <a:lstStyle/>
          <a:p>
            <a:pPr indent="0" marL="0">
              <a:spcAft>
                <a:spcPts val="700"/>
              </a:spcAft>
              <a:buNone/>
            </a:pPr>
            <a:r>
              <a:rPr lang="en-US" sz="1300" dirty="0">
                <a:solidFill>
                  <a:srgbClr val="1A1A1A"/>
                </a:solidFill>
                <a:latin typeface="Open Sans" pitchFamily="34" charset="0"/>
                <a:ea typeface="Open Sans" pitchFamily="34" charset="-122"/>
                <a:cs typeface="Open Sans" pitchFamily="34" charset="-120"/>
              </a:rPr>
              <a:t>The inherent technical or security risks of the implementation itself.</a:t>
            </a:r>
            <a:endParaRPr lang="en-US" sz="1300" dirty="0"/>
          </a:p>
          <a:p>
            <a:pPr indent="0" marL="0">
              <a:spcAft>
                <a:spcPts val="700"/>
              </a:spcAft>
              <a:buNone/>
            </a:pPr>
            <a:r>
              <a:rPr lang="en-US" sz="1300" dirty="0">
                <a:solidFill>
                  <a:srgbClr val="1A1A1A"/>
                </a:solidFill>
                <a:latin typeface="Open Sans" pitchFamily="34" charset="0"/>
                <a:ea typeface="Open Sans" pitchFamily="34" charset="-122"/>
                <a:cs typeface="Open Sans" pitchFamily="34" charset="-120"/>
              </a:rPr>
              <a:t>Sample containment, environment recovery, re-identification, exposure of a deliberately vulnerable instance.</a:t>
            </a:r>
            <a:endParaRPr lang="en-US" sz="1300" dirty="0"/>
          </a:p>
          <a:p>
            <a:pPr indent="0" marL="0">
              <a:spcAft>
                <a:spcPts val="700"/>
              </a:spcAft>
              <a:buNone/>
            </a:pPr>
            <a:r>
              <a:rPr lang="en-US" sz="1300" b="1" dirty="0">
                <a:solidFill>
                  <a:srgbClr val="1A1A1A"/>
                </a:solidFill>
                <a:latin typeface="Open Sans" pitchFamily="34" charset="0"/>
                <a:ea typeface="Open Sans" pitchFamily="34" charset="-122"/>
                <a:cs typeface="Open Sans" pitchFamily="34" charset="-120"/>
              </a:rPr>
              <a:t>This is the one students omit, and the rubric names it explicitly.</a:t>
            </a:r>
            <a:endParaRPr lang="en-US" sz="1300" dirty="0"/>
          </a:p>
        </p:txBody>
      </p:sp>
      <p:sp>
        <p:nvSpPr>
          <p:cNvPr id="10" name="Text 8"/>
          <p:cNvSpPr/>
          <p:nvPr/>
        </p:nvSpPr>
        <p:spPr>
          <a:xfrm>
            <a:off x="731520" y="4343400"/>
            <a:ext cx="7690104" cy="54864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A1A1A"/>
                </a:solidFill>
                <a:latin typeface="Open Sans" pitchFamily="34" charset="0"/>
                <a:ea typeface="Open Sans" pitchFamily="34" charset="-122"/>
                <a:cs typeface="Open Sans" pitchFamily="34" charset="-120"/>
              </a:rPr>
              <a:t>A ransomware-spread study whose register does not mention sample containment has not understood its own project.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Register B: risks only these projects could have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1188720"/>
                <a:gridCol w="3383280"/>
                <a:gridCol w="3118104"/>
              </a:tblGrid>
              <a:tr h="0">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Project</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Technical or security risk</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Mitigation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E2 Chathura</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 hardening setting breaks authentication in the domain and the testbed cannot be recovered</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Snapshot before each policy application; baseline snapshot held read-only</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E2 Chathura</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The measured technique set constitutes a working attack sequence against a default configuration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Reported at the level of the published framework reference, not as runnable procedure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E1 Tharindu</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The replayed credential dataset, even hashed, is re-identifiable if the source corpus is known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Truncation after hashing; source corpus not named; dataset destroyed at project end</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E3 Dilini</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The deliberately vulnerable API instance is reachable from the campus network</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Bound to loopback on an isolated host; no port forwarding; instance destroyed between sessions</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bl>
          </a:graphicData>
        </a:graphic>
      </p:graphicFrame>
      <p:sp>
        <p:nvSpPr>
          <p:cNvPr id="7" name="Text 4"/>
          <p:cNvSpPr/>
          <p:nvPr/>
        </p:nvSpPr>
        <p:spPr>
          <a:xfrm>
            <a:off x="731520" y="4096512"/>
            <a:ext cx="7690104" cy="274320"/>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[Illustrative example - do not cite]  Full register with both sides: student notes, Section 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risk only you could name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55448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Ask of every entry: could this sit on my neighbour's page unchanged?</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If yes, it belongs in Register A, and Register B is still empty</a:t>
            </a:r>
            <a:endParaRPr lang="en-US" sz="1500" dirty="0"/>
          </a:p>
          <a:p>
            <a:pPr marL="342900" indent="-342900">
              <a:lnSpc>
                <a:spcPct val="105000"/>
              </a:lnSpc>
              <a:spcAft>
                <a:spcPts val="600"/>
              </a:spcAft>
              <a:buSzPct val="100000"/>
              <a:buChar char="•"/>
            </a:pPr>
            <a:r>
              <a:rPr lang="en-US" sz="1500" b="1" dirty="0">
                <a:solidFill>
                  <a:srgbClr val="1A1A1A"/>
                </a:solidFill>
                <a:latin typeface="Open Sans" pitchFamily="34" charset="0"/>
                <a:ea typeface="Open Sans" pitchFamily="34" charset="-122"/>
                <a:cs typeface="Open Sans" pitchFamily="34" charset="-120"/>
              </a:rPr>
              <a:t>Mitigations must match their risks: backups do not mitigate illness</a:t>
            </a:r>
            <a:endParaRPr lang="en-US" sz="1500" dirty="0"/>
          </a:p>
        </p:txBody>
      </p:sp>
      <p:sp>
        <p:nvSpPr>
          <p:cNvPr id="7" name="Shape 5"/>
          <p:cNvSpPr/>
          <p:nvPr/>
        </p:nvSpPr>
        <p:spPr>
          <a:xfrm>
            <a:off x="731520" y="3127248"/>
            <a:ext cx="7690104" cy="1280160"/>
          </a:xfrm>
          <a:prstGeom prst="rect">
            <a:avLst/>
          </a:prstGeom>
          <a:solidFill>
            <a:srgbClr val="F0EAE0"/>
          </a:solidFill>
          <a:ln/>
        </p:spPr>
      </p:sp>
      <p:sp>
        <p:nvSpPr>
          <p:cNvPr id="8" name="Shape 6"/>
          <p:cNvSpPr/>
          <p:nvPr/>
        </p:nvSpPr>
        <p:spPr>
          <a:xfrm>
            <a:off x="731520" y="3127248"/>
            <a:ext cx="82296" cy="1280160"/>
          </a:xfrm>
          <a:prstGeom prst="rect">
            <a:avLst/>
          </a:prstGeom>
          <a:solidFill>
            <a:srgbClr val="977F5A"/>
          </a:solidFill>
          <a:ln/>
        </p:spPr>
      </p:sp>
      <p:sp>
        <p:nvSpPr>
          <p:cNvPr id="9" name="Text 7"/>
          <p:cNvSpPr/>
          <p:nvPr/>
        </p:nvSpPr>
        <p:spPr>
          <a:xfrm>
            <a:off x="941832" y="3200400"/>
            <a:ext cx="7223760" cy="237744"/>
          </a:xfrm>
          <a:prstGeom prst="rect">
            <a:avLst/>
          </a:prstGeom>
          <a:noFill/>
          <a:ln/>
        </p:spPr>
        <p:txBody>
          <a:bodyPr wrap="square" lIns="0" tIns="0" rIns="0" bIns="0" rtlCol="0" anchor="t"/>
          <a:lstStyle/>
          <a:p>
            <a:pPr indent="0" marL="0">
              <a:buNone/>
            </a:pPr>
            <a:r>
              <a:rPr lang="en-US" sz="1400" b="1" dirty="0">
                <a:solidFill>
                  <a:srgbClr val="977F5A"/>
                </a:solidFill>
                <a:latin typeface="Open Sans" pitchFamily="34" charset="0"/>
                <a:ea typeface="Open Sans" pitchFamily="34" charset="-122"/>
                <a:cs typeface="Open Sans" pitchFamily="34" charset="-120"/>
              </a:rPr>
              <a:t>Analogy</a:t>
            </a:r>
            <a:endParaRPr lang="en-US" sz="1400" dirty="0"/>
          </a:p>
        </p:txBody>
      </p:sp>
      <p:sp>
        <p:nvSpPr>
          <p:cNvPr id="10" name="Text 8"/>
          <p:cNvSpPr/>
          <p:nvPr/>
        </p:nvSpPr>
        <p:spPr>
          <a:xfrm>
            <a:off x="941832" y="3456432"/>
            <a:ext cx="7223760" cy="877824"/>
          </a:xfrm>
          <a:prstGeom prst="rect">
            <a:avLst/>
          </a:prstGeom>
          <a:noFill/>
          <a:ln/>
        </p:spPr>
        <p:txBody>
          <a:bodyPr wrap="square" lIns="0" tIns="0" rIns="0" bIns="0" rtlCol="0" anchor="t"/>
          <a:lstStyle/>
          <a:p>
            <a:pPr indent="0" marL="0">
              <a:buNone/>
            </a:pPr>
            <a:r>
              <a:rPr lang="en-US" sz="1300" dirty="0">
                <a:solidFill>
                  <a:srgbClr val="1A1A1A"/>
                </a:solidFill>
                <a:latin typeface="Open Sans" pitchFamily="34" charset="0"/>
                <a:ea typeface="Open Sans" pitchFamily="34" charset="-122"/>
                <a:cs typeface="Open Sans" pitchFamily="34" charset="-120"/>
              </a:rPr>
              <a:t>A risk register that could belong to anyone is a register of being a student, not a register of doing this project. The risks that matter are the ones that would not appear on your neighbour's page.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9E5C"/>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13232"/>
            <a:ext cx="7690104" cy="109728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Grade this responsible-practice section</a:t>
            </a:r>
            <a:endParaRPr lang="en-US" sz="3200" dirty="0"/>
          </a:p>
        </p:txBody>
      </p:sp>
      <p:sp>
        <p:nvSpPr>
          <p:cNvPr id="5" name="Text 3"/>
          <p:cNvSpPr/>
          <p:nvPr/>
        </p:nvSpPr>
        <p:spPr>
          <a:xfrm>
            <a:off x="1371600" y="2103120"/>
            <a:ext cx="6400800" cy="1554480"/>
          </a:xfrm>
          <a:prstGeom prst="rect">
            <a:avLst/>
          </a:prstGeom>
          <a:solidFill>
            <a:srgbClr val="FFFFFF"/>
          </a:solidFill>
          <a:ln/>
        </p:spPr>
        <p:txBody>
          <a:bodyPr wrap="square" lIns="152400" tIns="152400" rIns="152400" bIns="152400" rtlCol="0" anchor="ctr"/>
          <a:lstStyle/>
          <a:p>
            <a:pPr indent="0" marL="0">
              <a:spcAft>
                <a:spcPts val="800"/>
              </a:spcAft>
              <a:buNone/>
            </a:pPr>
            <a:r>
              <a:rPr lang="en-US" sz="1700" b="1" dirty="0">
                <a:solidFill>
                  <a:srgbClr val="1A1A1A"/>
                </a:solidFill>
                <a:latin typeface="Open Sans" pitchFamily="34" charset="0"/>
                <a:ea typeface="Open Sans" pitchFamily="34" charset="-122"/>
                <a:cs typeface="Open Sans" pitchFamily="34" charset="-120"/>
              </a:rPr>
              <a:t>The excerpt is in your notes, Section 5.5.</a:t>
            </a:r>
            <a:endParaRPr lang="en-US" sz="1700" dirty="0"/>
          </a:p>
          <a:p>
            <a:pPr indent="0" marL="0">
              <a:spcAft>
                <a:spcPts val="800"/>
              </a:spcAft>
              <a:buNone/>
            </a:pPr>
            <a:r>
              <a:rPr lang="en-US" sz="1700" b="1" dirty="0">
                <a:solidFill>
                  <a:srgbClr val="1A1A1A"/>
                </a:solidFill>
                <a:latin typeface="Open Sans" pitchFamily="34" charset="0"/>
                <a:ea typeface="Open Sans" pitchFamily="34" charset="-122"/>
                <a:cs typeface="Open Sans" pitchFamily="34" charset="-120"/>
              </a:rPr>
              <a:t>Judge it against Criterion 4. Which band, and why?</a:t>
            </a:r>
            <a:endParaRPr lang="en-US" sz="1700" dirty="0"/>
          </a:p>
          <a:p>
            <a:pPr indent="0" marL="0">
              <a:spcAft>
                <a:spcPts val="800"/>
              </a:spcAft>
              <a:buNone/>
            </a:pPr>
            <a:r>
              <a:rPr lang="en-US" sz="1700" b="1" dirty="0">
                <a:solidFill>
                  <a:srgbClr val="1A1A1A"/>
                </a:solidFill>
                <a:latin typeface="Open Sans" pitchFamily="34" charset="0"/>
                <a:ea typeface="Open Sans" pitchFamily="34" charset="-122"/>
                <a:cs typeface="Open Sans" pitchFamily="34" charset="-120"/>
              </a:rPr>
              <a:t>Then name the single edit that moves it up a band.</a:t>
            </a:r>
            <a:endParaRPr lang="en-US" sz="1700" dirty="0"/>
          </a:p>
        </p:txBody>
      </p:sp>
      <p:sp>
        <p:nvSpPr>
          <p:cNvPr id="6" name="Text 4"/>
          <p:cNvSpPr/>
          <p:nvPr/>
        </p:nvSpPr>
        <p:spPr>
          <a:xfrm>
            <a:off x="1371600" y="3886200"/>
            <a:ext cx="640080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Open Sans" pitchFamily="34" charset="0"/>
                <a:ea typeface="Open Sans" pitchFamily="34" charset="-122"/>
                <a:cs typeface="Open Sans" pitchFamily="34" charset="-120"/>
              </a:rPr>
              <a:t>One edit, not more laws and not more risks.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03   Ethics Approval</a:t>
            </a:r>
            <a:endParaRPr lang="en-US" sz="3600" dirty="0"/>
          </a:p>
          <a:p>
            <a:pPr indent="0" marL="0">
              <a:buNone/>
            </a:pPr>
            <a:r>
              <a:rPr lang="en-US" sz="3600" b="1" dirty="0">
                <a:solidFill>
                  <a:srgbClr val="1A1A1A"/>
                </a:solidFill>
                <a:latin typeface="Open Sans" pitchFamily="34" charset="0"/>
                <a:ea typeface="Open Sans" pitchFamily="34" charset="-122"/>
                <a:cs typeface="Open Sans" pitchFamily="34" charset="-120"/>
              </a:rPr>
              <a:t>and Submission</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ethics application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51460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The form asks what data you touch, whose it is, where the work runs, and what you destroy afterwards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 fixed method answers all four. An unfixed method cannot answer any of them</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The window opens now, in P7. Institutional turnaround is under three weeks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Target final approval around P10, and file the evidence as Appendix A</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Appendices and references sit outside the 2,000-word limit</a:t>
            </a:r>
            <a:endParaRPr lang="en-US" sz="1400" dirty="0"/>
          </a:p>
        </p:txBody>
      </p:sp>
      <p:sp>
        <p:nvSpPr>
          <p:cNvPr id="7" name="Text 5"/>
          <p:cNvSpPr/>
          <p:nvPr/>
        </p:nvSpPr>
        <p:spPr>
          <a:xfrm>
            <a:off x="731520" y="4069080"/>
            <a:ext cx="7690104" cy="548640"/>
          </a:xfrm>
          <a:prstGeom prst="rect">
            <a:avLst/>
          </a:prstGeom>
          <a:solidFill>
            <a:srgbClr val="E0701A"/>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Ethics is a constraint on the method, not a form to be filed after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standard you are marked against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3456432"/>
          </a:xfrm>
          <a:prstGeom prst="rect">
            <a:avLst/>
          </a:prstGeom>
          <a:solidFill>
            <a:srgbClr val="C5D6E8"/>
          </a:solidFill>
          <a:ln/>
        </p:spPr>
        <p:txBody>
          <a:bodyPr wrap="square" lIns="127000" tIns="127000" rIns="127000" bIns="127000" rtlCol="0" anchor="t"/>
          <a:lstStyle/>
          <a:p>
            <a:pPr indent="0" marL="0">
              <a:lnSpc>
                <a:spcPct val="100000"/>
              </a:lnSpc>
              <a:spcAft>
                <a:spcPts val="600"/>
              </a:spcAft>
              <a:buNone/>
            </a:pPr>
            <a:r>
              <a:rPr lang="en-US" sz="1200" b="1" dirty="0">
                <a:solidFill>
                  <a:srgbClr val="1B3A6B"/>
                </a:solidFill>
                <a:latin typeface="Open Sans" pitchFamily="34" charset="0"/>
                <a:ea typeface="Open Sans" pitchFamily="34" charset="-122"/>
                <a:cs typeface="Open Sans" pitchFamily="34" charset="-120"/>
              </a:rPr>
              <a:t>Criterion 4, Project Delivery &amp; Responsible Practice - Distinction band</a:t>
            </a:r>
            <a:endParaRPr lang="en-US" sz="1300" dirty="0"/>
          </a:p>
          <a:p>
            <a:pPr indent="0" marL="0">
              <a:lnSpc>
                <a:spcPct val="100000"/>
              </a:lnSpc>
              <a:spcAft>
                <a:spcPts val="600"/>
              </a:spcAft>
              <a:buNone/>
            </a:pPr>
            <a:r>
              <a:rPr lang="en-US" sz="1300" dirty="0">
                <a:solidFill>
                  <a:srgbClr val="1A1A1A"/>
                </a:solidFill>
                <a:latin typeface="Open Sans" pitchFamily="34" charset="0"/>
                <a:ea typeface="Open Sans" pitchFamily="34" charset="-122"/>
                <a:cs typeface="Open Sans" pitchFamily="34" charset="-120"/>
              </a:rPr>
              <a:t>Timeline is realistic, milestone-structured, and reflects genuine understanding of the project’s scope and complexity. Risk assessment addresses both delivery/project risks and the inherent technical or security risks of the implementation, with specific mitigations. Legal and ethical analysis is substantive - Computer Misuse Act 1990 and GDPR are applied specifically to the project context, not cited generically. Ethics approval evidence is complete. Social and professional impact is thoughtfully and critically considered.</a:t>
            </a:r>
            <a:endParaRPr lang="en-US" sz="1300" dirty="0"/>
          </a:p>
          <a:p>
            <a:pPr indent="0" marL="0">
              <a:lnSpc>
                <a:spcPct val="100000"/>
              </a:lnSpc>
              <a:spcAft>
                <a:spcPts val="600"/>
              </a:spcAft>
              <a:buNone/>
            </a:pPr>
            <a:r>
              <a:rPr lang="en-US" sz="1200" b="1" dirty="0">
                <a:solidFill>
                  <a:srgbClr val="E0701A"/>
                </a:solidFill>
                <a:latin typeface="Open Sans" pitchFamily="34" charset="0"/>
                <a:ea typeface="Open Sans" pitchFamily="34" charset="-122"/>
                <a:cs typeface="Open Sans" pitchFamily="34" charset="-120"/>
              </a:rPr>
              <a:t>Criterion 4, Project Delivery &amp; Responsible Practice - Pass band</a:t>
            </a:r>
            <a:endParaRPr lang="en-US" sz="1300" dirty="0"/>
          </a:p>
          <a:p>
            <a:pPr indent="0" marL="0">
              <a:lnSpc>
                <a:spcPct val="100000"/>
              </a:lnSpc>
              <a:spcAft>
                <a:spcPts val="600"/>
              </a:spcAft>
              <a:buNone/>
            </a:pPr>
            <a:r>
              <a:rPr lang="en-US" sz="1300" dirty="0">
                <a:solidFill>
                  <a:srgbClr val="1A1A1A"/>
                </a:solidFill>
                <a:latin typeface="Open Sans" pitchFamily="34" charset="0"/>
                <a:ea typeface="Open Sans" pitchFamily="34" charset="-122"/>
                <a:cs typeface="Open Sans" pitchFamily="34" charset="-120"/>
              </a:rPr>
              <a:t>Timeline is included but lacks milestones or appears unrealistic in places. Risk assessment is present but superficial, addressing only the most obvious risks. Legal and ethical considerations are mentioned but treated generically without project-specific application. Ethics documentation may be incomplete. Social and professional impact is briefly noted.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Closing the arc, and what happens next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3317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S1 framed the problem. S2 framed it against the known. S3 framed it as testable. S4 frames its boundaries and consequences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Week 8: proposal draft, including the responsible-practice and delivery sections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Week 12: final proposal submitted, with ethics evidence as Appendix A</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Week 13: the proposal defence, a required must-pass element that concludes CW1 and carries no separate mark</a:t>
            </a:r>
            <a:endParaRPr lang="en-US" sz="1400" dirty="0"/>
          </a:p>
        </p:txBody>
      </p:sp>
      <p:sp>
        <p:nvSpPr>
          <p:cNvPr id="7" name="Text 5"/>
          <p:cNvSpPr/>
          <p:nvPr/>
        </p:nvSpPr>
        <p:spPr>
          <a:xfrm>
            <a:off x="731520" y="3886200"/>
            <a:ext cx="7690104" cy="73152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This is the last taught session. Supervision from here is for your project, not for the syllabus: bring drafts, not questions about the module.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1B3A6B"/>
          </a:solidFill>
          <a:ln/>
        </p:spPr>
      </p:sp>
      <p:sp>
        <p:nvSpPr>
          <p:cNvPr id="3" name="Text 1"/>
          <p:cNvSpPr/>
          <p:nvPr/>
        </p:nvSpPr>
        <p:spPr>
          <a:xfrm>
            <a:off x="384048" y="1097280"/>
            <a:ext cx="5303520" cy="868680"/>
          </a:xfrm>
          <a:prstGeom prst="rect">
            <a:avLst/>
          </a:prstGeom>
          <a:noFill/>
          <a:ln/>
        </p:spPr>
        <p:txBody>
          <a:bodyPr wrap="square" lIns="0" tIns="0" rIns="0" bIns="0" rtlCol="0" anchor="t"/>
          <a:lstStyle/>
          <a:p>
            <a:pPr indent="0" marL="0">
              <a:buNone/>
            </a:pPr>
            <a:r>
              <a:rPr lang="en-US" sz="4800" b="1" dirty="0">
                <a:solidFill>
                  <a:srgbClr val="1A1A1A"/>
                </a:solidFill>
                <a:latin typeface="Open Sans" pitchFamily="34" charset="0"/>
                <a:ea typeface="Open Sans" pitchFamily="34" charset="-122"/>
                <a:cs typeface="Open Sans" pitchFamily="34" charset="-120"/>
              </a:rPr>
              <a:t>Questions &amp;</a:t>
            </a:r>
            <a:endParaRPr lang="en-US" sz="4800" dirty="0"/>
          </a:p>
        </p:txBody>
      </p:sp>
      <p:sp>
        <p:nvSpPr>
          <p:cNvPr id="4" name="Text 2"/>
          <p:cNvSpPr/>
          <p:nvPr/>
        </p:nvSpPr>
        <p:spPr>
          <a:xfrm>
            <a:off x="384048" y="1938528"/>
            <a:ext cx="5303520" cy="868680"/>
          </a:xfrm>
          <a:prstGeom prst="rect">
            <a:avLst/>
          </a:prstGeom>
          <a:noFill/>
          <a:ln/>
        </p:spPr>
        <p:txBody>
          <a:bodyPr wrap="square" lIns="0" tIns="0" rIns="0" bIns="0" rtlCol="0" anchor="t"/>
          <a:lstStyle/>
          <a:p>
            <a:pPr indent="0" marL="0">
              <a:buNone/>
            </a:pPr>
            <a:r>
              <a:rPr lang="en-US" sz="4800" b="1" dirty="0">
                <a:solidFill>
                  <a:srgbClr val="1B3A6B"/>
                </a:solidFill>
                <a:latin typeface="Open Sans" pitchFamily="34" charset="0"/>
                <a:ea typeface="Open Sans" pitchFamily="34" charset="-122"/>
                <a:cs typeface="Open Sans" pitchFamily="34" charset="-120"/>
              </a:rPr>
              <a:t>Discussion</a:t>
            </a:r>
            <a:endParaRPr lang="en-US" sz="4800" dirty="0"/>
          </a:p>
        </p:txBody>
      </p:sp>
      <p:sp>
        <p:nvSpPr>
          <p:cNvPr id="5" name="Shape 3"/>
          <p:cNvSpPr/>
          <p:nvPr/>
        </p:nvSpPr>
        <p:spPr>
          <a:xfrm>
            <a:off x="384048" y="2852928"/>
            <a:ext cx="749808" cy="73152"/>
          </a:xfrm>
          <a:prstGeom prst="rect">
            <a:avLst/>
          </a:prstGeom>
          <a:solidFill>
            <a:srgbClr val="1B3A6B"/>
          </a:solidFill>
          <a:ln/>
        </p:spPr>
      </p:sp>
      <p:sp>
        <p:nvSpPr>
          <p:cNvPr id="6" name="Shape 4"/>
          <p:cNvSpPr/>
          <p:nvPr/>
        </p:nvSpPr>
        <p:spPr>
          <a:xfrm>
            <a:off x="1188720" y="2852928"/>
            <a:ext cx="384048" cy="73152"/>
          </a:xfrm>
          <a:prstGeom prst="rect">
            <a:avLst/>
          </a:prstGeom>
          <a:solidFill>
            <a:srgbClr val="E0701A"/>
          </a:solidFill>
          <a:ln/>
        </p:spPr>
      </p:sp>
      <p:sp>
        <p:nvSpPr>
          <p:cNvPr id="7" name="Text 5"/>
          <p:cNvSpPr/>
          <p:nvPr/>
        </p:nvSpPr>
        <p:spPr>
          <a:xfrm>
            <a:off x="384048" y="3035808"/>
            <a:ext cx="5303520" cy="658368"/>
          </a:xfrm>
          <a:prstGeom prst="rect">
            <a:avLst/>
          </a:prstGeom>
          <a:noFill/>
          <a:ln/>
        </p:spPr>
        <p:txBody>
          <a:bodyPr wrap="square" lIns="0" tIns="0" rIns="0" bIns="0" rtlCol="0" anchor="t"/>
          <a:lstStyle/>
          <a:p>
            <a:pPr indent="0" marL="0">
              <a:buNone/>
            </a:pPr>
            <a:r>
              <a:rPr lang="en-US" sz="1600" i="1" dirty="0">
                <a:solidFill>
                  <a:srgbClr val="595959"/>
                </a:solidFill>
                <a:latin typeface="Open Sans" pitchFamily="34" charset="0"/>
                <a:ea typeface="Open Sans" pitchFamily="34" charset="-122"/>
                <a:cs typeface="Open Sans" pitchFamily="34" charset="-120"/>
              </a:rPr>
              <a:t>Bring your method summary. The ethics window is open.</a:t>
            </a:r>
            <a:endParaRPr lang="en-US" sz="1600" dirty="0"/>
          </a:p>
        </p:txBody>
      </p:sp>
      <p:pic>
        <p:nvPicPr>
          <p:cNvPr id="8" name="Image 0" descr="preencoded.png">    </p:cNvPr>
          <p:cNvPicPr>
            <a:picLocks noChangeAspect="1"/>
          </p:cNvPicPr>
          <p:nvPr/>
        </p:nvPicPr>
        <p:blipFill>
          <a:blip r:embed="rId1"/>
          <a:stretch>
            <a:fillRect/>
          </a:stretch>
        </p:blipFill>
        <p:spPr>
          <a:xfrm>
            <a:off x="6195060" y="502920"/>
            <a:ext cx="2743200" cy="3840480"/>
          </a:xfrm>
          <a:prstGeom prst="rect">
            <a:avLst/>
          </a:prstGeom>
        </p:spPr>
      </p:pic>
      <p:sp>
        <p:nvSpPr>
          <p:cNvPr id="9" name="Text 6"/>
          <p:cNvSpPr/>
          <p:nvPr/>
        </p:nvSpPr>
        <p:spPr>
          <a:xfrm>
            <a:off x="6217920" y="4480560"/>
            <a:ext cx="2743200" cy="365760"/>
          </a:xfrm>
          <a:prstGeom prst="rect">
            <a:avLst/>
          </a:prstGeom>
          <a:noFill/>
          <a:ln/>
        </p:spPr>
        <p:txBody>
          <a:bodyPr wrap="square" lIns="0" tIns="0" rIns="0" bIns="0" rtlCol="0" anchor="t"/>
          <a:lstStyle/>
          <a:p>
            <a:pPr indent="0" marL="0">
              <a:buNone/>
            </a:pPr>
            <a:r>
              <a:rPr lang="en-US" sz="1100" dirty="0">
                <a:solidFill>
                  <a:srgbClr val="FFFFFF"/>
                </a:solidFill>
                <a:latin typeface="Open Sans" pitchFamily="34" charset="0"/>
                <a:ea typeface="Open Sans" pitchFamily="34" charset="-122"/>
                <a:cs typeface="Open Sans" pitchFamily="34" charset="-120"/>
              </a:rPr>
              <a:t>NB6015CEM  |  Research Project Preparation  |  Level 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508760"/>
            <a:ext cx="7863840" cy="2304288"/>
          </a:xfrm>
          <a:prstGeom prst="rect">
            <a:avLst/>
          </a:prstGeom>
          <a:noFill/>
          <a:ln/>
        </p:spPr>
        <p:txBody>
          <a:bodyPr wrap="square" lIns="63500" tIns="63500" rIns="63500" bIns="63500" rtlCol="0" anchor="t"/>
          <a:lstStyle/>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100" dirty="0"/>
          </a:p>
          <a:p>
            <a:pPr indent="0" marL="0">
              <a:buNone/>
            </a:pPr>
            <a:r>
              <a:rPr lang="en-US" sz="1100" dirty="0">
                <a:solidFill>
                  <a:srgbClr val="1A1A1A"/>
                </a:solidFill>
                <a:latin typeface="Open Sans" pitchFamily="34" charset="0"/>
                <a:ea typeface="Open Sans" pitchFamily="34" charset="-122"/>
                <a:cs typeface="Open Sans" pitchFamily="34" charset="-120"/>
              </a:rPr>
              <a:t>This disclaimer is subject to change without notice.</a:t>
            </a:r>
            <a:endParaRPr lang="en-US" sz="1100" dirty="0"/>
          </a:p>
        </p:txBody>
      </p:sp>
      <p:sp>
        <p:nvSpPr>
          <p:cNvPr id="7" name="Shape 5"/>
          <p:cNvSpPr/>
          <p:nvPr/>
        </p:nvSpPr>
        <p:spPr>
          <a:xfrm>
            <a:off x="731520" y="3886200"/>
            <a:ext cx="54864" cy="786384"/>
          </a:xfrm>
          <a:prstGeom prst="rect">
            <a:avLst/>
          </a:prstGeom>
          <a:solidFill>
            <a:srgbClr val="EDF1F5"/>
          </a:solidFill>
          <a:ln/>
        </p:spPr>
      </p:sp>
      <p:sp>
        <p:nvSpPr>
          <p:cNvPr id="8" name="Text 6"/>
          <p:cNvSpPr/>
          <p:nvPr/>
        </p:nvSpPr>
        <p:spPr>
          <a:xfrm>
            <a:off x="859536" y="3886200"/>
            <a:ext cx="7735824" cy="786384"/>
          </a:xfrm>
          <a:prstGeom prst="rect">
            <a:avLst/>
          </a:prstGeom>
          <a:noFill/>
          <a:ln/>
        </p:spPr>
        <p:txBody>
          <a:bodyPr wrap="square" lIns="63500" tIns="63500" rIns="63500" bIns="63500" rtlCol="0" anchor="t"/>
          <a:lstStyle/>
          <a:p>
            <a:pPr indent="0" marL="0">
              <a:buNone/>
            </a:pPr>
            <a:r>
              <a:rPr lang="en-US" sz="1100" b="1" dirty="0">
                <a:solidFill>
                  <a:srgbClr val="595959"/>
                </a:solidFill>
                <a:latin typeface="Open Sans" pitchFamily="34" charset="0"/>
                <a:ea typeface="Open Sans" pitchFamily="34" charset="-122"/>
                <a:cs typeface="Open Sans" pitchFamily="34" charset="-120"/>
              </a:rPr>
              <a:t>© 2026 Niranga Dharmaratna</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School of Computing &amp; Engineering</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National Institute of Business Management</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Licensed under CC BY-NC-ND 4.0, creativecommons.org/licenses/by-nc-nd/4.0</a:t>
            </a:r>
            <a:endParaRPr lang="en-US" sz="1100" dirty="0"/>
          </a:p>
        </p:txBody>
      </p:sp>
      <p:sp>
        <p:nvSpPr>
          <p:cNvPr id="9" name="Text 7"/>
          <p:cNvSpPr/>
          <p:nvPr/>
        </p:nvSpPr>
        <p:spPr>
          <a:xfrm>
            <a:off x="859536" y="4782312"/>
            <a:ext cx="7735824" cy="292608"/>
          </a:xfrm>
          <a:prstGeom prst="rect">
            <a:avLst/>
          </a:prstGeom>
          <a:noFill/>
          <a:ln/>
        </p:spPr>
        <p:txBody>
          <a:bodyPr wrap="square" lIns="63500" tIns="63500" rIns="63500" bIns="6350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Last modified: 3 October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NB6015CEM Session 4</dc:title>
  <dc:subject>PptxGenJS Presentation</dc:subject>
  <dc:creator>Niranga Dharmaratna</dc:creator>
  <cp:lastModifiedBy>Niranga Dharmaratna</cp:lastModifiedBy>
  <cp:revision>1</cp:revision>
  <dcterms:created xsi:type="dcterms:W3CDTF">2026-10-05T02:58:51Z</dcterms:created>
  <dcterms:modified xsi:type="dcterms:W3CDTF">2026-10-05T02:58:51Z</dcterms:modified>
</cp:coreProperties>
</file>