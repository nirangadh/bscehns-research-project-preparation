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2 of 4. This session covers: finding and judging sources; critical vs descriptive engagement; identifying and justifying a research gap; APA7 for the security domain. Full example bank in Section 5 of the build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the Week 8 checkpoint is a full four-chapter draft. The literature review they build from today directly determines how strong that chapter is. ILO2 and Criterion 2 are the yardstick for this whole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insight to drive home: a vague research question produces a vague literature review, which cannot produce a gap. The S1 and S2 problems are causally linked, not independent.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here. Let this slide breathe. This is the thesis of the whole session. The description-vs-engagement distinction and the gap articulation all flow from this. Students who miss this frame will produce reviews that list sources and call it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these are starting points, not an exhaustive list. Students should follow citation trails from strong papers. A paper in USENIX Security 2023 cites earlier foundational work that is fine to include even if older - what matters is not citing old work as state-of-the-art.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through this slide quickly - about 5 minutes. The triage test is: (1) Was it peer-reviewed or published by an authoritative body? (2) Is it within five years or foundational? (3) Is it a primary or secondary source? If all three are weak, do not cite it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about 5 minutes here. This is a recognition exercise - students need to be able to instantly sort sources before they waste time reading weak material. The goal is fast, confident triage, not exhaustive analysis of every source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distinction: describing = "X did A, Y did B" with no analysis. Engaging = grouping, comparing, naming limitations, wiring back to the RQ. Criterion 2 rewards the same behaviour at its top band, in the rubric's own terms: it looks for a review in which the student works on the sources rather than reporting them, setting them against each other and pressing on what they claim. Paraphrased deliberately, because the rubric is the yardstick for this session but its descriptors are not read out verbatim. Same idea, different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EXAMPLE - DO NOT CITE
DESCRIPTIVE VERSION:
Several approaches to detecting credential-stuffing have been proposed. Perera (2021) developed a rate-limiting method that blocks IP addresses after a threshold of failed logins. Silva and Fernando (2022) proposed a machine-learning classifier using login-frequency features. Jayawardena (2023) used device fingerprinting to identify suspicious sessions. Each of these studies reports high detection rates. These approaches show that credential-stuffing detection is an active area of research.
CRITICAL VERSION:
Detection approaches for credential-stuffing divide broadly into threshold-based and feature-based methods, and the division matters for a SOC that must keep false positives low. Threshold methods such as IP rate-limiting (Perera, 2021) are cheap to deploy but degrade against distributed attacks that stay under per-IP limits, which is the precise case a mobile-banking endpoint faces. Feature-based classifiers (Silva and Fernando, 2022; Jayawardena, 2023) address distribution by scoring behaviour rather than volume, but both evaluate on web traffic with stable client fingerprints, whereas mobile clients churn device and network identifiers in ways that may inflate false positives. No reviewed study evaluates feature-based detection on mobile-banking authentication specifically, and none reports a false-positive rate against a triage threshold. That absence is the gap this project occupies, and it is what the research question's comparison against a rate-limiting baseline is designed to test.
NAMED MOVE: from "X did A, Y did B, Z did C" to "these methods split into approaches A and B; A fails in my context, B has limitation L in my context, and nobody has tested either in context C, which is my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action list: students should be able to apply all four moves in the Activity on the next slide. The most commonly missing move is "wire back to the question" - students identify a limitation but do not connect it to why their project fills the resulting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Hand out (or point to student notes Section 3) for the full paragraph. Run 8 minutes strictly. Debrief: ask 2-3 students to read their rewrites. For each, ask the class: "Did they group? Did they contrast? Did they name a limitation? Did they wire back to the RQ?" The four tells provide the structure for the debrief. The strong version is Slide 10 right column and student notes Section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distinction between gap types is subtle but important. A methodology gap is different from a context gap: one says the method is new, the other says the application is new. Students who name the type show they understand what their project is actually contributing. "More research is needed" is the most common Criterion 2 failure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GAP STATEMENT (illustrative - do not cite):
"The literature on API security testing establishes that broken object-level authorisation is consistently ranked among the most prevalent and damaging API weaknesses, and that automated scanners detect injection and authentication flaws well but detect authorisation flaws poorly, because authorisation is context-specific rather than pattern-based. Structured testing methodologies exist for web applications generally, but the reviewed literature offers no repeatable, taxonomy-driven methodology aimed specifically at object-level authorisation in healthcare FHIR-style APIs, where the protected object is a patient record and the access rules are clinical. The gap is therefore a methodology gap, not a tooling gap. The research question follows directly from it, asking whether a structured object-level-authorisation methodology detects a higher proportion of seeded flaws than unstructured manual testing in a controlled FHIR-style API."
Teaching point: "methodology gap, not a tooling gap" is the phrase that separates a Merit gap statement from a Distinction one. Precision about the type of absence is the Distinction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analogy grounds what can feel like an abstract skill. The wall metaphor has two useful extensions: (1) you have to measure the whole wall to find the hole - that is why breadth of review matters; (2) the hole has to be the right shape - that is why naming the gap type matters. A methodology-gap project is a different shape from a context-gap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Loop back to Session 1 explicitly here. The research question formulation from S1 and the gap articulation from S2 are two sides of the same act of framing. Students who struggled with the research question in S1 will find the gap difficult here - the Week 2 supervision records are useful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FACILITATION: Use the canonical discussion excerpt (student notes Section 3.5, full answer key in lecturer guide Section 5.5). Do NOT reuse the Tharindu descriptive paragraph here - the room has already dissected it on slide 10 and rewritten it in the slide 12 activity, so grading it again teaches nothing. The canonical excerpt is deliberately unattributed, carries a live APA7 error, and closes with the Pass-band gap failure. Groups of 3-4. After 10 minutes, ask each group to name their band verdict and the single highest-value edit. Do not accept "add more sources" as an edit - it is not a Criterion 2 lever. The edit should be structural: grouping, contrasting, naming a gap, or specifying its type. On the referencing question, treat it as priming rather than assessment - the room only has to notice that the last reference looks wrong. Slides 20 and 21 supply the answer immediately after. Keep the room in charge of the judging; you chair, you do not 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briskly through this - about 8 minutes. The forms are in the student notes for reference. The key points: (1) conference papers are NOT journal articles - they have Proceedings, not volumes and issues; (2) RFCs have authors, dates, and DOIs - they are not anonymous web pages; (3) NIST SPs list named individual authors on the cover page - use them (Rose et al. for SP 800-207), not just "NIST website", with NIST itself as the issuing body. The APA7 error set on the next slide covers the five most common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errors account for the majority of APA7 problems seen in this cohort. Errors 1-3 are format errors; error 4 is a sourcing error; error 5 is an integrity issue. Error 5 is worth naming explicitly: if you have not read the original, do not cite it as though you have. "As cited in" is always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one-line bridge to S3: "The gap you articulated today determines what methodology is appropriate - that is what S3 covers." Students whose research questions are still vague after today will struggle with S3 methodology justification. Flag them for the Week 8 supervision.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prompt: "By the end of today, you should be able to (1) triage any source you find; (2) group and contrast sources rather than list them; (3) name a specific typed gap; and (4) connect that gap to your research question. If any of those four feels shaky, bring it to the Week 5 supervision."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384048" y="292608"/>
            <a:ext cx="6949440" cy="548640"/>
          </a:xfrm>
          <a:prstGeom prst="rect">
            <a:avLst/>
          </a:prstGeom>
          <a:noFill/>
          <a:ln/>
        </p:spPr>
        <p:txBody>
          <a:bodyPr wrap="square" lIns="0" tIns="0" rIns="0" bIns="0" rtlCol="0" anchor="t"/>
          <a:lstStyle/>
          <a:p>
            <a:pPr indent="0" marL="0">
              <a:buNone/>
            </a:pPr>
            <a:r>
              <a:rPr lang="en-US" sz="1300" b="1" dirty="0">
                <a:solidFill>
                  <a:srgbClr val="1A1A1A"/>
                </a:solidFill>
                <a:latin typeface="Open Sans" pitchFamily="34" charset="0"/>
                <a:ea typeface="Open Sans" pitchFamily="34" charset="-122"/>
                <a:cs typeface="Open Sans" pitchFamily="34" charset="-120"/>
              </a:rPr>
              <a:t>National Institute of Business Management (NIBM)</a:t>
            </a:r>
            <a:endParaRPr lang="en-US" sz="1300" dirty="0"/>
          </a:p>
          <a:p>
            <a:pPr indent="0" marL="0">
              <a:buNone/>
            </a:pPr>
            <a:r>
              <a:rPr lang="en-US" sz="1300" b="1" dirty="0">
                <a:solidFill>
                  <a:srgbClr val="1A1A1A"/>
                </a:solidFill>
                <a:latin typeface="Open Sans" pitchFamily="34" charset="0"/>
                <a:ea typeface="Open Sans" pitchFamily="34" charset="-122"/>
                <a:cs typeface="Open Sans" pitchFamily="34" charset="-120"/>
              </a:rPr>
              <a:t>Coventry University (CU)</a:t>
            </a:r>
            <a:endParaRPr lang="en-US" sz="1300" dirty="0"/>
          </a:p>
        </p:txBody>
      </p:sp>
      <p:sp>
        <p:nvSpPr>
          <p:cNvPr id="3" name="Text 1"/>
          <p:cNvSpPr/>
          <p:nvPr/>
        </p:nvSpPr>
        <p:spPr>
          <a:xfrm>
            <a:off x="384048" y="886968"/>
            <a:ext cx="4572000" cy="256032"/>
          </a:xfrm>
          <a:prstGeom prst="rect">
            <a:avLst/>
          </a:prstGeom>
          <a:noFill/>
          <a:ln/>
        </p:spPr>
        <p:txBody>
          <a:bodyPr wrap="square" lIns="0" tIns="0" rIns="0" bIns="0" rtlCol="0" anchor="t"/>
          <a:lstStyle/>
          <a:p>
            <a:pPr indent="0" marL="0">
              <a:buNone/>
            </a:pPr>
            <a:r>
              <a:rPr lang="en-US" sz="1200" b="1" dirty="0">
                <a:solidFill>
                  <a:srgbClr val="1B3A6B"/>
                </a:solidFill>
                <a:latin typeface="Open Sans" pitchFamily="34" charset="0"/>
                <a:ea typeface="Open Sans" pitchFamily="34" charset="-122"/>
                <a:cs typeface="Open Sans" pitchFamily="34" charset="-120"/>
              </a:rPr>
              <a:t>NB6015CEM  |  RESEARCH PROJECT PREPARATION</a:t>
            </a:r>
            <a:endParaRPr lang="en-US" sz="1200" dirty="0"/>
          </a:p>
        </p:txBody>
      </p:sp>
      <p:sp>
        <p:nvSpPr>
          <p:cNvPr id="4" name="Text 2"/>
          <p:cNvSpPr/>
          <p:nvPr/>
        </p:nvSpPr>
        <p:spPr>
          <a:xfrm>
            <a:off x="384048" y="1188720"/>
            <a:ext cx="5760720" cy="1920240"/>
          </a:xfrm>
          <a:prstGeom prst="rect">
            <a:avLst/>
          </a:prstGeom>
          <a:noFill/>
          <a:ln/>
        </p:spPr>
        <p:txBody>
          <a:bodyPr wrap="square" lIns="0" tIns="0" rIns="0" bIns="0" rtlCol="0" anchor="t"/>
          <a:lstStyle/>
          <a:p>
            <a:pPr indent="0" marL="0">
              <a:buNone/>
            </a:pPr>
            <a:r>
              <a:rPr lang="en-US" sz="4600" b="1" dirty="0">
                <a:solidFill>
                  <a:srgbClr val="1A1A1A"/>
                </a:solidFill>
                <a:latin typeface="Open Sans" pitchFamily="34" charset="0"/>
                <a:ea typeface="Open Sans" pitchFamily="34" charset="-122"/>
                <a:cs typeface="Open Sans" pitchFamily="34" charset="-120"/>
              </a:rPr>
              <a:t>Critical Literature Review</a:t>
            </a:r>
            <a:endParaRPr lang="en-US" sz="4600" dirty="0"/>
          </a:p>
        </p:txBody>
      </p:sp>
      <p:sp>
        <p:nvSpPr>
          <p:cNvPr id="5" name="Shape 3"/>
          <p:cNvSpPr/>
          <p:nvPr/>
        </p:nvSpPr>
        <p:spPr>
          <a:xfrm>
            <a:off x="384048" y="3145536"/>
            <a:ext cx="749808" cy="82296"/>
          </a:xfrm>
          <a:prstGeom prst="rect">
            <a:avLst/>
          </a:prstGeom>
          <a:solidFill>
            <a:srgbClr val="1B3A6B"/>
          </a:solidFill>
          <a:ln/>
        </p:spPr>
      </p:sp>
      <p:sp>
        <p:nvSpPr>
          <p:cNvPr id="6" name="Shape 4"/>
          <p:cNvSpPr/>
          <p:nvPr/>
        </p:nvSpPr>
        <p:spPr>
          <a:xfrm>
            <a:off x="1188720" y="3145536"/>
            <a:ext cx="384048" cy="82296"/>
          </a:xfrm>
          <a:prstGeom prst="rect">
            <a:avLst/>
          </a:prstGeom>
          <a:solidFill>
            <a:srgbClr val="E0701A"/>
          </a:solidFill>
          <a:ln/>
        </p:spPr>
      </p:sp>
      <p:sp>
        <p:nvSpPr>
          <p:cNvPr id="7" name="Text 5"/>
          <p:cNvSpPr/>
          <p:nvPr/>
        </p:nvSpPr>
        <p:spPr>
          <a:xfrm>
            <a:off x="384048" y="3310128"/>
            <a:ext cx="5303520" cy="731520"/>
          </a:xfrm>
          <a:prstGeom prst="rect">
            <a:avLst/>
          </a:prstGeom>
          <a:noFill/>
          <a:ln/>
        </p:spPr>
        <p:txBody>
          <a:bodyPr wrap="square" lIns="0" tIns="0" rIns="0" bIns="0" rtlCol="0" anchor="t"/>
          <a:lstStyle/>
          <a:p>
            <a:pPr indent="0" marL="0">
              <a:buNone/>
            </a:pPr>
            <a:r>
              <a:rPr lang="en-US" sz="2000" i="1" dirty="0">
                <a:solidFill>
                  <a:srgbClr val="595959"/>
                </a:solidFill>
                <a:latin typeface="Open Sans" pitchFamily="34" charset="0"/>
                <a:ea typeface="Open Sans" pitchFamily="34" charset="-122"/>
                <a:cs typeface="Open Sans" pitchFamily="34" charset="-120"/>
              </a:rPr>
              <a:t>Day 2 - Critical Literature Review</a:t>
            </a:r>
            <a:endParaRPr lang="en-US" sz="2000" dirty="0"/>
          </a:p>
        </p:txBody>
      </p:sp>
      <p:sp>
        <p:nvSpPr>
          <p:cNvPr id="8" name="Text 6"/>
          <p:cNvSpPr/>
          <p:nvPr/>
        </p:nvSpPr>
        <p:spPr>
          <a:xfrm>
            <a:off x="384048" y="4169664"/>
            <a:ext cx="5303520" cy="310896"/>
          </a:xfrm>
          <a:prstGeom prst="rect">
            <a:avLst/>
          </a:prstGeom>
          <a:noFill/>
          <a:ln/>
        </p:spPr>
        <p:txBody>
          <a:bodyPr wrap="square" lIns="0" tIns="0" rIns="0" bIns="0" rtlCol="0" anchor="t"/>
          <a:lstStyle/>
          <a:p>
            <a:pPr indent="0" marL="0">
              <a:buNone/>
            </a:pPr>
            <a:r>
              <a:rPr lang="en-US" sz="1300" b="1" dirty="0">
                <a:solidFill>
                  <a:srgbClr val="1B3A6B"/>
                </a:solidFill>
                <a:latin typeface="Open Sans" pitchFamily="34" charset="0"/>
                <a:ea typeface="Open Sans" pitchFamily="34" charset="-122"/>
                <a:cs typeface="Open Sans" pitchFamily="34" charset="-120"/>
              </a:rPr>
              <a:t>BSc (Hons) Ethical Hacking &amp; Network Security</a:t>
            </a:r>
            <a:endParaRPr lang="en-US" sz="1300" dirty="0"/>
          </a:p>
        </p:txBody>
      </p:sp>
      <p:sp>
        <p:nvSpPr>
          <p:cNvPr id="9" name="Text 7"/>
          <p:cNvSpPr/>
          <p:nvPr/>
        </p:nvSpPr>
        <p:spPr>
          <a:xfrm>
            <a:off x="384048" y="4681728"/>
            <a:ext cx="5029200" cy="329184"/>
          </a:xfrm>
          <a:prstGeom prst="rect">
            <a:avLst/>
          </a:prstGeom>
          <a:noFill/>
          <a:ln/>
        </p:spPr>
        <p:txBody>
          <a:bodyPr wrap="square" lIns="0" tIns="0" rIns="0" bIns="0" rtlCol="0" anchor="t"/>
          <a:lstStyle/>
          <a:p>
            <a:pPr indent="0" marL="0">
              <a:buNone/>
            </a:pPr>
            <a:r>
              <a:rPr lang="en-US" sz="1300" dirty="0">
                <a:solidFill>
                  <a:srgbClr val="595959"/>
                </a:solidFill>
                <a:latin typeface="Open Sans" pitchFamily="34" charset="0"/>
                <a:ea typeface="Open Sans" pitchFamily="34" charset="-122"/>
                <a:cs typeface="Open Sans" pitchFamily="34" charset="-120"/>
              </a:rPr>
              <a:t>Niranga Dharmaratna  |  niranga@nibm.lk</a:t>
            </a:r>
            <a:endParaRPr lang="en-US" sz="1300" dirty="0"/>
          </a:p>
        </p:txBody>
      </p:sp>
      <p:pic>
        <p:nvPicPr>
          <p:cNvPr id="10" name="Image 0" descr="preencoded.png">    </p:cNvPr>
          <p:cNvPicPr>
            <a:picLocks noChangeAspect="1"/>
          </p:cNvPicPr>
          <p:nvPr/>
        </p:nvPicPr>
        <p:blipFill>
          <a:blip r:embed="rId1"/>
          <a:stretch>
            <a:fillRect/>
          </a:stretch>
        </p:blipFill>
        <p:spPr>
          <a:xfrm>
            <a:off x="5943600" y="662940"/>
            <a:ext cx="2834640" cy="4251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Session Overview</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417320"/>
            <a:ext cx="7690104" cy="548640"/>
          </a:xfrm>
          <a:prstGeom prst="rect">
            <a:avLst/>
          </a:prstGeom>
          <a:solidFill>
            <a:srgbClr val="E0701A"/>
          </a:solidFill>
          <a:ln/>
        </p:spPr>
        <p:txBody>
          <a:bodyPr wrap="square" lIns="101600" tIns="101600" rIns="101600" bIns="101600" rtlCol="0" anchor="ctr"/>
          <a:lstStyle/>
          <a:p>
            <a:pPr indent="0" marL="0">
              <a:buNone/>
            </a:pPr>
            <a:r>
              <a:rPr lang="en-US" sz="1600" b="1" dirty="0">
                <a:solidFill>
                  <a:srgbClr val="1A1A1A"/>
                </a:solidFill>
                <a:latin typeface="Open Sans" pitchFamily="34" charset="0"/>
                <a:ea typeface="Open Sans" pitchFamily="34" charset="-122"/>
                <a:cs typeface="Open Sans" pitchFamily="34" charset="-120"/>
              </a:rPr>
              <a:t>Finding, judging and engaging with sources - and arguing for the gap</a:t>
            </a:r>
            <a:endParaRPr lang="en-US" sz="1600" dirty="0"/>
          </a:p>
        </p:txBody>
      </p:sp>
      <p:sp>
        <p:nvSpPr>
          <p:cNvPr id="7" name="Text 5"/>
          <p:cNvSpPr/>
          <p:nvPr/>
        </p:nvSpPr>
        <p:spPr>
          <a:xfrm>
            <a:off x="731520" y="2057400"/>
            <a:ext cx="7690104" cy="2523744"/>
          </a:xfrm>
          <a:prstGeom prst="rect">
            <a:avLst/>
          </a:prstGeom>
          <a:solidFill>
            <a:srgbClr val="C5D6E8"/>
          </a:solidFill>
          <a:ln/>
        </p:spPr>
        <p:txBody>
          <a:bodyPr wrap="square" lIns="127000" tIns="127000" rIns="127000" bIns="127000" rtlCol="0" anchor="t"/>
          <a:lstStyle/>
          <a:p>
            <a:pPr marL="342900" indent="-342900">
              <a:spcAft>
                <a:spcPts val="800"/>
              </a:spcAft>
              <a:buSzPct val="100000"/>
              <a:buChar char="•"/>
            </a:pPr>
            <a:r>
              <a:rPr lang="en-US" sz="1400" b="1" dirty="0">
                <a:solidFill>
                  <a:srgbClr val="1A1A1A"/>
                </a:solidFill>
                <a:latin typeface="Open Sans" pitchFamily="34" charset="0"/>
                <a:ea typeface="Open Sans" pitchFamily="34" charset="-122"/>
                <a:cs typeface="Open Sans" pitchFamily="34" charset="-120"/>
              </a:rPr>
              <a:t>Find the right sources: peer-reviewed security venues, IETF RFCs, and authoritative technical guidance</a:t>
            </a:r>
            <a:endParaRPr lang="en-US" sz="1400" dirty="0"/>
          </a:p>
          <a:p>
            <a:pPr marL="342900" indent="-342900">
              <a:spcAft>
                <a:spcPts val="800"/>
              </a:spcAft>
              <a:buSzPct val="100000"/>
              <a:buChar char="•"/>
            </a:pPr>
            <a:r>
              <a:rPr lang="en-US" sz="1400" b="1" dirty="0">
                <a:solidFill>
                  <a:srgbClr val="1A1A1A"/>
                </a:solidFill>
                <a:latin typeface="Open Sans" pitchFamily="34" charset="0"/>
                <a:ea typeface="Open Sans" pitchFamily="34" charset="-122"/>
                <a:cs typeface="Open Sans" pitchFamily="34" charset="-120"/>
              </a:rPr>
              <a:t>Judge source quality before you cite: a source-triage test for currency, credibility and type</a:t>
            </a:r>
            <a:endParaRPr lang="en-US" sz="1400" dirty="0"/>
          </a:p>
          <a:p>
            <a:pPr marL="342900" indent="-342900">
              <a:spcAft>
                <a:spcPts val="800"/>
              </a:spcAft>
              <a:buSzPct val="100000"/>
              <a:buChar char="•"/>
            </a:pPr>
            <a:r>
              <a:rPr lang="en-US" sz="1400" b="1" dirty="0">
                <a:solidFill>
                  <a:srgbClr val="1A1A1A"/>
                </a:solidFill>
                <a:latin typeface="Open Sans" pitchFamily="34" charset="0"/>
                <a:ea typeface="Open Sans" pitchFamily="34" charset="-122"/>
                <a:cs typeface="Open Sans" pitchFamily="34" charset="-120"/>
              </a:rPr>
              <a:t>Engage critically - do not describe what each source says; analyse, compare, and interrogate it</a:t>
            </a:r>
            <a:endParaRPr lang="en-US" sz="1400" dirty="0"/>
          </a:p>
          <a:p>
            <a:pPr marL="342900" indent="-342900">
              <a:spcAft>
                <a:spcPts val="800"/>
              </a:spcAft>
              <a:buSzPct val="100000"/>
              <a:buChar char="•"/>
            </a:pPr>
            <a:r>
              <a:rPr lang="en-US" sz="1400" b="1" dirty="0">
                <a:solidFill>
                  <a:srgbClr val="1A1A1A"/>
                </a:solidFill>
                <a:latin typeface="Open Sans" pitchFamily="34" charset="0"/>
                <a:ea typeface="Open Sans" pitchFamily="34" charset="-122"/>
                <a:cs typeface="Open Sans" pitchFamily="34" charset="-120"/>
              </a:rPr>
              <a:t>Identify and justify a specific research gap: the proof that your question is sharply framed</a:t>
            </a:r>
            <a:endParaRPr lang="en-US" sz="1400" dirty="0"/>
          </a:p>
          <a:p>
            <a:pPr marL="342900" indent="-342900">
              <a:spcAft>
                <a:spcPts val="800"/>
              </a:spcAft>
              <a:buSzPct val="100000"/>
              <a:buChar char="•"/>
            </a:pPr>
            <a:r>
              <a:rPr lang="en-US" sz="1400" b="1" dirty="0">
                <a:solidFill>
                  <a:srgbClr val="1A1A1A"/>
                </a:solidFill>
                <a:latin typeface="Open Sans" pitchFamily="34" charset="0"/>
                <a:ea typeface="Open Sans" pitchFamily="34" charset="-122"/>
                <a:cs typeface="Open Sans" pitchFamily="34" charset="-120"/>
              </a:rPr>
              <a:t>Apply APA7 accurately for the source types specific to this domain</a:t>
            </a:r>
            <a:endParaRPr lang="en-US" sz="1400" dirty="0"/>
          </a:p>
        </p:txBody>
      </p:sp>
      <p:sp>
        <p:nvSpPr>
          <p:cNvPr id="8" name="Text 6"/>
          <p:cNvSpPr/>
          <p:nvPr/>
        </p:nvSpPr>
        <p:spPr>
          <a:xfrm>
            <a:off x="731520" y="4645152"/>
            <a:ext cx="7690104" cy="274320"/>
          </a:xfrm>
          <a:prstGeom prst="rect">
            <a:avLst/>
          </a:prstGeom>
          <a:noFill/>
          <a:ln/>
        </p:spPr>
        <p:txBody>
          <a:bodyPr wrap="square" lIns="0" tIns="0" rIns="0" bIns="0" rtlCol="0" anchor="t"/>
          <a:lstStyle/>
          <a:p>
            <a:pPr indent="0" marL="0">
              <a:buNone/>
            </a:pPr>
            <a:r>
              <a:rPr lang="en-US" sz="1200" i="1" dirty="0">
                <a:solidFill>
                  <a:srgbClr val="595959"/>
                </a:solidFill>
                <a:latin typeface="Open Sans" pitchFamily="34" charset="0"/>
                <a:ea typeface="Open Sans" pitchFamily="34" charset="-122"/>
                <a:cs typeface="Open Sans" pitchFamily="34" charset="-120"/>
              </a:rPr>
              <a:t>This session feeds directly into the Week 8 proposal draft - specifically the literature review chapter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The Through-Line: Framing Against the Known</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371600"/>
            <a:ext cx="7690104" cy="2505456"/>
          </a:xfrm>
          <a:prstGeom prst="rect">
            <a:avLst/>
          </a:prstGeom>
          <a:solidFill>
            <a:srgbClr val="C5D6E8"/>
          </a:solidFill>
          <a:ln/>
        </p:spPr>
        <p:txBody>
          <a:bodyPr wrap="square" lIns="127000" tIns="127000" rIns="127000" bIns="127000" rtlCol="0" anchor="t"/>
          <a:lstStyle/>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In S1 you framed the research question - the problem made precise and technically specific</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S2 is the same framing muscle under load: you are now positioning the question against what is already known</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You can only name a gap if your question is sharp enough to measure the literature against</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The gap is the proof that your question is framed - the literature review is the argument that produces it</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S2 feeds the literature review chapter of the Week 8 full proposal draft</a:t>
            </a:r>
            <a:endParaRPr lang="en-US" sz="1400" dirty="0"/>
          </a:p>
        </p:txBody>
      </p:sp>
      <p:sp>
        <p:nvSpPr>
          <p:cNvPr id="7" name="Text 5"/>
          <p:cNvSpPr/>
          <p:nvPr/>
        </p:nvSpPr>
        <p:spPr>
          <a:xfrm>
            <a:off x="731520" y="3986784"/>
            <a:ext cx="7690104" cy="640080"/>
          </a:xfrm>
          <a:prstGeom prst="rect">
            <a:avLst/>
          </a:prstGeom>
          <a:solidFill>
            <a:srgbClr val="E3E9EF"/>
          </a:solidFill>
          <a:ln/>
        </p:spPr>
        <p:txBody>
          <a:bodyPr wrap="square" lIns="101600" tIns="101600" rIns="101600" bIns="101600" rtlCol="0" anchor="ctr"/>
          <a:lstStyle/>
          <a:p>
            <a:pPr indent="0" marL="0">
              <a:buNone/>
            </a:pPr>
            <a:r>
              <a:rPr lang="en-US" sz="1400" b="1" dirty="0">
                <a:solidFill>
                  <a:srgbClr val="1B3A6B"/>
                </a:solidFill>
                <a:latin typeface="Open Sans" pitchFamily="34" charset="0"/>
                <a:ea typeface="Open Sans" pitchFamily="34" charset="-122"/>
                <a:cs typeface="Open Sans" pitchFamily="34" charset="-120"/>
              </a:rPr>
              <a:t>Session 1 framed the question. Session 2 frames it against the known. The gap is where those two framing acts meet.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B11E2A"/>
          </a:solidFill>
          <a:ln/>
        </p:spPr>
      </p:sp>
      <p:sp>
        <p:nvSpPr>
          <p:cNvPr id="3" name="Text 1"/>
          <p:cNvSpPr/>
          <p:nvPr/>
        </p:nvSpPr>
        <p:spPr>
          <a:xfrm>
            <a:off x="731520" y="640080"/>
            <a:ext cx="5029200" cy="310896"/>
          </a:xfrm>
          <a:prstGeom prst="rect">
            <a:avLst/>
          </a:prstGeom>
          <a:noFill/>
          <a:ln/>
        </p:spPr>
        <p:txBody>
          <a:bodyPr wrap="square" lIns="0" tIns="0" rIns="0" bIns="0" rtlCol="0" anchor="t"/>
          <a:lstStyle/>
          <a:p>
            <a:pPr indent="0" marL="0">
              <a:buNone/>
            </a:pPr>
            <a:r>
              <a:rPr lang="en-US" sz="1300" b="1" spc="200" kern="0" dirty="0">
                <a:solidFill>
                  <a:srgbClr val="FFFFFF"/>
                </a:solidFill>
                <a:latin typeface="Open Sans" pitchFamily="34" charset="0"/>
                <a:ea typeface="Open Sans" pitchFamily="34" charset="-122"/>
                <a:cs typeface="Open Sans" pitchFamily="34" charset="-120"/>
              </a:rPr>
              <a:t>KEY CONCEPT</a:t>
            </a:r>
            <a:endParaRPr lang="en-US" sz="1300" dirty="0"/>
          </a:p>
        </p:txBody>
      </p:sp>
      <p:sp>
        <p:nvSpPr>
          <p:cNvPr id="4" name="Shape 2"/>
          <p:cNvSpPr/>
          <p:nvPr/>
        </p:nvSpPr>
        <p:spPr>
          <a:xfrm>
            <a:off x="731520" y="1024128"/>
            <a:ext cx="502920" cy="54864"/>
          </a:xfrm>
          <a:prstGeom prst="rect">
            <a:avLst/>
          </a:prstGeom>
          <a:solidFill>
            <a:srgbClr val="E0701A"/>
          </a:solidFill>
          <a:ln/>
        </p:spPr>
      </p:sp>
      <p:sp>
        <p:nvSpPr>
          <p:cNvPr id="5" name="Text 3"/>
          <p:cNvSpPr/>
          <p:nvPr/>
        </p:nvSpPr>
        <p:spPr>
          <a:xfrm>
            <a:off x="731520" y="1188720"/>
            <a:ext cx="7690104" cy="1005840"/>
          </a:xfrm>
          <a:prstGeom prst="rect">
            <a:avLst/>
          </a:prstGeom>
          <a:noFill/>
          <a:ln/>
        </p:spPr>
        <p:txBody>
          <a:bodyPr wrap="square" lIns="0" tIns="0" rIns="0" bIns="0" rtlCol="0" anchor="t"/>
          <a:lstStyle/>
          <a:p>
            <a:pPr indent="0" marL="0">
              <a:buNone/>
            </a:pPr>
            <a:r>
              <a:rPr lang="en-US" sz="3000" b="1" dirty="0">
                <a:solidFill>
                  <a:srgbClr val="FFFFFF"/>
                </a:solidFill>
                <a:latin typeface="Open Sans" pitchFamily="34" charset="0"/>
                <a:ea typeface="Open Sans" pitchFamily="34" charset="-122"/>
                <a:cs typeface="Open Sans" pitchFamily="34" charset="-120"/>
              </a:rPr>
              <a:t>A literature review is an argument that builds a gap</a:t>
            </a:r>
            <a:endParaRPr lang="en-US" sz="3000" dirty="0"/>
          </a:p>
        </p:txBody>
      </p:sp>
      <p:sp>
        <p:nvSpPr>
          <p:cNvPr id="6" name="Text 4"/>
          <p:cNvSpPr/>
          <p:nvPr/>
        </p:nvSpPr>
        <p:spPr>
          <a:xfrm>
            <a:off x="731520" y="2331720"/>
            <a:ext cx="7690104" cy="2103120"/>
          </a:xfrm>
          <a:prstGeom prst="rect">
            <a:avLst/>
          </a:prstGeom>
          <a:noFill/>
          <a:ln/>
        </p:spPr>
        <p:txBody>
          <a:bodyPr wrap="square" lIns="0" tIns="0" rIns="0" bIns="0" rtlCol="0" anchor="t"/>
          <a:lstStyle/>
          <a:p>
            <a:pPr indent="0" marL="0">
              <a:spcAft>
                <a:spcPts val="1200"/>
              </a:spcAft>
              <a:buNone/>
            </a:pPr>
            <a:r>
              <a:rPr lang="en-US" sz="1700" dirty="0">
                <a:solidFill>
                  <a:srgbClr val="FFFFFF"/>
                </a:solidFill>
                <a:latin typeface="Open Sans" pitchFamily="34" charset="0"/>
                <a:ea typeface="Open Sans" pitchFamily="34" charset="-122"/>
                <a:cs typeface="Open Sans" pitchFamily="34" charset="-120"/>
              </a:rPr>
              <a:t>It is not a summary of what has been done.</a:t>
            </a:r>
            <a:endParaRPr lang="en-US" sz="1700" dirty="0"/>
          </a:p>
          <a:p>
            <a:pPr indent="0" marL="0">
              <a:spcAft>
                <a:spcPts val="1200"/>
              </a:spcAft>
              <a:buNone/>
            </a:pPr>
            <a:r>
              <a:rPr lang="en-US" sz="1700" dirty="0">
                <a:solidFill>
                  <a:srgbClr val="FFFFFF"/>
                </a:solidFill>
                <a:latin typeface="Open Sans" pitchFamily="34" charset="0"/>
                <a:ea typeface="Open Sans" pitchFamily="34" charset="-122"/>
                <a:cs typeface="Open Sans" pitchFamily="34" charset="-120"/>
              </a:rPr>
              <a:t>The literature is your evidence. Your research question is the case you are building. The gap is the verdict - the specific absence the literature cannot fill, which is exactly what your project is designed to address.</a:t>
            </a:r>
            <a:endParaRPr lang="en-US" sz="1700" dirty="0"/>
          </a:p>
        </p:txBody>
      </p:sp>
      <p:sp>
        <p:nvSpPr>
          <p:cNvPr id="7" name="Shape 5"/>
          <p:cNvSpPr/>
          <p:nvPr/>
        </p:nvSpPr>
        <p:spPr>
          <a:xfrm>
            <a:off x="731520" y="4617720"/>
            <a:ext cx="502920" cy="64008"/>
          </a:xfrm>
          <a:prstGeom prst="rect">
            <a:avLst/>
          </a:prstGeom>
          <a:solidFill>
            <a:srgbClr val="1B3A6B"/>
          </a:solidFill>
          <a:ln/>
        </p:spPr>
      </p:sp>
      <p:sp>
        <p:nvSpPr>
          <p:cNvPr id="8" name="Shape 6"/>
          <p:cNvSpPr/>
          <p:nvPr/>
        </p:nvSpPr>
        <p:spPr>
          <a:xfrm>
            <a:off x="1280160" y="4617720"/>
            <a:ext cx="256032" cy="64008"/>
          </a:xfrm>
          <a:prstGeom prst="rect">
            <a:avLst/>
          </a:prstGeom>
          <a:solidFill>
            <a:srgbClr val="E0701A"/>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Where to Find Credible Sources</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371600"/>
            <a:ext cx="7690104" cy="3520440"/>
          </a:xfrm>
          <a:prstGeom prst="rect">
            <a:avLst/>
          </a:prstGeom>
          <a:solidFill>
            <a:srgbClr val="C5D6E8"/>
          </a:solidFill>
          <a:ln/>
        </p:spPr>
        <p:txBody>
          <a:bodyPr wrap="square" lIns="127000" tIns="127000" rIns="127000" bIns="127000" rtlCol="0" anchor="t"/>
          <a:lstStyle/>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Peer-reviewed security conferences: IEEE Symposium on Security and Privacy (S&amp;P), USENIX Security, ACM Conference on Computer and Communications Security (CCS), Network and Distributed System Security Symposium (NDSS)</a:t>
            </a:r>
            <a:endParaRPr lang="en-US" sz="1300" dirty="0"/>
          </a:p>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IETF Request for Comments (RFCs): the definitive specification for the protocols you are studying - TLS, DNS, BGP, HTTP/2, OAuth</a:t>
            </a:r>
            <a:endParaRPr lang="en-US" sz="1300" dirty="0"/>
          </a:p>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NIST Special Publications: technical guidance on security controls, frameworks, and standards (for example SP 800-207 on zero trust, SP 800-115 on penetration testing)</a:t>
            </a:r>
            <a:endParaRPr lang="en-US" sz="1300" dirty="0"/>
          </a:p>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UK National Cyber Security Centre (NCSC): advisories, guidance papers, and technical publications</a:t>
            </a:r>
            <a:endParaRPr lang="en-US" sz="1300" dirty="0"/>
          </a:p>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OWASP: application security testing guides, vulnerability taxonomy, and project-specific standards</a:t>
            </a:r>
            <a:endParaRPr lang="en-US" sz="1300" dirty="0"/>
          </a:p>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Currency: strong preference for sources published within the last five years - the field moves quickly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Judging What You Find: Source Triage</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371600"/>
            <a:ext cx="7690104" cy="310896"/>
          </a:xfrm>
          <a:prstGeom prst="rect">
            <a:avLst/>
          </a:prstGeom>
          <a:solidFill>
            <a:srgbClr val="2E9E5C"/>
          </a:solidFill>
          <a:ln/>
        </p:spPr>
        <p:txBody>
          <a:bodyPr wrap="square" lIns="101600" tIns="101600" rIns="101600" bIns="101600"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Strong - cite with confidence</a:t>
            </a:r>
            <a:endParaRPr lang="en-US" sz="1300" dirty="0"/>
          </a:p>
        </p:txBody>
      </p:sp>
      <p:sp>
        <p:nvSpPr>
          <p:cNvPr id="7" name="Text 5"/>
          <p:cNvSpPr/>
          <p:nvPr/>
        </p:nvSpPr>
        <p:spPr>
          <a:xfrm>
            <a:off x="731520" y="1719072"/>
            <a:ext cx="7690104" cy="731520"/>
          </a:xfrm>
          <a:prstGeom prst="rect">
            <a:avLst/>
          </a:prstGeom>
          <a:solidFill>
            <a:srgbClr val="EDF1F5"/>
          </a:solidFill>
          <a:ln/>
        </p:spPr>
        <p:txBody>
          <a:bodyPr wrap="square" lIns="76200" tIns="76200" rIns="76200" bIns="76200" rtlCol="0" anchor="t"/>
          <a:lstStyle/>
          <a:p>
            <a:pPr marL="342900" indent="-342900">
              <a:spcAft>
                <a:spcPts val="200"/>
              </a:spcAft>
              <a:buSzPct val="100000"/>
              <a:buChar char="•"/>
            </a:pPr>
            <a:r>
              <a:rPr lang="en-US" sz="1200" dirty="0">
                <a:solidFill>
                  <a:srgbClr val="1A1A1A"/>
                </a:solidFill>
                <a:latin typeface="Open Sans" pitchFamily="34" charset="0"/>
                <a:ea typeface="Open Sans" pitchFamily="34" charset="-122"/>
                <a:cs typeface="Open Sans" pitchFamily="34" charset="-120"/>
              </a:rPr>
              <a:t>Peer-reviewed paper from a top security venue within five years - primary, current</a:t>
            </a:r>
            <a:endParaRPr lang="en-US" sz="1200" dirty="0"/>
          </a:p>
          <a:p>
            <a:pPr marL="342900" indent="-342900">
              <a:spcAft>
                <a:spcPts val="200"/>
              </a:spcAft>
              <a:buSzPct val="100000"/>
              <a:buChar char="•"/>
            </a:pPr>
            <a:r>
              <a:rPr lang="en-US" sz="1200" dirty="0">
                <a:solidFill>
                  <a:srgbClr val="1A1A1A"/>
                </a:solidFill>
                <a:latin typeface="Open Sans" pitchFamily="34" charset="0"/>
                <a:ea typeface="Open Sans" pitchFamily="34" charset="-122"/>
                <a:cs typeface="Open Sans" pitchFamily="34" charset="-120"/>
              </a:rPr>
              <a:t>IETF RFC defining the protocol under study - authoritative primary specification</a:t>
            </a:r>
            <a:endParaRPr lang="en-US" sz="1200" dirty="0"/>
          </a:p>
          <a:p>
            <a:pPr marL="342900" indent="-342900">
              <a:spcAft>
                <a:spcPts val="200"/>
              </a:spcAft>
              <a:buSzPct val="100000"/>
              <a:buChar char="•"/>
            </a:pPr>
            <a:r>
              <a:rPr lang="en-US" sz="1200" dirty="0">
                <a:solidFill>
                  <a:srgbClr val="1A1A1A"/>
                </a:solidFill>
                <a:latin typeface="Open Sans" pitchFamily="34" charset="0"/>
                <a:ea typeface="Open Sans" pitchFamily="34" charset="-122"/>
                <a:cs typeface="Open Sans" pitchFamily="34" charset="-120"/>
              </a:rPr>
              <a:t>NIST / NCSC / OWASP authoritative guidance publication - standards-body primary source</a:t>
            </a:r>
            <a:endParaRPr lang="en-US" sz="1200" dirty="0"/>
          </a:p>
        </p:txBody>
      </p:sp>
      <p:sp>
        <p:nvSpPr>
          <p:cNvPr id="8" name="Text 6"/>
          <p:cNvSpPr/>
          <p:nvPr/>
        </p:nvSpPr>
        <p:spPr>
          <a:xfrm>
            <a:off x="731520" y="2542032"/>
            <a:ext cx="7690104" cy="310896"/>
          </a:xfrm>
          <a:prstGeom prst="rect">
            <a:avLst/>
          </a:prstGeom>
          <a:solidFill>
            <a:srgbClr val="E0701A"/>
          </a:solidFill>
          <a:ln/>
        </p:spPr>
        <p:txBody>
          <a:bodyPr wrap="square" lIns="101600" tIns="101600" rIns="101600" bIns="101600"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Use with care - useful for context, not evidence</a:t>
            </a:r>
            <a:endParaRPr lang="en-US" sz="1300" dirty="0"/>
          </a:p>
        </p:txBody>
      </p:sp>
      <p:sp>
        <p:nvSpPr>
          <p:cNvPr id="9" name="Text 7"/>
          <p:cNvSpPr/>
          <p:nvPr/>
        </p:nvSpPr>
        <p:spPr>
          <a:xfrm>
            <a:off x="731520" y="2889504"/>
            <a:ext cx="7690104" cy="512064"/>
          </a:xfrm>
          <a:prstGeom prst="rect">
            <a:avLst/>
          </a:prstGeom>
          <a:solidFill>
            <a:srgbClr val="EDF1F5"/>
          </a:solidFill>
          <a:ln/>
        </p:spPr>
        <p:txBody>
          <a:bodyPr wrap="square" lIns="76200" tIns="76200" rIns="76200" bIns="76200" rtlCol="0" anchor="t"/>
          <a:lstStyle/>
          <a:p>
            <a:pPr marL="342900" indent="-342900">
              <a:spcAft>
                <a:spcPts val="200"/>
              </a:spcAft>
              <a:buSzPct val="100000"/>
              <a:buChar char="•"/>
            </a:pPr>
            <a:r>
              <a:rPr lang="en-US" sz="1200" dirty="0">
                <a:solidFill>
                  <a:srgbClr val="1A1A1A"/>
                </a:solidFill>
                <a:latin typeface="Open Sans" pitchFamily="34" charset="0"/>
                <a:ea typeface="Open Sans" pitchFamily="34" charset="-122"/>
                <a:cs typeface="Open Sans" pitchFamily="34" charset="-120"/>
              </a:rPr>
              <a:t>Vendor security blog: useful for real-world threat context, but promotional - not for core claims</a:t>
            </a:r>
            <a:endParaRPr lang="en-US" sz="1200" dirty="0"/>
          </a:p>
          <a:p>
            <a:pPr marL="342900" indent="-342900">
              <a:spcAft>
                <a:spcPts val="200"/>
              </a:spcAft>
              <a:buSzPct val="100000"/>
              <a:buChar char="•"/>
            </a:pPr>
            <a:r>
              <a:rPr lang="en-US" sz="1200" dirty="0">
                <a:solidFill>
                  <a:srgbClr val="1A1A1A"/>
                </a:solidFill>
                <a:latin typeface="Open Sans" pitchFamily="34" charset="0"/>
                <a:ea typeface="Open Sans" pitchFamily="34" charset="-122"/>
                <a:cs typeface="Open Sans" pitchFamily="34" charset="-120"/>
              </a:rPr>
              <a:t>Conference paper older than five years: cite for historical origin only, not for state-of-the-art</a:t>
            </a:r>
            <a:endParaRPr lang="en-US" sz="1200" dirty="0"/>
          </a:p>
        </p:txBody>
      </p:sp>
      <p:sp>
        <p:nvSpPr>
          <p:cNvPr id="10" name="Text 8"/>
          <p:cNvSpPr/>
          <p:nvPr/>
        </p:nvSpPr>
        <p:spPr>
          <a:xfrm>
            <a:off x="731520" y="3493008"/>
            <a:ext cx="7690104" cy="310896"/>
          </a:xfrm>
          <a:prstGeom prst="rect">
            <a:avLst/>
          </a:prstGeom>
          <a:solidFill>
            <a:srgbClr val="B11E2A"/>
          </a:solidFill>
          <a:ln/>
        </p:spPr>
        <p:txBody>
          <a:bodyPr wrap="square" lIns="101600" tIns="101600" rIns="101600" bIns="101600"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Weak - do not cite as academic evidence</a:t>
            </a:r>
            <a:endParaRPr lang="en-US" sz="1300" dirty="0"/>
          </a:p>
        </p:txBody>
      </p:sp>
      <p:sp>
        <p:nvSpPr>
          <p:cNvPr id="11" name="Text 9"/>
          <p:cNvSpPr/>
          <p:nvPr/>
        </p:nvSpPr>
        <p:spPr>
          <a:xfrm>
            <a:off x="731520" y="3840480"/>
            <a:ext cx="7690104" cy="512064"/>
          </a:xfrm>
          <a:prstGeom prst="rect">
            <a:avLst/>
          </a:prstGeom>
          <a:solidFill>
            <a:srgbClr val="EDF1F5"/>
          </a:solidFill>
          <a:ln/>
        </p:spPr>
        <p:txBody>
          <a:bodyPr wrap="square" lIns="76200" tIns="76200" rIns="76200" bIns="76200" rtlCol="0" anchor="t"/>
          <a:lstStyle/>
          <a:p>
            <a:pPr marL="342900" indent="-342900">
              <a:spcAft>
                <a:spcPts val="200"/>
              </a:spcAft>
              <a:buSzPct val="100000"/>
              <a:buChar char="•"/>
            </a:pPr>
            <a:r>
              <a:rPr lang="en-US" sz="1200" dirty="0">
                <a:solidFill>
                  <a:srgbClr val="1A1A1A"/>
                </a:solidFill>
                <a:latin typeface="Open Sans" pitchFamily="34" charset="0"/>
                <a:ea typeface="Open Sans" pitchFamily="34" charset="-122"/>
                <a:cs typeface="Open Sans" pitchFamily="34" charset="-120"/>
              </a:rPr>
              <a:t>Encyclopaedia entry: tertiary source - use it to orient yourself, then find and cite the primary source</a:t>
            </a:r>
            <a:endParaRPr lang="en-US" sz="1200" dirty="0"/>
          </a:p>
          <a:p>
            <a:pPr marL="342900" indent="-342900">
              <a:spcAft>
                <a:spcPts val="200"/>
              </a:spcAft>
              <a:buSzPct val="100000"/>
              <a:buChar char="•"/>
            </a:pPr>
            <a:r>
              <a:rPr lang="en-US" sz="1200" dirty="0">
                <a:solidFill>
                  <a:srgbClr val="1A1A1A"/>
                </a:solidFill>
                <a:latin typeface="Open Sans" pitchFamily="34" charset="0"/>
                <a:ea typeface="Open Sans" pitchFamily="34" charset="-122"/>
                <a:cs typeface="Open Sans" pitchFamily="34" charset="-120"/>
              </a:rPr>
              <a:t>Personal blog or Q&amp;A forum: unvetted and not a citable academic or technical source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Source Triage in Practice</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411480" y="1371600"/>
            <a:ext cx="4133088" cy="402336"/>
          </a:xfrm>
          <a:prstGeom prst="rect">
            <a:avLst/>
          </a:prstGeom>
          <a:solidFill>
            <a:srgbClr val="2E9E5C"/>
          </a:solidFill>
          <a:ln/>
        </p:spPr>
        <p:txBody>
          <a:bodyPr wrap="square" lIns="76200" tIns="76200" rIns="76200" bIns="7620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Credible - Use These</a:t>
            </a:r>
            <a:endParaRPr lang="en-US" sz="1500" dirty="0"/>
          </a:p>
        </p:txBody>
      </p:sp>
      <p:sp>
        <p:nvSpPr>
          <p:cNvPr id="7" name="Text 5"/>
          <p:cNvSpPr/>
          <p:nvPr/>
        </p:nvSpPr>
        <p:spPr>
          <a:xfrm>
            <a:off x="4645152" y="1371600"/>
            <a:ext cx="4133088" cy="402336"/>
          </a:xfrm>
          <a:prstGeom prst="rect">
            <a:avLst/>
          </a:prstGeom>
          <a:solidFill>
            <a:srgbClr val="B11E2A"/>
          </a:solidFill>
          <a:ln/>
        </p:spPr>
        <p:txBody>
          <a:bodyPr wrap="square" lIns="76200" tIns="76200" rIns="76200" bIns="7620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Weak - Do Not Rely On</a:t>
            </a:r>
            <a:endParaRPr lang="en-US" sz="1500" dirty="0"/>
          </a:p>
        </p:txBody>
      </p:sp>
      <p:sp>
        <p:nvSpPr>
          <p:cNvPr id="8" name="Text 6"/>
          <p:cNvSpPr/>
          <p:nvPr/>
        </p:nvSpPr>
        <p:spPr>
          <a:xfrm>
            <a:off x="411480" y="1810512"/>
            <a:ext cx="4133088" cy="2788920"/>
          </a:xfrm>
          <a:prstGeom prst="rect">
            <a:avLst/>
          </a:prstGeom>
          <a:noFill/>
          <a:ln w="9525">
            <a:solidFill>
              <a:srgbClr val="CCCCCC"/>
            </a:solidFill>
          </a:ln>
        </p:spPr>
        <p:txBody>
          <a:bodyPr wrap="square" lIns="101600" tIns="101600" rIns="101600" bIns="101600" rtlCol="0" anchor="t"/>
          <a:lstStyle/>
          <a:p>
            <a:pPr marL="342900" indent="-342900">
              <a:spcAft>
                <a:spcPts val="400"/>
              </a:spcAft>
              <a:buSzPct val="100000"/>
              <a:buChar char="•"/>
            </a:pPr>
            <a:r>
              <a:rPr lang="en-US" sz="1300" b="1" dirty="0">
                <a:solidFill>
                  <a:srgbClr val="1A1A1A"/>
                </a:solidFill>
                <a:latin typeface="Open Sans" pitchFamily="34" charset="0"/>
                <a:ea typeface="Open Sans" pitchFamily="34" charset="-122"/>
                <a:cs typeface="Open Sans" pitchFamily="34" charset="-120"/>
              </a:rPr>
              <a:t>USENIX Security paper (&lt; 5 years)</a:t>
            </a:r>
            <a:endParaRPr lang="en-US" sz="1200" dirty="0"/>
          </a:p>
          <a:p>
            <a:pPr indent="0" marL="0">
              <a:spcAft>
                <a:spcPts val="400"/>
              </a:spcAft>
              <a:buNone/>
            </a:pPr>
            <a:r>
              <a:rPr lang="en-US" sz="1200" dirty="0">
                <a:solidFill>
                  <a:srgbClr val="1A1A1A"/>
                </a:solidFill>
                <a:latin typeface="Open Sans" pitchFamily="34" charset="0"/>
                <a:ea typeface="Open Sans" pitchFamily="34" charset="-122"/>
                <a:cs typeface="Open Sans" pitchFamily="34" charset="-120"/>
              </a:rPr>
              <a:t>Peer-reviewed. Top venue. Primary research. Use with confidence.</a:t>
            </a:r>
            <a:endParaRPr lang="en-US" sz="1200" dirty="0"/>
          </a:p>
          <a:p>
            <a:pPr marL="342900" indent="-342900">
              <a:spcAft>
                <a:spcPts val="400"/>
              </a:spcAft>
              <a:buSzPct val="100000"/>
              <a:buChar char="•"/>
            </a:pPr>
            <a:r>
              <a:rPr lang="en-US" sz="1300" b="1" dirty="0">
                <a:solidFill>
                  <a:srgbClr val="1A1A1A"/>
                </a:solidFill>
                <a:latin typeface="Open Sans" pitchFamily="34" charset="0"/>
                <a:ea typeface="Open Sans" pitchFamily="34" charset="-122"/>
                <a:cs typeface="Open Sans" pitchFamily="34" charset="-120"/>
              </a:rPr>
              <a:t>IETF RFC for the protocol under study</a:t>
            </a:r>
            <a:endParaRPr lang="en-US" sz="1200" dirty="0"/>
          </a:p>
          <a:p>
            <a:pPr indent="0" marL="0">
              <a:spcAft>
                <a:spcPts val="400"/>
              </a:spcAft>
              <a:buNone/>
            </a:pPr>
            <a:r>
              <a:rPr lang="en-US" sz="1200" dirty="0">
                <a:solidFill>
                  <a:srgbClr val="1A1A1A"/>
                </a:solidFill>
                <a:latin typeface="Open Sans" pitchFamily="34" charset="0"/>
                <a:ea typeface="Open Sans" pitchFamily="34" charset="-122"/>
                <a:cs typeface="Open Sans" pitchFamily="34" charset="-120"/>
              </a:rPr>
              <a:t>Authoritative specification. The primary source. Cite the specific RFC number.</a:t>
            </a:r>
            <a:endParaRPr lang="en-US" sz="1200" dirty="0"/>
          </a:p>
          <a:p>
            <a:pPr marL="342900" indent="-342900">
              <a:spcAft>
                <a:spcPts val="400"/>
              </a:spcAft>
              <a:buSzPct val="100000"/>
              <a:buChar char="•"/>
            </a:pPr>
            <a:r>
              <a:rPr lang="en-US" sz="1300" b="1" dirty="0">
                <a:solidFill>
                  <a:srgbClr val="1A1A1A"/>
                </a:solidFill>
                <a:latin typeface="Open Sans" pitchFamily="34" charset="0"/>
                <a:ea typeface="Open Sans" pitchFamily="34" charset="-122"/>
                <a:cs typeface="Open Sans" pitchFamily="34" charset="-120"/>
              </a:rPr>
              <a:t>NIST Special Publication on the control being tested</a:t>
            </a:r>
            <a:endParaRPr lang="en-US" sz="1200" dirty="0"/>
          </a:p>
          <a:p>
            <a:pPr indent="0" marL="0">
              <a:spcAft>
                <a:spcPts val="400"/>
              </a:spcAft>
              <a:buNone/>
            </a:pPr>
            <a:r>
              <a:rPr lang="en-US" sz="1200" dirty="0">
                <a:solidFill>
                  <a:srgbClr val="1A1A1A"/>
                </a:solidFill>
                <a:latin typeface="Open Sans" pitchFamily="34" charset="0"/>
                <a:ea typeface="Open Sans" pitchFamily="34" charset="-122"/>
                <a:cs typeface="Open Sans" pitchFamily="34" charset="-120"/>
              </a:rPr>
              <a:t>Authoritative technical guidance. Standards-body primary source.</a:t>
            </a:r>
            <a:endParaRPr lang="en-US" sz="1200" dirty="0"/>
          </a:p>
        </p:txBody>
      </p:sp>
      <p:sp>
        <p:nvSpPr>
          <p:cNvPr id="9" name="Text 7"/>
          <p:cNvSpPr/>
          <p:nvPr/>
        </p:nvSpPr>
        <p:spPr>
          <a:xfrm>
            <a:off x="4645152" y="1810512"/>
            <a:ext cx="4133088" cy="2788920"/>
          </a:xfrm>
          <a:prstGeom prst="rect">
            <a:avLst/>
          </a:prstGeom>
          <a:noFill/>
          <a:ln w="9525">
            <a:solidFill>
              <a:srgbClr val="CCCCCC"/>
            </a:solidFill>
          </a:ln>
        </p:spPr>
        <p:txBody>
          <a:bodyPr wrap="square" lIns="101600" tIns="101600" rIns="101600" bIns="101600" rtlCol="0" anchor="t"/>
          <a:lstStyle/>
          <a:p>
            <a:pPr marL="342900" indent="-342900">
              <a:spcAft>
                <a:spcPts val="400"/>
              </a:spcAft>
              <a:buSzPct val="100000"/>
              <a:buChar char="•"/>
            </a:pPr>
            <a:r>
              <a:rPr lang="en-US" sz="1300" b="1" dirty="0">
                <a:solidFill>
                  <a:srgbClr val="1A1A1A"/>
                </a:solidFill>
                <a:latin typeface="Open Sans" pitchFamily="34" charset="0"/>
                <a:ea typeface="Open Sans" pitchFamily="34" charset="-122"/>
                <a:cs typeface="Open Sans" pitchFamily="34" charset="-120"/>
              </a:rPr>
              <a:t>Vendor security blog (product announcement)</a:t>
            </a:r>
            <a:endParaRPr lang="en-US" sz="1200" dirty="0"/>
          </a:p>
          <a:p>
            <a:pPr indent="0" marL="0">
              <a:spcAft>
                <a:spcPts val="400"/>
              </a:spcAft>
              <a:buNone/>
            </a:pPr>
            <a:r>
              <a:rPr lang="en-US" sz="1200" dirty="0">
                <a:solidFill>
                  <a:srgbClr val="1A1A1A"/>
                </a:solidFill>
                <a:latin typeface="Open Sans" pitchFamily="34" charset="0"/>
                <a:ea typeface="Open Sans" pitchFamily="34" charset="-122"/>
                <a:cs typeface="Open Sans" pitchFamily="34" charset="-120"/>
              </a:rPr>
              <a:t>Useful for real-world threat context only. Promotional. Not for core claims.</a:t>
            </a:r>
            <a:endParaRPr lang="en-US" sz="1200" dirty="0"/>
          </a:p>
          <a:p>
            <a:pPr marL="342900" indent="-342900">
              <a:spcAft>
                <a:spcPts val="400"/>
              </a:spcAft>
              <a:buSzPct val="100000"/>
              <a:buChar char="•"/>
            </a:pPr>
            <a:r>
              <a:rPr lang="en-US" sz="1300" b="1" dirty="0">
                <a:solidFill>
                  <a:srgbClr val="1A1A1A"/>
                </a:solidFill>
                <a:latin typeface="Open Sans" pitchFamily="34" charset="0"/>
                <a:ea typeface="Open Sans" pitchFamily="34" charset="-122"/>
                <a:cs typeface="Open Sans" pitchFamily="34" charset="-120"/>
              </a:rPr>
              <a:t>2009 conference paper on the same topic</a:t>
            </a:r>
            <a:endParaRPr lang="en-US" sz="1200" dirty="0"/>
          </a:p>
          <a:p>
            <a:pPr indent="0" marL="0">
              <a:spcAft>
                <a:spcPts val="400"/>
              </a:spcAft>
              <a:buNone/>
            </a:pPr>
            <a:r>
              <a:rPr lang="en-US" sz="1200" dirty="0">
                <a:solidFill>
                  <a:srgbClr val="1A1A1A"/>
                </a:solidFill>
                <a:latin typeface="Open Sans" pitchFamily="34" charset="0"/>
                <a:ea typeface="Open Sans" pitchFamily="34" charset="-122"/>
                <a:cs typeface="Open Sans" pitchFamily="34" charset="-120"/>
              </a:rPr>
              <a:t>Cite for historical origin only. Not state-of-the-art. The field has moved.</a:t>
            </a:r>
            <a:endParaRPr lang="en-US" sz="1200" dirty="0"/>
          </a:p>
          <a:p>
            <a:pPr marL="342900" indent="-342900">
              <a:spcAft>
                <a:spcPts val="400"/>
              </a:spcAft>
              <a:buSzPct val="100000"/>
              <a:buChar char="•"/>
            </a:pPr>
            <a:r>
              <a:rPr lang="en-US" sz="1300" b="1" dirty="0">
                <a:solidFill>
                  <a:srgbClr val="1A1A1A"/>
                </a:solidFill>
                <a:latin typeface="Open Sans" pitchFamily="34" charset="0"/>
                <a:ea typeface="Open Sans" pitchFamily="34" charset="-122"/>
                <a:cs typeface="Open Sans" pitchFamily="34" charset="-120"/>
              </a:rPr>
              <a:t>Wikipedia / encyclopaedia entry</a:t>
            </a:r>
            <a:endParaRPr lang="en-US" sz="1200" dirty="0"/>
          </a:p>
          <a:p>
            <a:pPr indent="0" marL="0">
              <a:spcAft>
                <a:spcPts val="400"/>
              </a:spcAft>
              <a:buNone/>
            </a:pPr>
            <a:r>
              <a:rPr lang="en-US" sz="1200" dirty="0">
                <a:solidFill>
                  <a:srgbClr val="1A1A1A"/>
                </a:solidFill>
                <a:latin typeface="Open Sans" pitchFamily="34" charset="0"/>
                <a:ea typeface="Open Sans" pitchFamily="34" charset="-122"/>
                <a:cs typeface="Open Sans" pitchFamily="34" charset="-120"/>
              </a:rPr>
              <a:t>Tertiary. Find the primary source it points to, and cite that instead.</a:t>
            </a:r>
            <a:endParaRPr lang="en-US" sz="1200" dirty="0"/>
          </a:p>
          <a:p>
            <a:pPr marL="342900" indent="-342900">
              <a:spcAft>
                <a:spcPts val="400"/>
              </a:spcAft>
              <a:buSzPct val="100000"/>
              <a:buChar char="•"/>
            </a:pPr>
            <a:r>
              <a:rPr lang="en-US" sz="1300" b="1" dirty="0">
                <a:solidFill>
                  <a:srgbClr val="1A1A1A"/>
                </a:solidFill>
                <a:latin typeface="Open Sans" pitchFamily="34" charset="0"/>
                <a:ea typeface="Open Sans" pitchFamily="34" charset="-122"/>
                <a:cs typeface="Open Sans" pitchFamily="34" charset="-120"/>
              </a:rPr>
              <a:t>Personal blog or Q&amp;A forum answer</a:t>
            </a:r>
            <a:endParaRPr lang="en-US" sz="1200" dirty="0"/>
          </a:p>
          <a:p>
            <a:pPr indent="0" marL="0">
              <a:spcAft>
                <a:spcPts val="400"/>
              </a:spcAft>
              <a:buNone/>
            </a:pPr>
            <a:r>
              <a:rPr lang="en-US" sz="1200" dirty="0">
                <a:solidFill>
                  <a:srgbClr val="1A1A1A"/>
                </a:solidFill>
                <a:latin typeface="Open Sans" pitchFamily="34" charset="0"/>
                <a:ea typeface="Open Sans" pitchFamily="34" charset="-122"/>
                <a:cs typeface="Open Sans" pitchFamily="34" charset="-120"/>
              </a:rPr>
              <a:t>Unvetted. Not a citable academic or technical source.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AF0F6"/>
          </a:solidFill>
          <a:ln/>
        </p:spPr>
      </p:sp>
      <p:sp>
        <p:nvSpPr>
          <p:cNvPr id="3" name="Shape 1"/>
          <p:cNvSpPr/>
          <p:nvPr/>
        </p:nvSpPr>
        <p:spPr>
          <a:xfrm>
            <a:off x="731520" y="1097280"/>
            <a:ext cx="502920" cy="45720"/>
          </a:xfrm>
          <a:prstGeom prst="rect">
            <a:avLst/>
          </a:prstGeom>
          <a:solidFill>
            <a:srgbClr val="1B3A6B"/>
          </a:solidFill>
          <a:ln/>
        </p:spPr>
      </p:sp>
      <p:sp>
        <p:nvSpPr>
          <p:cNvPr id="4" name="Text 2"/>
          <p:cNvSpPr/>
          <p:nvPr/>
        </p:nvSpPr>
        <p:spPr>
          <a:xfrm>
            <a:off x="731520" y="1325880"/>
            <a:ext cx="7690104" cy="1517904"/>
          </a:xfrm>
          <a:prstGeom prst="rect">
            <a:avLst/>
          </a:prstGeom>
          <a:noFill/>
          <a:ln/>
        </p:spPr>
        <p:txBody>
          <a:bodyPr wrap="square" lIns="0" tIns="0" rIns="0" bIns="0" rtlCol="0" anchor="t"/>
          <a:lstStyle/>
          <a:p>
            <a:pPr indent="0" marL="0">
              <a:buNone/>
            </a:pPr>
            <a:r>
              <a:rPr lang="en-US" sz="3600" b="1" dirty="0">
                <a:solidFill>
                  <a:srgbClr val="1A1A1A"/>
                </a:solidFill>
                <a:latin typeface="Open Sans" pitchFamily="34" charset="0"/>
                <a:ea typeface="Open Sans" pitchFamily="34" charset="-122"/>
                <a:cs typeface="Open Sans" pitchFamily="34" charset="-120"/>
              </a:rPr>
              <a:t>01   Describe vs Engage</a:t>
            </a:r>
            <a:endParaRPr lang="en-US" sz="3600" dirty="0"/>
          </a:p>
        </p:txBody>
      </p:sp>
      <p:sp>
        <p:nvSpPr>
          <p:cNvPr id="5" name="Shape 3"/>
          <p:cNvSpPr/>
          <p:nvPr/>
        </p:nvSpPr>
        <p:spPr>
          <a:xfrm>
            <a:off x="731520" y="2788920"/>
            <a:ext cx="749808" cy="82296"/>
          </a:xfrm>
          <a:prstGeom prst="rect">
            <a:avLst/>
          </a:prstGeom>
          <a:solidFill>
            <a:srgbClr val="1B3A6B"/>
          </a:solidFill>
          <a:ln/>
        </p:spPr>
      </p:sp>
      <p:sp>
        <p:nvSpPr>
          <p:cNvPr id="6" name="Shape 4"/>
          <p:cNvSpPr/>
          <p:nvPr/>
        </p:nvSpPr>
        <p:spPr>
          <a:xfrm>
            <a:off x="1536192" y="2788920"/>
            <a:ext cx="384048" cy="82296"/>
          </a:xfrm>
          <a:prstGeom prst="rect">
            <a:avLst/>
          </a:prstGeom>
          <a:solidFill>
            <a:srgbClr val="E0701A"/>
          </a:solidFill>
          <a:ln/>
        </p:spPr>
      </p:sp>
      <p:pic>
        <p:nvPicPr>
          <p:cNvPr id="7" name="Image 0" descr="preencoded.png">    </p:cNvPr>
          <p:cNvPicPr>
            <a:picLocks noChangeAspect="1"/>
          </p:cNvPicPr>
          <p:nvPr/>
        </p:nvPicPr>
        <p:blipFill>
          <a:blip r:embed="rId1"/>
          <a:stretch>
            <a:fillRect/>
          </a:stretch>
        </p:blipFill>
        <p:spPr>
          <a:xfrm>
            <a:off x="5715863" y="3017520"/>
            <a:ext cx="2970937" cy="18745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Describing Reports. Engaging Argues.</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371600"/>
            <a:ext cx="7690104" cy="329184"/>
          </a:xfrm>
          <a:prstGeom prst="rect">
            <a:avLst/>
          </a:prstGeom>
          <a:solidFill>
            <a:srgbClr val="595959"/>
          </a:solidFill>
          <a:ln/>
        </p:spPr>
        <p:txBody>
          <a:bodyPr wrap="square" lIns="101600" tIns="101600" rIns="101600" bIns="101600" rtlCol="0" anchor="ctr"/>
          <a:lstStyle/>
          <a:p>
            <a:pPr indent="0" marL="0">
              <a:buNone/>
            </a:pPr>
            <a:r>
              <a:rPr lang="en-US" sz="1400" b="1" dirty="0">
                <a:solidFill>
                  <a:srgbClr val="FFFFFF"/>
                </a:solidFill>
                <a:latin typeface="Open Sans" pitchFamily="34" charset="0"/>
                <a:ea typeface="Open Sans" pitchFamily="34" charset="-122"/>
                <a:cs typeface="Open Sans" pitchFamily="34" charset="-120"/>
              </a:rPr>
              <a:t>Describing (Pass band)</a:t>
            </a:r>
            <a:endParaRPr lang="en-US" sz="1400" dirty="0"/>
          </a:p>
        </p:txBody>
      </p:sp>
      <p:sp>
        <p:nvSpPr>
          <p:cNvPr id="7" name="Text 5"/>
          <p:cNvSpPr/>
          <p:nvPr/>
        </p:nvSpPr>
        <p:spPr>
          <a:xfrm>
            <a:off x="731520" y="1737360"/>
            <a:ext cx="7690104" cy="1024128"/>
          </a:xfrm>
          <a:prstGeom prst="rect">
            <a:avLst/>
          </a:prstGeom>
          <a:solidFill>
            <a:srgbClr val="EDF1F5"/>
          </a:solidFill>
          <a:ln/>
        </p:spPr>
        <p:txBody>
          <a:bodyPr wrap="square" lIns="101600" tIns="101600" rIns="101600" bIns="101600" rtlCol="0" anchor="t"/>
          <a:lstStyle/>
          <a:p>
            <a:pPr indent="0" marL="0">
              <a:spcAft>
                <a:spcPts val="600"/>
              </a:spcAft>
              <a:buNone/>
            </a:pPr>
            <a:r>
              <a:rPr lang="en-US" sz="1200" dirty="0">
                <a:solidFill>
                  <a:srgbClr val="1A1A1A"/>
                </a:solidFill>
                <a:latin typeface="Open Sans" pitchFamily="34" charset="0"/>
                <a:ea typeface="Open Sans" pitchFamily="34" charset="-122"/>
                <a:cs typeface="Open Sans" pitchFamily="34" charset="-120"/>
              </a:rPr>
              <a:t>"Perera (2021) developed rate-limiting. Silva and Fernando (2022) proposed machine learning. Jayawardena (2023) used fingerprinting."</a:t>
            </a:r>
            <a:endParaRPr lang="en-US" sz="1200" dirty="0"/>
          </a:p>
          <a:p>
            <a:pPr indent="0" marL="0">
              <a:spcAft>
                <a:spcPts val="600"/>
              </a:spcAft>
              <a:buNone/>
            </a:pPr>
            <a:r>
              <a:rPr lang="en-US" sz="1200" dirty="0">
                <a:solidFill>
                  <a:srgbClr val="1A1A1A"/>
                </a:solidFill>
                <a:latin typeface="Open Sans" pitchFamily="34" charset="0"/>
                <a:ea typeface="Open Sans" pitchFamily="34" charset="-122"/>
                <a:cs typeface="Open Sans" pitchFamily="34" charset="-120"/>
              </a:rPr>
              <a:t>Each sentence reports what one source did. No source is compared to another. No connection is made to the research question.</a:t>
            </a:r>
            <a:endParaRPr lang="en-US" sz="1200" dirty="0"/>
          </a:p>
        </p:txBody>
      </p:sp>
      <p:sp>
        <p:nvSpPr>
          <p:cNvPr id="8" name="Text 6"/>
          <p:cNvSpPr/>
          <p:nvPr/>
        </p:nvSpPr>
        <p:spPr>
          <a:xfrm>
            <a:off x="731520" y="2852928"/>
            <a:ext cx="7690104" cy="329184"/>
          </a:xfrm>
          <a:prstGeom prst="rect">
            <a:avLst/>
          </a:prstGeom>
          <a:solidFill>
            <a:srgbClr val="1B3A6B"/>
          </a:solidFill>
          <a:ln/>
        </p:spPr>
        <p:txBody>
          <a:bodyPr wrap="square" lIns="101600" tIns="101600" rIns="101600" bIns="101600" rtlCol="0" anchor="ctr"/>
          <a:lstStyle/>
          <a:p>
            <a:pPr indent="0" marL="0">
              <a:buNone/>
            </a:pPr>
            <a:r>
              <a:rPr lang="en-US" sz="1400" b="1" dirty="0">
                <a:solidFill>
                  <a:srgbClr val="FFFFFF"/>
                </a:solidFill>
                <a:latin typeface="Open Sans" pitchFamily="34" charset="0"/>
                <a:ea typeface="Open Sans" pitchFamily="34" charset="-122"/>
                <a:cs typeface="Open Sans" pitchFamily="34" charset="-120"/>
              </a:rPr>
              <a:t>Engaging (Merit to Distinction band)</a:t>
            </a:r>
            <a:endParaRPr lang="en-US" sz="1400" dirty="0"/>
          </a:p>
        </p:txBody>
      </p:sp>
      <p:sp>
        <p:nvSpPr>
          <p:cNvPr id="9" name="Text 7"/>
          <p:cNvSpPr/>
          <p:nvPr/>
        </p:nvSpPr>
        <p:spPr>
          <a:xfrm>
            <a:off x="731520" y="3218688"/>
            <a:ext cx="7690104" cy="1024128"/>
          </a:xfrm>
          <a:prstGeom prst="rect">
            <a:avLst/>
          </a:prstGeom>
          <a:solidFill>
            <a:srgbClr val="E3E9EF"/>
          </a:solidFill>
          <a:ln/>
        </p:spPr>
        <p:txBody>
          <a:bodyPr wrap="square" lIns="101600" tIns="101600" rIns="101600" bIns="101600" rtlCol="0" anchor="t"/>
          <a:lstStyle/>
          <a:p>
            <a:pPr indent="0" marL="0">
              <a:spcAft>
                <a:spcPts val="600"/>
              </a:spcAft>
              <a:buNone/>
            </a:pPr>
            <a:r>
              <a:rPr lang="en-US" sz="1200" dirty="0">
                <a:solidFill>
                  <a:srgbClr val="1A1A1A"/>
                </a:solidFill>
                <a:latin typeface="Open Sans" pitchFamily="34" charset="0"/>
                <a:ea typeface="Open Sans" pitchFamily="34" charset="-122"/>
                <a:cs typeface="Open Sans" pitchFamily="34" charset="-120"/>
              </a:rPr>
              <a:t>"Threshold methods such as rate-limiting (Perera, 2021) are cheap to deploy but degrade against distributed attacks - precisely the case a mobile-banking endpoint faces."</a:t>
            </a:r>
            <a:endParaRPr lang="en-US" sz="1200" dirty="0"/>
          </a:p>
          <a:p>
            <a:pPr indent="0" marL="0">
              <a:spcAft>
                <a:spcPts val="600"/>
              </a:spcAft>
              <a:buNone/>
            </a:pPr>
            <a:r>
              <a:rPr lang="en-US" sz="1200" dirty="0">
                <a:solidFill>
                  <a:srgbClr val="1A1A1A"/>
                </a:solidFill>
                <a:latin typeface="Open Sans" pitchFamily="34" charset="0"/>
                <a:ea typeface="Open Sans" pitchFamily="34" charset="-122"/>
                <a:cs typeface="Open Sans" pitchFamily="34" charset="-120"/>
              </a:rPr>
              <a:t>Sources are grouped, contrasted, and evaluated. A limitation is named. The connection to the research question is explicit.</a:t>
            </a:r>
            <a:endParaRPr lang="en-US" sz="1200" dirty="0"/>
          </a:p>
        </p:txBody>
      </p:sp>
      <p:sp>
        <p:nvSpPr>
          <p:cNvPr id="10" name="Text 8"/>
          <p:cNvSpPr/>
          <p:nvPr/>
        </p:nvSpPr>
        <p:spPr>
          <a:xfrm>
            <a:off x="731520" y="4315968"/>
            <a:ext cx="7690104" cy="512064"/>
          </a:xfrm>
          <a:prstGeom prst="rect">
            <a:avLst/>
          </a:prstGeom>
          <a:solidFill>
            <a:srgbClr val="E0701A"/>
          </a:solidFill>
          <a:ln/>
        </p:spPr>
        <p:txBody>
          <a:bodyPr wrap="square" lIns="101600" tIns="101600" rIns="101600" bIns="101600" rtlCol="0" anchor="ctr"/>
          <a:lstStyle/>
          <a:p>
            <a:pPr indent="0" marL="0">
              <a:buNone/>
            </a:pPr>
            <a:r>
              <a:rPr lang="en-US" sz="1400" b="1" dirty="0">
                <a:solidFill>
                  <a:srgbClr val="1A1A1A"/>
                </a:solidFill>
                <a:latin typeface="Open Sans" pitchFamily="34" charset="0"/>
                <a:ea typeface="Open Sans" pitchFamily="34" charset="-122"/>
                <a:cs typeface="Open Sans" pitchFamily="34" charset="-120"/>
              </a:rPr>
              <a:t>This is where Criterion 2 marks are won or lost - not in finding sources, but in what you do with them.</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Side by Side: Tharindu's Credential-Stuffing Question</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411480" y="1371600"/>
            <a:ext cx="4133088" cy="402336"/>
          </a:xfrm>
          <a:prstGeom prst="rect">
            <a:avLst/>
          </a:prstGeom>
          <a:solidFill>
            <a:srgbClr val="595959"/>
          </a:solidFill>
          <a:ln/>
        </p:spPr>
        <p:txBody>
          <a:bodyPr wrap="square" lIns="76200" tIns="76200" rIns="76200" bIns="7620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Descriptive - Pass Band</a:t>
            </a:r>
            <a:endParaRPr lang="en-US" sz="1500" dirty="0"/>
          </a:p>
        </p:txBody>
      </p:sp>
      <p:sp>
        <p:nvSpPr>
          <p:cNvPr id="7" name="Text 5"/>
          <p:cNvSpPr/>
          <p:nvPr/>
        </p:nvSpPr>
        <p:spPr>
          <a:xfrm>
            <a:off x="4645152" y="1371600"/>
            <a:ext cx="4133088" cy="402336"/>
          </a:xfrm>
          <a:prstGeom prst="rect">
            <a:avLst/>
          </a:prstGeom>
          <a:solidFill>
            <a:srgbClr val="1B3A6B"/>
          </a:solidFill>
          <a:ln/>
        </p:spPr>
        <p:txBody>
          <a:bodyPr wrap="square" lIns="76200" tIns="76200" rIns="76200" bIns="7620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Critical - Distinction Band</a:t>
            </a:r>
            <a:endParaRPr lang="en-US" sz="1500" dirty="0"/>
          </a:p>
        </p:txBody>
      </p:sp>
      <p:sp>
        <p:nvSpPr>
          <p:cNvPr id="8" name="Text 6"/>
          <p:cNvSpPr/>
          <p:nvPr/>
        </p:nvSpPr>
        <p:spPr>
          <a:xfrm>
            <a:off x="411480" y="1810512"/>
            <a:ext cx="4133088" cy="2834640"/>
          </a:xfrm>
          <a:prstGeom prst="rect">
            <a:avLst/>
          </a:prstGeom>
          <a:noFill/>
          <a:ln w="9525">
            <a:solidFill>
              <a:srgbClr val="CCCCCC"/>
            </a:solidFill>
          </a:ln>
        </p:spPr>
        <p:txBody>
          <a:bodyPr wrap="square" lIns="101600" tIns="101600" rIns="101600" bIns="101600" rtlCol="0" anchor="t"/>
          <a:lstStyle/>
          <a:p>
            <a:pPr indent="0" marL="0">
              <a:spcAft>
                <a:spcPts val="400"/>
              </a:spcAft>
              <a:buNone/>
            </a:pPr>
            <a:r>
              <a:rPr lang="en-US" sz="1100" i="1" dirty="0">
                <a:solidFill>
                  <a:srgbClr val="1A1A1A"/>
                </a:solidFill>
                <a:latin typeface="Open Sans" pitchFamily="34" charset="0"/>
                <a:ea typeface="Open Sans" pitchFamily="34" charset="-122"/>
                <a:cs typeface="Open Sans" pitchFamily="34" charset="-120"/>
              </a:rPr>
              <a:t>[Illustrative example - do not cite]</a:t>
            </a:r>
            <a:endParaRPr lang="en-US" sz="1200" dirty="0"/>
          </a:p>
          <a:p>
            <a:pPr marL="342900" indent="-342900">
              <a:spcAft>
                <a:spcPts val="400"/>
              </a:spcAft>
              <a:buSzPct val="100000"/>
              <a:buChar char="•"/>
            </a:pPr>
            <a:r>
              <a:rPr lang="en-US" sz="1300" b="1" dirty="0">
                <a:solidFill>
                  <a:srgbClr val="1A1A1A"/>
                </a:solidFill>
                <a:latin typeface="Open Sans" pitchFamily="34" charset="0"/>
                <a:ea typeface="Open Sans" pitchFamily="34" charset="-122"/>
                <a:cs typeface="Open Sans" pitchFamily="34" charset="-120"/>
              </a:rPr>
              <a:t>Structure: source-by-source listing</a:t>
            </a:r>
            <a:endParaRPr lang="en-US" sz="1200" dirty="0"/>
          </a:p>
          <a:p>
            <a:pPr indent="0" marL="0">
              <a:spcAft>
                <a:spcPts val="400"/>
              </a:spcAft>
              <a:buNone/>
            </a:pPr>
            <a:r>
              <a:rPr lang="en-US" sz="1200" dirty="0">
                <a:solidFill>
                  <a:srgbClr val="1A1A1A"/>
                </a:solidFill>
                <a:latin typeface="Open Sans" pitchFamily="34" charset="0"/>
                <a:ea typeface="Open Sans" pitchFamily="34" charset="-122"/>
                <a:cs typeface="Open Sans" pitchFamily="34" charset="-120"/>
              </a:rPr>
              <a:t>"Perera (2021) developed... Silva and Fernando (2022) proposed... Jayawardena (2023) used..." - each sentence one source, no relationship between them</a:t>
            </a:r>
            <a:endParaRPr lang="en-US" sz="1200" dirty="0"/>
          </a:p>
          <a:p>
            <a:pPr marL="342900" indent="-342900">
              <a:spcAft>
                <a:spcPts val="400"/>
              </a:spcAft>
              <a:buSzPct val="100000"/>
              <a:buChar char="•"/>
            </a:pPr>
            <a:r>
              <a:rPr lang="en-US" sz="1300" b="1" dirty="0">
                <a:solidFill>
                  <a:srgbClr val="1A1A1A"/>
                </a:solidFill>
                <a:latin typeface="Open Sans" pitchFamily="34" charset="0"/>
                <a:ea typeface="Open Sans" pitchFamily="34" charset="-122"/>
                <a:cs typeface="Open Sans" pitchFamily="34" charset="-120"/>
              </a:rPr>
              <a:t>Verbs: reporting only</a:t>
            </a:r>
            <a:endParaRPr lang="en-US" sz="1200" dirty="0"/>
          </a:p>
          <a:p>
            <a:pPr indent="0" marL="0">
              <a:spcAft>
                <a:spcPts val="400"/>
              </a:spcAft>
              <a:buNone/>
            </a:pPr>
            <a:r>
              <a:rPr lang="en-US" sz="1200" dirty="0">
                <a:solidFill>
                  <a:srgbClr val="1A1A1A"/>
                </a:solidFill>
                <a:latin typeface="Open Sans" pitchFamily="34" charset="0"/>
                <a:ea typeface="Open Sans" pitchFamily="34" charset="-122"/>
                <a:cs typeface="Open Sans" pitchFamily="34" charset="-120"/>
              </a:rPr>
              <a:t>"developed, proposed, used, reports" - no analysis of what these findings mean together</a:t>
            </a:r>
            <a:endParaRPr lang="en-US" sz="1200" dirty="0"/>
          </a:p>
          <a:p>
            <a:pPr marL="342900" indent="-342900">
              <a:spcAft>
                <a:spcPts val="400"/>
              </a:spcAft>
              <a:buSzPct val="100000"/>
              <a:buChar char="•"/>
            </a:pPr>
            <a:r>
              <a:rPr lang="en-US" sz="1300" b="1" dirty="0">
                <a:solidFill>
                  <a:srgbClr val="1A1A1A"/>
                </a:solidFill>
                <a:latin typeface="Open Sans" pitchFamily="34" charset="0"/>
                <a:ea typeface="Open Sans" pitchFamily="34" charset="-122"/>
                <a:cs typeface="Open Sans" pitchFamily="34" charset="-120"/>
              </a:rPr>
              <a:t>Close: vague approval</a:t>
            </a:r>
            <a:endParaRPr lang="en-US" sz="1200" dirty="0"/>
          </a:p>
          <a:p>
            <a:pPr indent="0" marL="0">
              <a:spcAft>
                <a:spcPts val="400"/>
              </a:spcAft>
              <a:buNone/>
            </a:pPr>
            <a:r>
              <a:rPr lang="en-US" sz="1200" dirty="0">
                <a:solidFill>
                  <a:srgbClr val="1A1A1A"/>
                </a:solidFill>
                <a:latin typeface="Open Sans" pitchFamily="34" charset="0"/>
                <a:ea typeface="Open Sans" pitchFamily="34" charset="-122"/>
                <a:cs typeface="Open Sans" pitchFamily="34" charset="-120"/>
              </a:rPr>
              <a:t>"These approaches show that... is an active area of research" - no gap, no connection to the RQ</a:t>
            </a:r>
            <a:endParaRPr lang="en-US" sz="1200" dirty="0"/>
          </a:p>
        </p:txBody>
      </p:sp>
      <p:sp>
        <p:nvSpPr>
          <p:cNvPr id="9" name="Text 7"/>
          <p:cNvSpPr/>
          <p:nvPr/>
        </p:nvSpPr>
        <p:spPr>
          <a:xfrm>
            <a:off x="4645152" y="1810512"/>
            <a:ext cx="4133088" cy="2834640"/>
          </a:xfrm>
          <a:prstGeom prst="rect">
            <a:avLst/>
          </a:prstGeom>
          <a:noFill/>
          <a:ln w="9525">
            <a:solidFill>
              <a:srgbClr val="CCCCCC"/>
            </a:solidFill>
          </a:ln>
        </p:spPr>
        <p:txBody>
          <a:bodyPr wrap="square" lIns="101600" tIns="101600" rIns="101600" bIns="101600" rtlCol="0" anchor="t"/>
          <a:lstStyle/>
          <a:p>
            <a:pPr indent="0" marL="0">
              <a:spcAft>
                <a:spcPts val="400"/>
              </a:spcAft>
              <a:buNone/>
            </a:pPr>
            <a:r>
              <a:rPr lang="en-US" sz="1100" i="1" dirty="0">
                <a:solidFill>
                  <a:srgbClr val="1A1A1A"/>
                </a:solidFill>
                <a:latin typeface="Open Sans" pitchFamily="34" charset="0"/>
                <a:ea typeface="Open Sans" pitchFamily="34" charset="-122"/>
                <a:cs typeface="Open Sans" pitchFamily="34" charset="-120"/>
              </a:rPr>
              <a:t>[Illustrative example - do not cite]</a:t>
            </a:r>
            <a:endParaRPr lang="en-US" sz="1200" dirty="0"/>
          </a:p>
          <a:p>
            <a:pPr marL="342900" indent="-342900">
              <a:spcAft>
                <a:spcPts val="400"/>
              </a:spcAft>
              <a:buSzPct val="100000"/>
              <a:buChar char="•"/>
            </a:pPr>
            <a:r>
              <a:rPr lang="en-US" sz="1300" b="1" dirty="0">
                <a:solidFill>
                  <a:srgbClr val="1A1A1A"/>
                </a:solidFill>
                <a:latin typeface="Open Sans" pitchFamily="34" charset="0"/>
                <a:ea typeface="Open Sans" pitchFamily="34" charset="-122"/>
                <a:cs typeface="Open Sans" pitchFamily="34" charset="-120"/>
              </a:rPr>
              <a:t>Structure: grouped by approach</a:t>
            </a:r>
            <a:endParaRPr lang="en-US" sz="1200" dirty="0"/>
          </a:p>
          <a:p>
            <a:pPr indent="0" marL="0">
              <a:spcAft>
                <a:spcPts val="400"/>
              </a:spcAft>
              <a:buNone/>
            </a:pPr>
            <a:r>
              <a:rPr lang="en-US" sz="1200" dirty="0">
                <a:solidFill>
                  <a:srgbClr val="1A1A1A"/>
                </a:solidFill>
                <a:latin typeface="Open Sans" pitchFamily="34" charset="0"/>
                <a:ea typeface="Open Sans" pitchFamily="34" charset="-122"/>
                <a:cs typeface="Open Sans" pitchFamily="34" charset="-120"/>
              </a:rPr>
              <a:t>"Detection approaches divide into threshold-based and feature-based methods - the division matters for a SOC keeping false positives low."</a:t>
            </a:r>
            <a:endParaRPr lang="en-US" sz="1200" dirty="0"/>
          </a:p>
          <a:p>
            <a:pPr marL="342900" indent="-342900">
              <a:spcAft>
                <a:spcPts val="400"/>
              </a:spcAft>
              <a:buSzPct val="100000"/>
              <a:buChar char="•"/>
            </a:pPr>
            <a:r>
              <a:rPr lang="en-US" sz="1300" b="1" dirty="0">
                <a:solidFill>
                  <a:srgbClr val="1A1A1A"/>
                </a:solidFill>
                <a:latin typeface="Open Sans" pitchFamily="34" charset="0"/>
                <a:ea typeface="Open Sans" pitchFamily="34" charset="-122"/>
                <a:cs typeface="Open Sans" pitchFamily="34" charset="-120"/>
              </a:rPr>
              <a:t>Contrast: limitation named in context</a:t>
            </a:r>
            <a:endParaRPr lang="en-US" sz="1200" dirty="0"/>
          </a:p>
          <a:p>
            <a:pPr indent="0" marL="0">
              <a:spcAft>
                <a:spcPts val="400"/>
              </a:spcAft>
              <a:buNone/>
            </a:pPr>
            <a:r>
              <a:rPr lang="en-US" sz="1200" dirty="0">
                <a:solidFill>
                  <a:srgbClr val="1A1A1A"/>
                </a:solidFill>
                <a:latin typeface="Open Sans" pitchFamily="34" charset="0"/>
                <a:ea typeface="Open Sans" pitchFamily="34" charset="-122"/>
                <a:cs typeface="Open Sans" pitchFamily="34" charset="-120"/>
              </a:rPr>
              <a:t>"Rate-limiting degrades against distributed attacks - the precise case a mobile-banking endpoint faces."</a:t>
            </a:r>
            <a:endParaRPr lang="en-US" sz="1200" dirty="0"/>
          </a:p>
          <a:p>
            <a:pPr marL="342900" indent="-342900">
              <a:spcAft>
                <a:spcPts val="400"/>
              </a:spcAft>
              <a:buSzPct val="100000"/>
              <a:buChar char="•"/>
            </a:pPr>
            <a:r>
              <a:rPr lang="en-US" sz="1300" b="1" dirty="0">
                <a:solidFill>
                  <a:srgbClr val="1A1A1A"/>
                </a:solidFill>
                <a:latin typeface="Open Sans" pitchFamily="34" charset="0"/>
                <a:ea typeface="Open Sans" pitchFamily="34" charset="-122"/>
                <a:cs typeface="Open Sans" pitchFamily="34" charset="-120"/>
              </a:rPr>
              <a:t>Close: gap wired to RQ and baseline</a:t>
            </a:r>
            <a:endParaRPr lang="en-US" sz="1200" dirty="0"/>
          </a:p>
          <a:p>
            <a:pPr indent="0" marL="0">
              <a:spcAft>
                <a:spcPts val="400"/>
              </a:spcAft>
              <a:buNone/>
            </a:pPr>
            <a:r>
              <a:rPr lang="en-US" sz="1200" dirty="0">
                <a:solidFill>
                  <a:srgbClr val="1A1A1A"/>
                </a:solidFill>
                <a:latin typeface="Open Sans" pitchFamily="34" charset="0"/>
                <a:ea typeface="Open Sans" pitchFamily="34" charset="-122"/>
                <a:cs typeface="Open Sans" pitchFamily="34" charset="-120"/>
              </a:rPr>
              <a:t>"That absence is the gap this project occupies - what the comparison against a rate-limiting baseline tests."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The Four Moves That Make a Review Critical</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316736"/>
            <a:ext cx="457200" cy="822960"/>
          </a:xfrm>
          <a:prstGeom prst="rect">
            <a:avLst/>
          </a:prstGeom>
          <a:solidFill>
            <a:srgbClr val="1B3A6B"/>
          </a:solidFill>
          <a:ln/>
        </p:spPr>
        <p:txBody>
          <a:bodyPr wrap="square" lIns="0" tIns="0" rIns="0" bIns="0" rtlCol="0" anchor="ctr"/>
          <a:lstStyle/>
          <a:p>
            <a:pPr algn="ctr" indent="0" marL="0">
              <a:buNone/>
            </a:pPr>
            <a:r>
              <a:rPr lang="en-US" sz="2200" b="1" dirty="0">
                <a:solidFill>
                  <a:srgbClr val="FFFFFF"/>
                </a:solidFill>
                <a:latin typeface="Open Sans" pitchFamily="34" charset="0"/>
                <a:ea typeface="Open Sans" pitchFamily="34" charset="-122"/>
                <a:cs typeface="Open Sans" pitchFamily="34" charset="-120"/>
              </a:rPr>
              <a:t>1</a:t>
            </a:r>
            <a:endParaRPr lang="en-US" sz="2200" dirty="0"/>
          </a:p>
        </p:txBody>
      </p:sp>
      <p:sp>
        <p:nvSpPr>
          <p:cNvPr id="7" name="Text 5"/>
          <p:cNvSpPr/>
          <p:nvPr/>
        </p:nvSpPr>
        <p:spPr>
          <a:xfrm>
            <a:off x="1280160" y="1316736"/>
            <a:ext cx="7141464" cy="822960"/>
          </a:xfrm>
          <a:prstGeom prst="rect">
            <a:avLst/>
          </a:prstGeom>
          <a:solidFill>
            <a:srgbClr val="C5D6E8"/>
          </a:solidFill>
          <a:ln/>
        </p:spPr>
        <p:txBody>
          <a:bodyPr wrap="square" lIns="76200" tIns="76200" rIns="76200" bIns="76200" rtlCol="0" anchor="ctr"/>
          <a:lstStyle/>
          <a:p>
            <a:pPr indent="0" marL="0">
              <a:buNone/>
            </a:pPr>
            <a:r>
              <a:rPr lang="en-US" sz="1400" b="1" dirty="0">
                <a:solidFill>
                  <a:srgbClr val="1A1A1A"/>
                </a:solidFill>
                <a:latin typeface="Open Sans" pitchFamily="34" charset="0"/>
                <a:ea typeface="Open Sans" pitchFamily="34" charset="-122"/>
                <a:cs typeface="Open Sans" pitchFamily="34" charset="-120"/>
              </a:rPr>
              <a:t>Group, do not list</a:t>
            </a:r>
            <a:endParaRPr lang="en-US" sz="1200" dirty="0"/>
          </a:p>
          <a:p>
            <a:pPr indent="0" marL="0">
              <a:buNone/>
            </a:pPr>
            <a:r>
              <a:rPr lang="en-US" sz="1200" dirty="0">
                <a:solidFill>
                  <a:srgbClr val="1A1A1A"/>
                </a:solidFill>
                <a:latin typeface="Open Sans" pitchFamily="34" charset="0"/>
                <a:ea typeface="Open Sans" pitchFamily="34" charset="-122"/>
                <a:cs typeface="Open Sans" pitchFamily="34" charset="-120"/>
              </a:rPr>
              <a:t>Cluster sources by approach or claim, not by author and date. "Threshold methods (Perera, 2021) and feature-based methods (Silva and Fernando, 2022; Jayawardena, 2023) differ in how they handle distributed traffic."</a:t>
            </a:r>
            <a:endParaRPr lang="en-US" sz="1200" dirty="0"/>
          </a:p>
        </p:txBody>
      </p:sp>
      <p:sp>
        <p:nvSpPr>
          <p:cNvPr id="8" name="Text 6"/>
          <p:cNvSpPr/>
          <p:nvPr/>
        </p:nvSpPr>
        <p:spPr>
          <a:xfrm>
            <a:off x="731520" y="2194560"/>
            <a:ext cx="457200" cy="822960"/>
          </a:xfrm>
          <a:prstGeom prst="rect">
            <a:avLst/>
          </a:prstGeom>
          <a:solidFill>
            <a:srgbClr val="1B3A6B"/>
          </a:solidFill>
          <a:ln/>
        </p:spPr>
        <p:txBody>
          <a:bodyPr wrap="square" lIns="0" tIns="0" rIns="0" bIns="0" rtlCol="0" anchor="ctr"/>
          <a:lstStyle/>
          <a:p>
            <a:pPr algn="ctr" indent="0" marL="0">
              <a:buNone/>
            </a:pPr>
            <a:r>
              <a:rPr lang="en-US" sz="2200" b="1" dirty="0">
                <a:solidFill>
                  <a:srgbClr val="FFFFFF"/>
                </a:solidFill>
                <a:latin typeface="Open Sans" pitchFamily="34" charset="0"/>
                <a:ea typeface="Open Sans" pitchFamily="34" charset="-122"/>
                <a:cs typeface="Open Sans" pitchFamily="34" charset="-120"/>
              </a:rPr>
              <a:t>2</a:t>
            </a:r>
            <a:endParaRPr lang="en-US" sz="2200" dirty="0"/>
          </a:p>
        </p:txBody>
      </p:sp>
      <p:sp>
        <p:nvSpPr>
          <p:cNvPr id="9" name="Text 7"/>
          <p:cNvSpPr/>
          <p:nvPr/>
        </p:nvSpPr>
        <p:spPr>
          <a:xfrm>
            <a:off x="1280160" y="2194560"/>
            <a:ext cx="7141464" cy="822960"/>
          </a:xfrm>
          <a:prstGeom prst="rect">
            <a:avLst/>
          </a:prstGeom>
          <a:solidFill>
            <a:srgbClr val="C5D6E8"/>
          </a:solidFill>
          <a:ln/>
        </p:spPr>
        <p:txBody>
          <a:bodyPr wrap="square" lIns="76200" tIns="76200" rIns="76200" bIns="76200" rtlCol="0" anchor="ctr"/>
          <a:lstStyle/>
          <a:p>
            <a:pPr indent="0" marL="0">
              <a:buNone/>
            </a:pPr>
            <a:r>
              <a:rPr lang="en-US" sz="1400" b="1" dirty="0">
                <a:solidFill>
                  <a:srgbClr val="1A1A1A"/>
                </a:solidFill>
                <a:latin typeface="Open Sans" pitchFamily="34" charset="0"/>
                <a:ea typeface="Open Sans" pitchFamily="34" charset="-122"/>
                <a:cs typeface="Open Sans" pitchFamily="34" charset="-120"/>
              </a:rPr>
              <a:t>Contrast, do not accumulate</a:t>
            </a:r>
            <a:endParaRPr lang="en-US" sz="1200" dirty="0"/>
          </a:p>
          <a:p>
            <a:pPr indent="0" marL="0">
              <a:buNone/>
            </a:pPr>
            <a:r>
              <a:rPr lang="en-US" sz="1200" dirty="0">
                <a:solidFill>
                  <a:srgbClr val="1A1A1A"/>
                </a:solidFill>
                <a:latin typeface="Open Sans" pitchFamily="34" charset="0"/>
                <a:ea typeface="Open Sans" pitchFamily="34" charset="-122"/>
                <a:cs typeface="Open Sans" pitchFamily="34" charset="-120"/>
              </a:rPr>
              <a:t>Name how two approaches differ, and say why that difference matters for your specific problem. Not "A and B both exist" but "A fails precisely where B would need to succeed."</a:t>
            </a:r>
            <a:endParaRPr lang="en-US" sz="1200" dirty="0"/>
          </a:p>
        </p:txBody>
      </p:sp>
      <p:sp>
        <p:nvSpPr>
          <p:cNvPr id="10" name="Text 8"/>
          <p:cNvSpPr/>
          <p:nvPr/>
        </p:nvSpPr>
        <p:spPr>
          <a:xfrm>
            <a:off x="731520" y="3072384"/>
            <a:ext cx="457200" cy="822960"/>
          </a:xfrm>
          <a:prstGeom prst="rect">
            <a:avLst/>
          </a:prstGeom>
          <a:solidFill>
            <a:srgbClr val="1B3A6B"/>
          </a:solidFill>
          <a:ln/>
        </p:spPr>
        <p:txBody>
          <a:bodyPr wrap="square" lIns="0" tIns="0" rIns="0" bIns="0" rtlCol="0" anchor="ctr"/>
          <a:lstStyle/>
          <a:p>
            <a:pPr algn="ctr" indent="0" marL="0">
              <a:buNone/>
            </a:pPr>
            <a:r>
              <a:rPr lang="en-US" sz="2200" b="1" dirty="0">
                <a:solidFill>
                  <a:srgbClr val="FFFFFF"/>
                </a:solidFill>
                <a:latin typeface="Open Sans" pitchFamily="34" charset="0"/>
                <a:ea typeface="Open Sans" pitchFamily="34" charset="-122"/>
                <a:cs typeface="Open Sans" pitchFamily="34" charset="-120"/>
              </a:rPr>
              <a:t>3</a:t>
            </a:r>
            <a:endParaRPr lang="en-US" sz="2200" dirty="0"/>
          </a:p>
        </p:txBody>
      </p:sp>
      <p:sp>
        <p:nvSpPr>
          <p:cNvPr id="11" name="Text 9"/>
          <p:cNvSpPr/>
          <p:nvPr/>
        </p:nvSpPr>
        <p:spPr>
          <a:xfrm>
            <a:off x="1280160" y="3072384"/>
            <a:ext cx="7141464" cy="822960"/>
          </a:xfrm>
          <a:prstGeom prst="rect">
            <a:avLst/>
          </a:prstGeom>
          <a:solidFill>
            <a:srgbClr val="C5D6E8"/>
          </a:solidFill>
          <a:ln/>
        </p:spPr>
        <p:txBody>
          <a:bodyPr wrap="square" lIns="76200" tIns="76200" rIns="76200" bIns="76200" rtlCol="0" anchor="ctr"/>
          <a:lstStyle/>
          <a:p>
            <a:pPr indent="0" marL="0">
              <a:buNone/>
            </a:pPr>
            <a:r>
              <a:rPr lang="en-US" sz="1400" b="1" dirty="0">
                <a:solidFill>
                  <a:srgbClr val="1A1A1A"/>
                </a:solidFill>
                <a:latin typeface="Open Sans" pitchFamily="34" charset="0"/>
                <a:ea typeface="Open Sans" pitchFamily="34" charset="-122"/>
                <a:cs typeface="Open Sans" pitchFamily="34" charset="-120"/>
              </a:rPr>
              <a:t>Name a limitation</a:t>
            </a:r>
            <a:endParaRPr lang="en-US" sz="1200" dirty="0"/>
          </a:p>
          <a:p>
            <a:pPr indent="0" marL="0">
              <a:buNone/>
            </a:pPr>
            <a:r>
              <a:rPr lang="en-US" sz="1200" dirty="0">
                <a:solidFill>
                  <a:srgbClr val="1A1A1A"/>
                </a:solidFill>
                <a:latin typeface="Open Sans" pitchFamily="34" charset="0"/>
                <a:ea typeface="Open Sans" pitchFamily="34" charset="-122"/>
                <a:cs typeface="Open Sans" pitchFamily="34" charset="-120"/>
              </a:rPr>
              <a:t>Where does the approach fail? Specifically, why does it fail in your context? This is the analytical step that earns critical engagement marks on the rubric.</a:t>
            </a:r>
            <a:endParaRPr lang="en-US" sz="1200" dirty="0"/>
          </a:p>
        </p:txBody>
      </p:sp>
      <p:sp>
        <p:nvSpPr>
          <p:cNvPr id="12" name="Text 10"/>
          <p:cNvSpPr/>
          <p:nvPr/>
        </p:nvSpPr>
        <p:spPr>
          <a:xfrm>
            <a:off x="731520" y="3950208"/>
            <a:ext cx="457200" cy="822960"/>
          </a:xfrm>
          <a:prstGeom prst="rect">
            <a:avLst/>
          </a:prstGeom>
          <a:solidFill>
            <a:srgbClr val="1B3A6B"/>
          </a:solidFill>
          <a:ln/>
        </p:spPr>
        <p:txBody>
          <a:bodyPr wrap="square" lIns="0" tIns="0" rIns="0" bIns="0" rtlCol="0" anchor="ctr"/>
          <a:lstStyle/>
          <a:p>
            <a:pPr algn="ctr" indent="0" marL="0">
              <a:buNone/>
            </a:pPr>
            <a:r>
              <a:rPr lang="en-US" sz="2200" b="1" dirty="0">
                <a:solidFill>
                  <a:srgbClr val="FFFFFF"/>
                </a:solidFill>
                <a:latin typeface="Open Sans" pitchFamily="34" charset="0"/>
                <a:ea typeface="Open Sans" pitchFamily="34" charset="-122"/>
                <a:cs typeface="Open Sans" pitchFamily="34" charset="-120"/>
              </a:rPr>
              <a:t>4</a:t>
            </a:r>
            <a:endParaRPr lang="en-US" sz="2200" dirty="0"/>
          </a:p>
        </p:txBody>
      </p:sp>
      <p:sp>
        <p:nvSpPr>
          <p:cNvPr id="13" name="Text 11"/>
          <p:cNvSpPr/>
          <p:nvPr/>
        </p:nvSpPr>
        <p:spPr>
          <a:xfrm>
            <a:off x="1280160" y="3950208"/>
            <a:ext cx="7141464" cy="822960"/>
          </a:xfrm>
          <a:prstGeom prst="rect">
            <a:avLst/>
          </a:prstGeom>
          <a:solidFill>
            <a:srgbClr val="C5D6E8"/>
          </a:solidFill>
          <a:ln/>
        </p:spPr>
        <p:txBody>
          <a:bodyPr wrap="square" lIns="76200" tIns="76200" rIns="76200" bIns="76200" rtlCol="0" anchor="ctr"/>
          <a:lstStyle/>
          <a:p>
            <a:pPr indent="0" marL="0">
              <a:buNone/>
            </a:pPr>
            <a:r>
              <a:rPr lang="en-US" sz="1400" b="1" dirty="0">
                <a:solidFill>
                  <a:srgbClr val="1A1A1A"/>
                </a:solidFill>
                <a:latin typeface="Open Sans" pitchFamily="34" charset="0"/>
                <a:ea typeface="Open Sans" pitchFamily="34" charset="-122"/>
                <a:cs typeface="Open Sans" pitchFamily="34" charset="-120"/>
              </a:rPr>
              <a:t>Wire back to the question</a:t>
            </a:r>
            <a:endParaRPr lang="en-US" sz="1200" dirty="0"/>
          </a:p>
          <a:p>
            <a:pPr indent="0" marL="0">
              <a:buNone/>
            </a:pPr>
            <a:r>
              <a:rPr lang="en-US" sz="1200" dirty="0">
                <a:solidFill>
                  <a:srgbClr val="1A1A1A"/>
                </a:solidFill>
                <a:latin typeface="Open Sans" pitchFamily="34" charset="0"/>
                <a:ea typeface="Open Sans" pitchFamily="34" charset="-122"/>
                <a:cs typeface="Open Sans" pitchFamily="34" charset="-120"/>
              </a:rPr>
              <a:t>Every paragraph should connect its analysis to the problem you are solving. The limitation you name is the foothold for the gap; the gap is the justification for the question.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0701A"/>
          </a:solidFill>
          <a:ln/>
        </p:spPr>
      </p:sp>
      <p:sp>
        <p:nvSpPr>
          <p:cNvPr id="3" name="Shape 1"/>
          <p:cNvSpPr/>
          <p:nvPr/>
        </p:nvSpPr>
        <p:spPr>
          <a:xfrm>
            <a:off x="731520" y="566928"/>
            <a:ext cx="502920" cy="45720"/>
          </a:xfrm>
          <a:prstGeom prst="rect">
            <a:avLst/>
          </a:prstGeom>
          <a:solidFill>
            <a:srgbClr val="FFFFFF"/>
          </a:solidFill>
          <a:ln/>
        </p:spPr>
      </p:sp>
      <p:sp>
        <p:nvSpPr>
          <p:cNvPr id="4" name="Text 2"/>
          <p:cNvSpPr/>
          <p:nvPr/>
        </p:nvSpPr>
        <p:spPr>
          <a:xfrm>
            <a:off x="731520" y="713232"/>
            <a:ext cx="7690104" cy="658368"/>
          </a:xfrm>
          <a:prstGeom prst="rect">
            <a:avLst/>
          </a:prstGeom>
          <a:noFill/>
          <a:ln/>
        </p:spPr>
        <p:txBody>
          <a:bodyPr wrap="square" lIns="0" tIns="0" rIns="0" bIns="0" rtlCol="0" anchor="t"/>
          <a:lstStyle/>
          <a:p>
            <a:pPr indent="0" marL="0">
              <a:buNone/>
            </a:pPr>
            <a:r>
              <a:rPr lang="en-US" sz="3200" b="1" dirty="0">
                <a:solidFill>
                  <a:srgbClr val="FFFFFF"/>
                </a:solidFill>
                <a:latin typeface="Open Sans" pitchFamily="34" charset="0"/>
                <a:ea typeface="Open Sans" pitchFamily="34" charset="-122"/>
                <a:cs typeface="Open Sans" pitchFamily="34" charset="-120"/>
              </a:rPr>
              <a:t>Make It Critical</a:t>
            </a:r>
            <a:endParaRPr lang="en-US" sz="3200" dirty="0"/>
          </a:p>
        </p:txBody>
      </p:sp>
      <p:sp>
        <p:nvSpPr>
          <p:cNvPr id="5" name="Text 3"/>
          <p:cNvSpPr/>
          <p:nvPr/>
        </p:nvSpPr>
        <p:spPr>
          <a:xfrm>
            <a:off x="731520" y="1481328"/>
            <a:ext cx="4297680" cy="3291840"/>
          </a:xfrm>
          <a:prstGeom prst="rect">
            <a:avLst/>
          </a:prstGeom>
          <a:solidFill>
            <a:srgbClr val="595959"/>
          </a:solidFill>
          <a:ln/>
        </p:spPr>
        <p:txBody>
          <a:bodyPr wrap="square" lIns="127000" tIns="127000" rIns="127000" bIns="127000" rtlCol="0" anchor="t"/>
          <a:lstStyle/>
          <a:p>
            <a:pPr indent="0" marL="0">
              <a:spcAft>
                <a:spcPts val="500"/>
              </a:spcAft>
              <a:buNone/>
            </a:pPr>
            <a:r>
              <a:rPr lang="en-US" sz="1600" b="1" dirty="0">
                <a:solidFill>
                  <a:srgbClr val="FFFFFF"/>
                </a:solidFill>
                <a:latin typeface="Open Sans" pitchFamily="34" charset="0"/>
                <a:ea typeface="Open Sans" pitchFamily="34" charset="-122"/>
                <a:cs typeface="Open Sans" pitchFamily="34" charset="-120"/>
              </a:rPr>
              <a:t>Your task (8 minutes)</a:t>
            </a:r>
            <a:endParaRPr lang="en-US" sz="1200" dirty="0"/>
          </a:p>
          <a:p>
            <a:pPr indent="0" marL="0">
              <a:spcAft>
                <a:spcPts val="500"/>
              </a:spcAft>
              <a:buNone/>
            </a:pPr>
            <a:r>
              <a:rPr lang="en-US" sz="1200" dirty="0">
                <a:solidFill>
                  <a:srgbClr val="FFFFFF"/>
                </a:solidFill>
                <a:latin typeface="Open Sans" pitchFamily="34" charset="0"/>
                <a:ea typeface="Open Sans" pitchFamily="34" charset="-122"/>
                <a:cs typeface="Open Sans" pitchFamily="34" charset="-120"/>
              </a:rPr>
              <a:t>Read the descriptive paragraph in your notes (Tharindu's credential-stuffing review).</a:t>
            </a:r>
            <a:endParaRPr lang="en-US" sz="1200" dirty="0"/>
          </a:p>
          <a:p>
            <a:pPr indent="0" marL="0">
              <a:spcAft>
                <a:spcPts val="500"/>
              </a:spcAft>
              <a:buNone/>
            </a:pPr>
            <a:r>
              <a:rPr lang="en-US" sz="1200" dirty="0">
                <a:solidFill>
                  <a:srgbClr val="FFFFFF"/>
                </a:solidFill>
                <a:latin typeface="Open Sans" pitchFamily="34" charset="0"/>
                <a:ea typeface="Open Sans" pitchFamily="34" charset="-122"/>
                <a:cs typeface="Open Sans" pitchFamily="34" charset="-120"/>
              </a:rPr>
              <a:t>Rewrite it to engage. Apply all four moves:</a:t>
            </a:r>
            <a:endParaRPr lang="en-US" sz="1200" dirty="0"/>
          </a:p>
          <a:p>
            <a:pPr indent="0" marL="0">
              <a:spcAft>
                <a:spcPts val="500"/>
              </a:spcAft>
              <a:buNone/>
            </a:pPr>
            <a:r>
              <a:rPr lang="en-US" sz="1200" b="1" dirty="0">
                <a:solidFill>
                  <a:srgbClr val="FFFFFF"/>
                </a:solidFill>
                <a:latin typeface="Open Sans" pitchFamily="34" charset="0"/>
                <a:ea typeface="Open Sans" pitchFamily="34" charset="-122"/>
                <a:cs typeface="Open Sans" pitchFamily="34" charset="-120"/>
              </a:rPr>
              <a:t>1  Group sources by approach</a:t>
            </a:r>
            <a:endParaRPr lang="en-US" sz="1200" dirty="0"/>
          </a:p>
          <a:p>
            <a:pPr indent="0" marL="0">
              <a:spcAft>
                <a:spcPts val="500"/>
              </a:spcAft>
              <a:buNone/>
            </a:pPr>
            <a:r>
              <a:rPr lang="en-US" sz="1200" b="1" dirty="0">
                <a:solidFill>
                  <a:srgbClr val="FFFFFF"/>
                </a:solidFill>
                <a:latin typeface="Open Sans" pitchFamily="34" charset="0"/>
                <a:ea typeface="Open Sans" pitchFamily="34" charset="-122"/>
                <a:cs typeface="Open Sans" pitchFamily="34" charset="-120"/>
              </a:rPr>
              <a:t>2  Contrast and name a limitation</a:t>
            </a:r>
            <a:endParaRPr lang="en-US" sz="1200" dirty="0"/>
          </a:p>
          <a:p>
            <a:pPr indent="0" marL="0">
              <a:spcAft>
                <a:spcPts val="500"/>
              </a:spcAft>
              <a:buNone/>
            </a:pPr>
            <a:r>
              <a:rPr lang="en-US" sz="1200" b="1" dirty="0">
                <a:solidFill>
                  <a:srgbClr val="FFFFFF"/>
                </a:solidFill>
                <a:latin typeface="Open Sans" pitchFamily="34" charset="0"/>
                <a:ea typeface="Open Sans" pitchFamily="34" charset="-122"/>
                <a:cs typeface="Open Sans" pitchFamily="34" charset="-120"/>
              </a:rPr>
              <a:t>3  Connect the limitation to the specific research context</a:t>
            </a:r>
            <a:endParaRPr lang="en-US" sz="1200" dirty="0"/>
          </a:p>
          <a:p>
            <a:pPr indent="0" marL="0">
              <a:spcAft>
                <a:spcPts val="500"/>
              </a:spcAft>
              <a:buNone/>
            </a:pPr>
            <a:r>
              <a:rPr lang="en-US" sz="1200" b="1" dirty="0">
                <a:solidFill>
                  <a:srgbClr val="FFFFFF"/>
                </a:solidFill>
                <a:latin typeface="Open Sans" pitchFamily="34" charset="0"/>
                <a:ea typeface="Open Sans" pitchFamily="34" charset="-122"/>
                <a:cs typeface="Open Sans" pitchFamily="34" charset="-120"/>
              </a:rPr>
              <a:t>4  Point at the gap and wire it back to the research question</a:t>
            </a:r>
            <a:endParaRPr lang="en-US" sz="1200" dirty="0"/>
          </a:p>
        </p:txBody>
      </p:sp>
      <p:sp>
        <p:nvSpPr>
          <p:cNvPr id="6" name="Text 4"/>
          <p:cNvSpPr/>
          <p:nvPr/>
        </p:nvSpPr>
        <p:spPr>
          <a:xfrm>
            <a:off x="5212080" y="1481328"/>
            <a:ext cx="3209544" cy="3291840"/>
          </a:xfrm>
          <a:prstGeom prst="rect">
            <a:avLst/>
          </a:prstGeom>
          <a:solidFill>
            <a:srgbClr val="FFFFFF"/>
          </a:solidFill>
          <a:ln/>
        </p:spPr>
        <p:txBody>
          <a:bodyPr wrap="square" lIns="127000" tIns="127000" rIns="127000" bIns="127000" rtlCol="0" anchor="t"/>
          <a:lstStyle/>
          <a:p>
            <a:pPr indent="0" marL="0">
              <a:spcAft>
                <a:spcPts val="400"/>
              </a:spcAft>
              <a:buNone/>
            </a:pPr>
            <a:r>
              <a:rPr lang="en-US" sz="1300" b="1" dirty="0">
                <a:solidFill>
                  <a:srgbClr val="1A1A1A"/>
                </a:solidFill>
                <a:latin typeface="Open Sans" pitchFamily="34" charset="0"/>
                <a:ea typeface="Open Sans" pitchFamily="34" charset="-122"/>
                <a:cs typeface="Open Sans" pitchFamily="34" charset="-120"/>
              </a:rPr>
              <a:t>The paragraph to rewrite</a:t>
            </a:r>
            <a:endParaRPr lang="en-US" sz="1200" dirty="0"/>
          </a:p>
          <a:p>
            <a:pPr indent="0" marL="0">
              <a:spcAft>
                <a:spcPts val="400"/>
              </a:spcAft>
              <a:buNone/>
            </a:pPr>
            <a:r>
              <a:rPr lang="en-US" sz="1100" i="1" dirty="0">
                <a:solidFill>
                  <a:srgbClr val="1A1A1A"/>
                </a:solidFill>
                <a:latin typeface="Open Sans" pitchFamily="34" charset="0"/>
                <a:ea typeface="Open Sans" pitchFamily="34" charset="-122"/>
                <a:cs typeface="Open Sans" pitchFamily="34" charset="-120"/>
              </a:rPr>
              <a:t>[Illustrative example - do not cite]</a:t>
            </a:r>
            <a:endParaRPr lang="en-US" sz="1200" dirty="0"/>
          </a:p>
          <a:p>
            <a:pPr indent="0" marL="0">
              <a:spcAft>
                <a:spcPts val="400"/>
              </a:spcAft>
              <a:buNone/>
            </a:pPr>
            <a:r>
              <a:rPr lang="en-US" sz="1200" dirty="0">
                <a:solidFill>
                  <a:srgbClr val="1A1A1A"/>
                </a:solidFill>
                <a:latin typeface="Open Sans" pitchFamily="34" charset="0"/>
                <a:ea typeface="Open Sans" pitchFamily="34" charset="-122"/>
                <a:cs typeface="Open Sans" pitchFamily="34" charset="-120"/>
              </a:rPr>
              <a:t>Several approaches to detecting credential-stuffing have been proposed. Perera (2021) developed a rate-limiting method that blocks IP addresses after a threshold of failed logins. Silva and Fernando (2022) proposed a machine-learning classifier using login-frequency features. Jayawardena (2023) used device fingerprinting. Each study reports high detection rates.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AF0F6"/>
          </a:solidFill>
          <a:ln/>
        </p:spPr>
      </p:sp>
      <p:sp>
        <p:nvSpPr>
          <p:cNvPr id="3" name="Shape 1"/>
          <p:cNvSpPr/>
          <p:nvPr/>
        </p:nvSpPr>
        <p:spPr>
          <a:xfrm>
            <a:off x="731520" y="1097280"/>
            <a:ext cx="502920" cy="45720"/>
          </a:xfrm>
          <a:prstGeom prst="rect">
            <a:avLst/>
          </a:prstGeom>
          <a:solidFill>
            <a:srgbClr val="1B3A6B"/>
          </a:solidFill>
          <a:ln/>
        </p:spPr>
      </p:sp>
      <p:sp>
        <p:nvSpPr>
          <p:cNvPr id="4" name="Text 2"/>
          <p:cNvSpPr/>
          <p:nvPr/>
        </p:nvSpPr>
        <p:spPr>
          <a:xfrm>
            <a:off x="731520" y="1325880"/>
            <a:ext cx="7690104" cy="1517904"/>
          </a:xfrm>
          <a:prstGeom prst="rect">
            <a:avLst/>
          </a:prstGeom>
          <a:noFill/>
          <a:ln/>
        </p:spPr>
        <p:txBody>
          <a:bodyPr wrap="square" lIns="0" tIns="0" rIns="0" bIns="0" rtlCol="0" anchor="t"/>
          <a:lstStyle/>
          <a:p>
            <a:pPr indent="0" marL="0">
              <a:buNone/>
            </a:pPr>
            <a:r>
              <a:rPr lang="en-US" sz="3600" b="1" dirty="0">
                <a:solidFill>
                  <a:srgbClr val="1A1A1A"/>
                </a:solidFill>
                <a:latin typeface="Open Sans" pitchFamily="34" charset="0"/>
                <a:ea typeface="Open Sans" pitchFamily="34" charset="-122"/>
                <a:cs typeface="Open Sans" pitchFamily="34" charset="-120"/>
              </a:rPr>
              <a:t>02   Finding the Gap</a:t>
            </a:r>
            <a:endParaRPr lang="en-US" sz="3600" dirty="0"/>
          </a:p>
        </p:txBody>
      </p:sp>
      <p:sp>
        <p:nvSpPr>
          <p:cNvPr id="5" name="Shape 3"/>
          <p:cNvSpPr/>
          <p:nvPr/>
        </p:nvSpPr>
        <p:spPr>
          <a:xfrm>
            <a:off x="731520" y="2788920"/>
            <a:ext cx="749808" cy="82296"/>
          </a:xfrm>
          <a:prstGeom prst="rect">
            <a:avLst/>
          </a:prstGeom>
          <a:solidFill>
            <a:srgbClr val="1B3A6B"/>
          </a:solidFill>
          <a:ln/>
        </p:spPr>
      </p:sp>
      <p:sp>
        <p:nvSpPr>
          <p:cNvPr id="6" name="Shape 4"/>
          <p:cNvSpPr/>
          <p:nvPr/>
        </p:nvSpPr>
        <p:spPr>
          <a:xfrm>
            <a:off x="1536192" y="2788920"/>
            <a:ext cx="384048" cy="82296"/>
          </a:xfrm>
          <a:prstGeom prst="rect">
            <a:avLst/>
          </a:prstGeom>
          <a:solidFill>
            <a:srgbClr val="E0701A"/>
          </a:solidFill>
          <a:ln/>
        </p:spPr>
      </p:sp>
      <p:pic>
        <p:nvPicPr>
          <p:cNvPr id="7" name="Image 0" descr="preencoded.png">    </p:cNvPr>
          <p:cNvPicPr>
            <a:picLocks noChangeAspect="1"/>
          </p:cNvPicPr>
          <p:nvPr/>
        </p:nvPicPr>
        <p:blipFill>
          <a:blip r:embed="rId1"/>
          <a:stretch>
            <a:fillRect/>
          </a:stretch>
        </p:blipFill>
        <p:spPr>
          <a:xfrm>
            <a:off x="5715863" y="3017520"/>
            <a:ext cx="2970937" cy="18745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A Gap Is Not "More Research Is Needed"</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371600"/>
            <a:ext cx="7690104" cy="1298448"/>
          </a:xfrm>
          <a:prstGeom prst="rect">
            <a:avLst/>
          </a:prstGeom>
          <a:solidFill>
            <a:srgbClr val="C5D6E8"/>
          </a:solidFill>
          <a:ln/>
        </p:spPr>
        <p:txBody>
          <a:bodyPr wrap="square" lIns="127000" tIns="127000" rIns="127000" bIns="127000" rtlCol="0" anchor="t"/>
          <a:lstStyle/>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A gap is a specific absence in the literature that your project is designed to fill</a:t>
            </a:r>
            <a:endParaRPr lang="en-US" sz="1300" dirty="0"/>
          </a:p>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"More research is needed" names nothing. It does not say what is missing or why your approach addresses it. Pass-band failure.</a:t>
            </a:r>
            <a:endParaRPr lang="en-US" sz="1300" dirty="0"/>
          </a:p>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The gap must follow from your review, never be asserted after it.</a:t>
            </a:r>
            <a:endParaRPr lang="en-US" sz="1300" dirty="0"/>
          </a:p>
        </p:txBody>
      </p:sp>
      <p:sp>
        <p:nvSpPr>
          <p:cNvPr id="7" name="Text 5"/>
          <p:cNvSpPr/>
          <p:nvPr/>
        </p:nvSpPr>
        <p:spPr>
          <a:xfrm>
            <a:off x="731520" y="2743200"/>
            <a:ext cx="7690104" cy="329184"/>
          </a:xfrm>
          <a:prstGeom prst="rect">
            <a:avLst/>
          </a:prstGeom>
          <a:solidFill>
            <a:srgbClr val="1B3A6B"/>
          </a:solidFill>
          <a:ln/>
        </p:spPr>
        <p:txBody>
          <a:bodyPr wrap="square" lIns="101600" tIns="101600" rIns="101600" bIns="101600"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Naming the gap type lifts a Merit statement to a Distinction one</a:t>
            </a:r>
            <a:endParaRPr lang="en-US" sz="1300" dirty="0"/>
          </a:p>
        </p:txBody>
      </p:sp>
      <p:sp>
        <p:nvSpPr>
          <p:cNvPr id="8" name="Text 6"/>
          <p:cNvSpPr/>
          <p:nvPr/>
        </p:nvSpPr>
        <p:spPr>
          <a:xfrm>
            <a:off x="731520" y="3127248"/>
            <a:ext cx="7690104" cy="475488"/>
          </a:xfrm>
          <a:prstGeom prst="rect">
            <a:avLst/>
          </a:prstGeom>
          <a:solidFill>
            <a:srgbClr val="EDF1F5"/>
          </a:solidFill>
          <a:ln/>
        </p:spPr>
        <p:txBody>
          <a:bodyPr wrap="square" lIns="76200" tIns="76200" rIns="76200" bIns="76200" rtlCol="0" anchor="ctr"/>
          <a:lstStyle/>
          <a:p>
            <a:pPr indent="0" marL="0">
              <a:buNone/>
            </a:pPr>
            <a:r>
              <a:rPr lang="en-US" sz="1200" b="1" dirty="0">
                <a:solidFill>
                  <a:srgbClr val="1A1A1A"/>
                </a:solidFill>
                <a:latin typeface="Open Sans" pitchFamily="34" charset="0"/>
                <a:ea typeface="Open Sans" pitchFamily="34" charset="-122"/>
                <a:cs typeface="Open Sans" pitchFamily="34" charset="-120"/>
              </a:rPr>
              <a:t>Methodology gap: </a:t>
            </a:r>
            <a:pPr indent="0" marL="0">
              <a:buNone/>
            </a:pPr>
            <a:r>
              <a:rPr lang="en-US" sz="1200" dirty="0">
                <a:solidFill>
                  <a:srgbClr val="1A1A1A"/>
                </a:solidFill>
                <a:latin typeface="Open Sans" pitchFamily="34" charset="0"/>
                <a:ea typeface="Open Sans" pitchFamily="34" charset="-122"/>
                <a:cs typeface="Open Sans" pitchFamily="34" charset="-120"/>
              </a:rPr>
              <a:t>No one has applied method M to problem P in this form. The approach exists; the application does not.</a:t>
            </a:r>
            <a:endParaRPr lang="en-US" sz="1200" dirty="0"/>
          </a:p>
        </p:txBody>
      </p:sp>
      <p:sp>
        <p:nvSpPr>
          <p:cNvPr id="9" name="Text 7"/>
          <p:cNvSpPr/>
          <p:nvPr/>
        </p:nvSpPr>
        <p:spPr>
          <a:xfrm>
            <a:off x="731520" y="3657600"/>
            <a:ext cx="7690104" cy="475488"/>
          </a:xfrm>
          <a:prstGeom prst="rect">
            <a:avLst/>
          </a:prstGeom>
          <a:solidFill>
            <a:srgbClr val="EDF1F5"/>
          </a:solidFill>
          <a:ln/>
        </p:spPr>
        <p:txBody>
          <a:bodyPr wrap="square" lIns="76200" tIns="76200" rIns="76200" bIns="76200" rtlCol="0" anchor="ctr"/>
          <a:lstStyle/>
          <a:p>
            <a:pPr indent="0" marL="0">
              <a:buNone/>
            </a:pPr>
            <a:r>
              <a:rPr lang="en-US" sz="1200" b="1" dirty="0">
                <a:solidFill>
                  <a:srgbClr val="1A1A1A"/>
                </a:solidFill>
                <a:latin typeface="Open Sans" pitchFamily="34" charset="0"/>
                <a:ea typeface="Open Sans" pitchFamily="34" charset="-122"/>
                <a:cs typeface="Open Sans" pitchFamily="34" charset="-120"/>
              </a:rPr>
              <a:t>Context gap: </a:t>
            </a:r>
            <a:pPr indent="0" marL="0">
              <a:buNone/>
            </a:pPr>
            <a:r>
              <a:rPr lang="en-US" sz="1200" dirty="0">
                <a:solidFill>
                  <a:srgbClr val="1A1A1A"/>
                </a:solidFill>
                <a:latin typeface="Open Sans" pitchFamily="34" charset="0"/>
                <a:ea typeface="Open Sans" pitchFamily="34" charset="-122"/>
                <a:cs typeface="Open Sans" pitchFamily="34" charset="-120"/>
              </a:rPr>
              <a:t>Method M has been studied but not in context C (for example, not on mobile clients, not in healthcare systems, not against a specific threat model).</a:t>
            </a:r>
            <a:endParaRPr lang="en-US" sz="1200" dirty="0"/>
          </a:p>
        </p:txBody>
      </p:sp>
      <p:sp>
        <p:nvSpPr>
          <p:cNvPr id="10" name="Text 8"/>
          <p:cNvSpPr/>
          <p:nvPr/>
        </p:nvSpPr>
        <p:spPr>
          <a:xfrm>
            <a:off x="731520" y="4187952"/>
            <a:ext cx="7690104" cy="475488"/>
          </a:xfrm>
          <a:prstGeom prst="rect">
            <a:avLst/>
          </a:prstGeom>
          <a:solidFill>
            <a:srgbClr val="EDF1F5"/>
          </a:solidFill>
          <a:ln/>
        </p:spPr>
        <p:txBody>
          <a:bodyPr wrap="square" lIns="76200" tIns="76200" rIns="76200" bIns="76200" rtlCol="0" anchor="ctr"/>
          <a:lstStyle/>
          <a:p>
            <a:pPr indent="0" marL="0">
              <a:buNone/>
            </a:pPr>
            <a:r>
              <a:rPr lang="en-US" sz="1200" b="1" dirty="0">
                <a:solidFill>
                  <a:srgbClr val="1A1A1A"/>
                </a:solidFill>
                <a:latin typeface="Open Sans" pitchFamily="34" charset="0"/>
                <a:ea typeface="Open Sans" pitchFamily="34" charset="-122"/>
                <a:cs typeface="Open Sans" pitchFamily="34" charset="-120"/>
              </a:rPr>
              <a:t>Evaluation gap: </a:t>
            </a:r>
            <a:pPr indent="0" marL="0">
              <a:buNone/>
            </a:pPr>
            <a:r>
              <a:rPr lang="en-US" sz="1200" dirty="0">
                <a:solidFill>
                  <a:srgbClr val="1A1A1A"/>
                </a:solidFill>
                <a:latin typeface="Open Sans" pitchFamily="34" charset="0"/>
                <a:ea typeface="Open Sans" pitchFamily="34" charset="-122"/>
                <a:cs typeface="Open Sans" pitchFamily="34" charset="-120"/>
              </a:rPr>
              <a:t>Studies exist but none measure outcome O rigorously - for example, none reports a false-positive rate against a triage threshold.</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Gap in Action: Dilini's Healthcare API Project</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207008"/>
            <a:ext cx="7690104" cy="219456"/>
          </a:xfrm>
          <a:prstGeom prst="rect">
            <a:avLst/>
          </a:prstGeom>
          <a:noFill/>
          <a:ln/>
        </p:spPr>
        <p:txBody>
          <a:bodyPr wrap="square" lIns="0" tIns="0" rIns="0" bIns="0" rtlCol="0" anchor="t"/>
          <a:lstStyle/>
          <a:p>
            <a:pPr indent="0" marL="0">
              <a:buNone/>
            </a:pPr>
            <a:r>
              <a:rPr lang="en-US" sz="1100" i="1" dirty="0">
                <a:solidFill>
                  <a:srgbClr val="595959"/>
                </a:solidFill>
                <a:latin typeface="Open Sans" pitchFamily="34" charset="0"/>
                <a:ea typeface="Open Sans" pitchFamily="34" charset="-122"/>
                <a:cs typeface="Open Sans" pitchFamily="34" charset="-120"/>
              </a:rPr>
              <a:t>[Illustrative example - do not cite]</a:t>
            </a:r>
            <a:endParaRPr lang="en-US" sz="1100" dirty="0"/>
          </a:p>
        </p:txBody>
      </p:sp>
      <p:sp>
        <p:nvSpPr>
          <p:cNvPr id="7" name="Text 5"/>
          <p:cNvSpPr/>
          <p:nvPr/>
        </p:nvSpPr>
        <p:spPr>
          <a:xfrm>
            <a:off x="731520" y="1463040"/>
            <a:ext cx="7690104" cy="274320"/>
          </a:xfrm>
          <a:prstGeom prst="rect">
            <a:avLst/>
          </a:prstGeom>
          <a:solidFill>
            <a:srgbClr val="1B3A6B"/>
          </a:solidFill>
          <a:ln/>
        </p:spPr>
        <p:txBody>
          <a:bodyPr wrap="square" lIns="101600" tIns="101600" rIns="101600" bIns="101600"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1  What the literature establishes</a:t>
            </a:r>
            <a:endParaRPr lang="en-US" sz="1300" dirty="0"/>
          </a:p>
        </p:txBody>
      </p:sp>
      <p:sp>
        <p:nvSpPr>
          <p:cNvPr id="8" name="Text 6"/>
          <p:cNvSpPr/>
          <p:nvPr/>
        </p:nvSpPr>
        <p:spPr>
          <a:xfrm>
            <a:off x="731520" y="1755648"/>
            <a:ext cx="7690104" cy="640080"/>
          </a:xfrm>
          <a:prstGeom prst="rect">
            <a:avLst/>
          </a:prstGeom>
          <a:solidFill>
            <a:srgbClr val="EDF1F5"/>
          </a:solidFill>
          <a:ln/>
        </p:spPr>
        <p:txBody>
          <a:bodyPr wrap="square" lIns="76200" tIns="76200" rIns="76200" bIns="76200" rtlCol="0" anchor="t"/>
          <a:lstStyle/>
          <a:p>
            <a:pPr indent="0" marL="0">
              <a:buNone/>
            </a:pPr>
            <a:r>
              <a:rPr lang="en-US" sz="1200" dirty="0">
                <a:solidFill>
                  <a:srgbClr val="1A1A1A"/>
                </a:solidFill>
                <a:latin typeface="Open Sans" pitchFamily="34" charset="0"/>
                <a:ea typeface="Open Sans" pitchFamily="34" charset="-122"/>
                <a:cs typeface="Open Sans" pitchFamily="34" charset="-120"/>
              </a:rPr>
              <a:t>Broken object-level authorisation ranks among the most prevalent and damaging API weaknesses. Scanners detect injection and authentication flaws well but authorisation flaws poorly, because authorisation is context-specific rather than pattern-based.</a:t>
            </a:r>
            <a:endParaRPr lang="en-US" sz="1200" dirty="0"/>
          </a:p>
        </p:txBody>
      </p:sp>
      <p:sp>
        <p:nvSpPr>
          <p:cNvPr id="9" name="Text 7"/>
          <p:cNvSpPr/>
          <p:nvPr/>
        </p:nvSpPr>
        <p:spPr>
          <a:xfrm>
            <a:off x="731520" y="2450592"/>
            <a:ext cx="7690104" cy="274320"/>
          </a:xfrm>
          <a:prstGeom prst="rect">
            <a:avLst/>
          </a:prstGeom>
          <a:solidFill>
            <a:srgbClr val="1B3A6B"/>
          </a:solidFill>
          <a:ln/>
        </p:spPr>
        <p:txBody>
          <a:bodyPr wrap="square" lIns="101600" tIns="101600" rIns="101600" bIns="101600"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2  What is absent</a:t>
            </a:r>
            <a:endParaRPr lang="en-US" sz="1300" dirty="0"/>
          </a:p>
        </p:txBody>
      </p:sp>
      <p:sp>
        <p:nvSpPr>
          <p:cNvPr id="10" name="Text 8"/>
          <p:cNvSpPr/>
          <p:nvPr/>
        </p:nvSpPr>
        <p:spPr>
          <a:xfrm>
            <a:off x="731520" y="2743200"/>
            <a:ext cx="7690104" cy="640080"/>
          </a:xfrm>
          <a:prstGeom prst="rect">
            <a:avLst/>
          </a:prstGeom>
          <a:solidFill>
            <a:srgbClr val="EDF1F5"/>
          </a:solidFill>
          <a:ln/>
        </p:spPr>
        <p:txBody>
          <a:bodyPr wrap="square" lIns="76200" tIns="76200" rIns="76200" bIns="76200" rtlCol="0" anchor="t"/>
          <a:lstStyle/>
          <a:p>
            <a:pPr indent="0" marL="0">
              <a:buNone/>
            </a:pPr>
            <a:r>
              <a:rPr lang="en-US" sz="1200" dirty="0">
                <a:solidFill>
                  <a:srgbClr val="1A1A1A"/>
                </a:solidFill>
                <a:latin typeface="Open Sans" pitchFamily="34" charset="0"/>
                <a:ea typeface="Open Sans" pitchFamily="34" charset="-122"/>
                <a:cs typeface="Open Sans" pitchFamily="34" charset="-120"/>
              </a:rPr>
              <a:t>Structured testing methodologies exist for web applications, but the literature offers no repeatable, taxonomy-driven methodology for object-level authorisation in healthcare FHIR-style APIs, where the protected object is a patient record and the rules are clinical.</a:t>
            </a:r>
            <a:endParaRPr lang="en-US" sz="1200" dirty="0"/>
          </a:p>
        </p:txBody>
      </p:sp>
      <p:sp>
        <p:nvSpPr>
          <p:cNvPr id="11" name="Text 9"/>
          <p:cNvSpPr/>
          <p:nvPr/>
        </p:nvSpPr>
        <p:spPr>
          <a:xfrm>
            <a:off x="731520" y="3438144"/>
            <a:ext cx="7690104" cy="274320"/>
          </a:xfrm>
          <a:prstGeom prst="rect">
            <a:avLst/>
          </a:prstGeom>
          <a:solidFill>
            <a:srgbClr val="1B3A6B"/>
          </a:solidFill>
          <a:ln/>
        </p:spPr>
        <p:txBody>
          <a:bodyPr wrap="square" lIns="101600" tIns="101600" rIns="101600" bIns="101600"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3  The gap - and its type</a:t>
            </a:r>
            <a:endParaRPr lang="en-US" sz="1300" dirty="0"/>
          </a:p>
        </p:txBody>
      </p:sp>
      <p:sp>
        <p:nvSpPr>
          <p:cNvPr id="12" name="Text 10"/>
          <p:cNvSpPr/>
          <p:nvPr/>
        </p:nvSpPr>
        <p:spPr>
          <a:xfrm>
            <a:off x="731520" y="3730752"/>
            <a:ext cx="7690104" cy="640080"/>
          </a:xfrm>
          <a:prstGeom prst="rect">
            <a:avLst/>
          </a:prstGeom>
          <a:solidFill>
            <a:srgbClr val="EDF1F5"/>
          </a:solidFill>
          <a:ln/>
        </p:spPr>
        <p:txBody>
          <a:bodyPr wrap="square" lIns="76200" tIns="76200" rIns="76200" bIns="76200" rtlCol="0" anchor="t"/>
          <a:lstStyle/>
          <a:p>
            <a:pPr indent="0" marL="0">
              <a:buNone/>
            </a:pPr>
            <a:r>
              <a:rPr lang="en-US" sz="1200" dirty="0">
                <a:solidFill>
                  <a:srgbClr val="1A1A1A"/>
                </a:solidFill>
                <a:latin typeface="Open Sans" pitchFamily="34" charset="0"/>
                <a:ea typeface="Open Sans" pitchFamily="34" charset="-122"/>
                <a:cs typeface="Open Sans" pitchFamily="34" charset="-120"/>
              </a:rPr>
              <a:t>The gap is a methodology gap, not a tooling gap. This distinction matters: the tools to test APIs exist; what is missing is a structured, repeatable approach calibrated to this clinical context.</a:t>
            </a:r>
            <a:endParaRPr lang="en-US" sz="1200" dirty="0"/>
          </a:p>
        </p:txBody>
      </p:sp>
      <p:sp>
        <p:nvSpPr>
          <p:cNvPr id="13" name="Text 11"/>
          <p:cNvSpPr/>
          <p:nvPr/>
        </p:nvSpPr>
        <p:spPr>
          <a:xfrm>
            <a:off x="731520" y="4425696"/>
            <a:ext cx="7690104" cy="512064"/>
          </a:xfrm>
          <a:prstGeom prst="rect">
            <a:avLst/>
          </a:prstGeom>
          <a:solidFill>
            <a:srgbClr val="E0701A"/>
          </a:solidFill>
          <a:ln/>
        </p:spPr>
        <p:txBody>
          <a:bodyPr wrap="square" lIns="101600" tIns="101600" rIns="101600" bIns="101600" rtlCol="0" anchor="ctr"/>
          <a:lstStyle/>
          <a:p>
            <a:pPr indent="0" marL="0">
              <a:buNone/>
            </a:pPr>
            <a:r>
              <a:rPr lang="en-US" sz="1200" b="1" dirty="0">
                <a:solidFill>
                  <a:srgbClr val="1A1A1A"/>
                </a:solidFill>
                <a:latin typeface="Open Sans" pitchFamily="34" charset="0"/>
                <a:ea typeface="Open Sans" pitchFamily="34" charset="-122"/>
                <a:cs typeface="Open Sans" pitchFamily="34" charset="-120"/>
              </a:rPr>
              <a:t>Research question: Does a structured object-level-authorisation methodology detect a higher proportion of seeded flaws than unstructured manual testing in a controlled FHIR-style API?</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The Gap and the Review Are One Argument</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371600"/>
            <a:ext cx="7690104" cy="1700784"/>
          </a:xfrm>
          <a:prstGeom prst="rect">
            <a:avLst/>
          </a:prstGeom>
          <a:solidFill>
            <a:srgbClr val="C5D6E8"/>
          </a:solidFill>
          <a:ln/>
        </p:spPr>
        <p:txBody>
          <a:bodyPr wrap="square" lIns="127000" tIns="127000" rIns="127000" bIns="127000" rtlCol="0" anchor="t"/>
          <a:lstStyle/>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You cannot claim a gap that is not there - the review must build the case that the absence exists</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Every claim in your gap statement must be evidenced in the review: if you say "no study has done X", your review must show you actually looked</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If your review cannot produce a specific, named gap, your research question is not yet framed sharply enough</a:t>
            </a:r>
            <a:endParaRPr lang="en-US" sz="1400" dirty="0"/>
          </a:p>
        </p:txBody>
      </p:sp>
      <p:sp>
        <p:nvSpPr>
          <p:cNvPr id="7" name="Shape 5"/>
          <p:cNvSpPr/>
          <p:nvPr/>
        </p:nvSpPr>
        <p:spPr>
          <a:xfrm>
            <a:off x="731520" y="3200400"/>
            <a:ext cx="7690104" cy="1188720"/>
          </a:xfrm>
          <a:prstGeom prst="rect">
            <a:avLst/>
          </a:prstGeom>
          <a:solidFill>
            <a:srgbClr val="F0EAE0"/>
          </a:solidFill>
          <a:ln/>
        </p:spPr>
      </p:sp>
      <p:sp>
        <p:nvSpPr>
          <p:cNvPr id="8" name="Shape 6"/>
          <p:cNvSpPr/>
          <p:nvPr/>
        </p:nvSpPr>
        <p:spPr>
          <a:xfrm>
            <a:off x="731520" y="3200400"/>
            <a:ext cx="82296" cy="1188720"/>
          </a:xfrm>
          <a:prstGeom prst="rect">
            <a:avLst/>
          </a:prstGeom>
          <a:solidFill>
            <a:srgbClr val="977F5A"/>
          </a:solidFill>
          <a:ln/>
        </p:spPr>
      </p:sp>
      <p:sp>
        <p:nvSpPr>
          <p:cNvPr id="9" name="Text 7"/>
          <p:cNvSpPr/>
          <p:nvPr/>
        </p:nvSpPr>
        <p:spPr>
          <a:xfrm>
            <a:off x="941832" y="3273552"/>
            <a:ext cx="7223760" cy="237744"/>
          </a:xfrm>
          <a:prstGeom prst="rect">
            <a:avLst/>
          </a:prstGeom>
          <a:noFill/>
          <a:ln/>
        </p:spPr>
        <p:txBody>
          <a:bodyPr wrap="square" lIns="0" tIns="0" rIns="0" bIns="0" rtlCol="0" anchor="t"/>
          <a:lstStyle/>
          <a:p>
            <a:pPr indent="0" marL="0">
              <a:buNone/>
            </a:pPr>
            <a:r>
              <a:rPr lang="en-US" sz="1400" b="1" dirty="0">
                <a:solidFill>
                  <a:srgbClr val="977F5A"/>
                </a:solidFill>
                <a:latin typeface="Open Sans" pitchFamily="34" charset="0"/>
                <a:ea typeface="Open Sans" pitchFamily="34" charset="-122"/>
                <a:cs typeface="Open Sans" pitchFamily="34" charset="-120"/>
              </a:rPr>
              <a:t>Analogy</a:t>
            </a:r>
            <a:endParaRPr lang="en-US" sz="1400" dirty="0"/>
          </a:p>
        </p:txBody>
      </p:sp>
      <p:sp>
        <p:nvSpPr>
          <p:cNvPr id="10" name="Text 8"/>
          <p:cNvSpPr/>
          <p:nvPr/>
        </p:nvSpPr>
        <p:spPr>
          <a:xfrm>
            <a:off x="941832" y="3529584"/>
            <a:ext cx="7223760" cy="786384"/>
          </a:xfrm>
          <a:prstGeom prst="rect">
            <a:avLst/>
          </a:prstGeom>
          <a:noFill/>
          <a:ln/>
        </p:spPr>
        <p:txBody>
          <a:bodyPr wrap="square" lIns="0" tIns="0" rIns="0" bIns="0" rtlCol="0" anchor="t"/>
          <a:lstStyle/>
          <a:p>
            <a:pPr indent="0" marL="0">
              <a:buNone/>
            </a:pPr>
            <a:r>
              <a:rPr lang="en-US" sz="1300" dirty="0">
                <a:solidFill>
                  <a:srgbClr val="1A1A1A"/>
                </a:solidFill>
                <a:latin typeface="Open Sans" pitchFamily="34" charset="0"/>
                <a:ea typeface="Open Sans" pitchFamily="34" charset="-122"/>
                <a:cs typeface="Open Sans" pitchFamily="34" charset="-120"/>
              </a:rPr>
              <a:t>The literature is a wall others have built. The gap is the one brick-shaped hole your project is the right size to fill. You have to show the hole is really there before you claim it - measuring the wall is the literature review, and pointing at the hole is the gap statement.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Gap and Question: Two Ends of One Sentence</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371600"/>
            <a:ext cx="7690104" cy="1463040"/>
          </a:xfrm>
          <a:prstGeom prst="rect">
            <a:avLst/>
          </a:prstGeom>
          <a:solidFill>
            <a:srgbClr val="C5D6E8"/>
          </a:solidFill>
          <a:ln/>
        </p:spPr>
        <p:txBody>
          <a:bodyPr wrap="square" lIns="127000" tIns="127000" rIns="127000" bIns="127000" rtlCol="0" anchor="t"/>
          <a:lstStyle/>
          <a:p>
            <a:pPr indent="0" marL="0">
              <a:spcAft>
                <a:spcPts val="800"/>
              </a:spcAft>
              <a:buNone/>
            </a:pPr>
            <a:r>
              <a:rPr lang="en-US" sz="1300" b="1" dirty="0">
                <a:solidFill>
                  <a:srgbClr val="1A1A1A"/>
                </a:solidFill>
                <a:latin typeface="Open Sans" pitchFamily="34" charset="0"/>
                <a:ea typeface="Open Sans" pitchFamily="34" charset="-122"/>
                <a:cs typeface="Open Sans" pitchFamily="34" charset="-120"/>
              </a:rPr>
              <a:t>"No reviewed study evaluates feature-based detection on mobile-banking authentication specifically, and none reports a false-positive rate against a triage threshold... [gap] ...which is what this project tests by comparing a feature-based classifier against a rate-limiting baseline." [question]</a:t>
            </a:r>
            <a:endParaRPr lang="en-US" sz="1300" dirty="0"/>
          </a:p>
          <a:p>
            <a:pPr indent="0" marL="0">
              <a:spcAft>
                <a:spcPts val="800"/>
              </a:spcAft>
              <a:buNone/>
            </a:pPr>
            <a:r>
              <a:rPr lang="en-US" sz="1300" b="1" dirty="0">
                <a:solidFill>
                  <a:srgbClr val="1A1A1A"/>
                </a:solidFill>
                <a:latin typeface="Open Sans" pitchFamily="34" charset="0"/>
                <a:ea typeface="Open Sans" pitchFamily="34" charset="-122"/>
                <a:cs typeface="Open Sans" pitchFamily="34" charset="-120"/>
              </a:rPr>
              <a:t>If you can write that sentence, your framing is working. If you cannot, the question is not yet sharp enough - and the review has not produced a gap.</a:t>
            </a:r>
            <a:endParaRPr lang="en-US" sz="1300" dirty="0"/>
          </a:p>
        </p:txBody>
      </p:sp>
      <p:sp>
        <p:nvSpPr>
          <p:cNvPr id="7" name="Text 5"/>
          <p:cNvSpPr/>
          <p:nvPr/>
        </p:nvSpPr>
        <p:spPr>
          <a:xfrm>
            <a:off x="731520" y="2944368"/>
            <a:ext cx="7690104" cy="603504"/>
          </a:xfrm>
          <a:prstGeom prst="rect">
            <a:avLst/>
          </a:prstGeom>
          <a:solidFill>
            <a:srgbClr val="E3E9EF"/>
          </a:solidFill>
          <a:ln/>
        </p:spPr>
        <p:txBody>
          <a:bodyPr wrap="square" lIns="101600" tIns="101600" rIns="101600" bIns="101600" rtlCol="0" anchor="ctr"/>
          <a:lstStyle/>
          <a:p>
            <a:pPr indent="0" marL="0">
              <a:buNone/>
            </a:pPr>
            <a:r>
              <a:rPr lang="en-US" sz="1300" b="1" dirty="0">
                <a:solidFill>
                  <a:srgbClr val="1B3A6B"/>
                </a:solidFill>
                <a:latin typeface="Open Sans" pitchFamily="34" charset="0"/>
                <a:ea typeface="Open Sans" pitchFamily="34" charset="-122"/>
                <a:cs typeface="Open Sans" pitchFamily="34" charset="-120"/>
              </a:rPr>
              <a:t>The self-check: read your gap statement, then read your research question. Is one the direct consequence of the other? If not, one of them needs to be rewritten.</a:t>
            </a:r>
            <a:endParaRPr lang="en-US" sz="1300" dirty="0"/>
          </a:p>
        </p:txBody>
      </p:sp>
      <p:sp>
        <p:nvSpPr>
          <p:cNvPr id="8" name="Text 6"/>
          <p:cNvSpPr/>
          <p:nvPr/>
        </p:nvSpPr>
        <p:spPr>
          <a:xfrm>
            <a:off x="731520" y="3657600"/>
            <a:ext cx="7690104" cy="658368"/>
          </a:xfrm>
          <a:prstGeom prst="rect">
            <a:avLst/>
          </a:prstGeom>
          <a:solidFill>
            <a:srgbClr val="B11E2A"/>
          </a:solidFill>
          <a:ln/>
        </p:spPr>
        <p:txBody>
          <a:bodyPr wrap="square" lIns="101600" tIns="101600" rIns="101600" bIns="101600" rtlCol="0" anchor="ctr"/>
          <a:lstStyle/>
          <a:p>
            <a:pPr indent="0" marL="0">
              <a:buNone/>
            </a:pPr>
            <a:r>
              <a:rPr lang="en-US" sz="1300" b="1" dirty="0">
                <a:solidFill>
                  <a:srgbClr val="FFFFFF"/>
                </a:solidFill>
                <a:latin typeface="Open Sans" pitchFamily="34" charset="0"/>
                <a:ea typeface="Open Sans" pitchFamily="34" charset="-122"/>
                <a:cs typeface="Open Sans" pitchFamily="34" charset="-120"/>
              </a:rPr>
              <a:t>This is the Session 1 framing muscle, now visible in the literature review. A gap that cannot produce a question was never a real gap. A question that cannot be traced to a gap was never properly framed.</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AF0F6"/>
          </a:solidFill>
          <a:ln/>
        </p:spPr>
      </p:sp>
      <p:sp>
        <p:nvSpPr>
          <p:cNvPr id="3" name="Shape 1"/>
          <p:cNvSpPr/>
          <p:nvPr/>
        </p:nvSpPr>
        <p:spPr>
          <a:xfrm>
            <a:off x="731520" y="1097280"/>
            <a:ext cx="502920" cy="45720"/>
          </a:xfrm>
          <a:prstGeom prst="rect">
            <a:avLst/>
          </a:prstGeom>
          <a:solidFill>
            <a:srgbClr val="1B3A6B"/>
          </a:solidFill>
          <a:ln/>
        </p:spPr>
      </p:sp>
      <p:sp>
        <p:nvSpPr>
          <p:cNvPr id="4" name="Text 2"/>
          <p:cNvSpPr/>
          <p:nvPr/>
        </p:nvSpPr>
        <p:spPr>
          <a:xfrm>
            <a:off x="731520" y="1325880"/>
            <a:ext cx="7690104" cy="1517904"/>
          </a:xfrm>
          <a:prstGeom prst="rect">
            <a:avLst/>
          </a:prstGeom>
          <a:noFill/>
          <a:ln/>
        </p:spPr>
        <p:txBody>
          <a:bodyPr wrap="square" lIns="0" tIns="0" rIns="0" bIns="0" rtlCol="0" anchor="t"/>
          <a:lstStyle/>
          <a:p>
            <a:pPr indent="0" marL="0">
              <a:buNone/>
            </a:pPr>
            <a:r>
              <a:rPr lang="en-US" sz="3600" b="1" dirty="0">
                <a:solidFill>
                  <a:srgbClr val="1A1A1A"/>
                </a:solidFill>
                <a:latin typeface="Open Sans" pitchFamily="34" charset="0"/>
                <a:ea typeface="Open Sans" pitchFamily="34" charset="-122"/>
                <a:cs typeface="Open Sans" pitchFamily="34" charset="-120"/>
              </a:rPr>
              <a:t>03   Judging Reviews</a:t>
            </a:r>
            <a:endParaRPr lang="en-US" sz="3600" dirty="0"/>
          </a:p>
          <a:p>
            <a:pPr indent="0" marL="0">
              <a:buNone/>
            </a:pPr>
            <a:r>
              <a:rPr lang="en-US" sz="3600" b="1" dirty="0">
                <a:solidFill>
                  <a:srgbClr val="1A1A1A"/>
                </a:solidFill>
                <a:latin typeface="Open Sans" pitchFamily="34" charset="0"/>
                <a:ea typeface="Open Sans" pitchFamily="34" charset="-122"/>
                <a:cs typeface="Open Sans" pitchFamily="34" charset="-120"/>
              </a:rPr>
              <a:t>and Referencing</a:t>
            </a:r>
            <a:endParaRPr lang="en-US" sz="3600" dirty="0"/>
          </a:p>
        </p:txBody>
      </p:sp>
      <p:sp>
        <p:nvSpPr>
          <p:cNvPr id="5" name="Shape 3"/>
          <p:cNvSpPr/>
          <p:nvPr/>
        </p:nvSpPr>
        <p:spPr>
          <a:xfrm>
            <a:off x="731520" y="2788920"/>
            <a:ext cx="749808" cy="82296"/>
          </a:xfrm>
          <a:prstGeom prst="rect">
            <a:avLst/>
          </a:prstGeom>
          <a:solidFill>
            <a:srgbClr val="1B3A6B"/>
          </a:solidFill>
          <a:ln/>
        </p:spPr>
      </p:sp>
      <p:sp>
        <p:nvSpPr>
          <p:cNvPr id="6" name="Shape 4"/>
          <p:cNvSpPr/>
          <p:nvPr/>
        </p:nvSpPr>
        <p:spPr>
          <a:xfrm>
            <a:off x="1536192" y="2788920"/>
            <a:ext cx="384048" cy="82296"/>
          </a:xfrm>
          <a:prstGeom prst="rect">
            <a:avLst/>
          </a:prstGeom>
          <a:solidFill>
            <a:srgbClr val="E0701A"/>
          </a:solidFill>
          <a:ln/>
        </p:spPr>
      </p:sp>
      <p:pic>
        <p:nvPicPr>
          <p:cNvPr id="7" name="Image 0" descr="preencoded.png">    </p:cNvPr>
          <p:cNvPicPr>
            <a:picLocks noChangeAspect="1"/>
          </p:cNvPicPr>
          <p:nvPr/>
        </p:nvPicPr>
        <p:blipFill>
          <a:blip r:embed="rId1"/>
          <a:stretch>
            <a:fillRect/>
          </a:stretch>
        </p:blipFill>
        <p:spPr>
          <a:xfrm>
            <a:off x="5715863" y="3017520"/>
            <a:ext cx="2970937" cy="18745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E9E5C"/>
          </a:solidFill>
          <a:ln/>
        </p:spPr>
      </p:sp>
      <p:sp>
        <p:nvSpPr>
          <p:cNvPr id="3" name="Shape 1"/>
          <p:cNvSpPr/>
          <p:nvPr/>
        </p:nvSpPr>
        <p:spPr>
          <a:xfrm>
            <a:off x="731520" y="566928"/>
            <a:ext cx="502920" cy="45720"/>
          </a:xfrm>
          <a:prstGeom prst="rect">
            <a:avLst/>
          </a:prstGeom>
          <a:solidFill>
            <a:srgbClr val="FFFFFF"/>
          </a:solidFill>
          <a:ln/>
        </p:spPr>
      </p:sp>
      <p:sp>
        <p:nvSpPr>
          <p:cNvPr id="4" name="Text 2"/>
          <p:cNvSpPr/>
          <p:nvPr/>
        </p:nvSpPr>
        <p:spPr>
          <a:xfrm>
            <a:off x="731520" y="713232"/>
            <a:ext cx="7690104" cy="603504"/>
          </a:xfrm>
          <a:prstGeom prst="rect">
            <a:avLst/>
          </a:prstGeom>
          <a:noFill/>
          <a:ln/>
        </p:spPr>
        <p:txBody>
          <a:bodyPr wrap="square" lIns="0" tIns="0" rIns="0" bIns="0" rtlCol="0" anchor="t"/>
          <a:lstStyle/>
          <a:p>
            <a:pPr indent="0" marL="0">
              <a:buNone/>
            </a:pPr>
            <a:r>
              <a:rPr lang="en-US" sz="3200" b="1" dirty="0">
                <a:solidFill>
                  <a:srgbClr val="FFFFFF"/>
                </a:solidFill>
                <a:latin typeface="Open Sans" pitchFamily="34" charset="0"/>
                <a:ea typeface="Open Sans" pitchFamily="34" charset="-122"/>
                <a:cs typeface="Open Sans" pitchFamily="34" charset="-120"/>
              </a:rPr>
              <a:t>Grade This Review</a:t>
            </a:r>
            <a:endParaRPr lang="en-US" sz="3200" dirty="0"/>
          </a:p>
        </p:txBody>
      </p:sp>
      <p:sp>
        <p:nvSpPr>
          <p:cNvPr id="5" name="Text 3"/>
          <p:cNvSpPr/>
          <p:nvPr/>
        </p:nvSpPr>
        <p:spPr>
          <a:xfrm>
            <a:off x="914400" y="1463040"/>
            <a:ext cx="7315200" cy="2606040"/>
          </a:xfrm>
          <a:prstGeom prst="rect">
            <a:avLst/>
          </a:prstGeom>
          <a:solidFill>
            <a:srgbClr val="FFFFFF"/>
          </a:solidFill>
          <a:ln/>
        </p:spPr>
        <p:txBody>
          <a:bodyPr wrap="square" lIns="152400" tIns="152400" rIns="152400" bIns="152400" rtlCol="0" anchor="ctr"/>
          <a:lstStyle/>
          <a:p>
            <a:pPr indent="0" marL="0">
              <a:spcAft>
                <a:spcPts val="600"/>
              </a:spcAft>
              <a:buNone/>
            </a:pPr>
            <a:r>
              <a:rPr lang="en-US" sz="1500" b="1" dirty="0">
                <a:solidFill>
                  <a:srgbClr val="1A1A1A"/>
                </a:solidFill>
                <a:latin typeface="Open Sans" pitchFamily="34" charset="0"/>
                <a:ea typeface="Open Sans" pitchFamily="34" charset="-122"/>
                <a:cs typeface="Open Sans" pitchFamily="34" charset="-120"/>
              </a:rPr>
              <a:t>As a group, judge this short review excerpt against Criterion 2:</a:t>
            </a:r>
            <a:endParaRPr lang="en-US" sz="1400" dirty="0"/>
          </a:p>
          <a:p>
            <a:pPr indent="0" marL="0">
              <a:spcAft>
                <a:spcPts val="600"/>
              </a:spcAft>
              <a:buNone/>
            </a:pPr>
            <a:r>
              <a:rPr lang="en-US" sz="1400" dirty="0">
                <a:solidFill>
                  <a:srgbClr val="1A1A1A"/>
                </a:solidFill>
                <a:latin typeface="Open Sans" pitchFamily="34" charset="0"/>
                <a:ea typeface="Open Sans" pitchFamily="34" charset="-122"/>
                <a:cs typeface="Open Sans" pitchFamily="34" charset="-120"/>
              </a:rPr>
              <a:t>1  Does it engage critically, or does it describe?</a:t>
            </a:r>
            <a:endParaRPr lang="en-US" sz="1400" dirty="0"/>
          </a:p>
          <a:p>
            <a:pPr indent="0" marL="0">
              <a:spcAft>
                <a:spcPts val="600"/>
              </a:spcAft>
              <a:buNone/>
            </a:pPr>
            <a:r>
              <a:rPr lang="en-US" sz="1400" dirty="0">
                <a:solidFill>
                  <a:srgbClr val="1A1A1A"/>
                </a:solidFill>
                <a:latin typeface="Open Sans" pitchFamily="34" charset="0"/>
                <a:ea typeface="Open Sans" pitchFamily="34" charset="-122"/>
                <a:cs typeface="Open Sans" pitchFamily="34" charset="-120"/>
              </a:rPr>
              <a:t>2  Is there a gap? Is it specific and typed?</a:t>
            </a:r>
            <a:endParaRPr lang="en-US" sz="1400" dirty="0"/>
          </a:p>
          <a:p>
            <a:pPr indent="0" marL="0">
              <a:spcAft>
                <a:spcPts val="600"/>
              </a:spcAft>
              <a:buNone/>
            </a:pPr>
            <a:r>
              <a:rPr lang="en-US" sz="1400" dirty="0">
                <a:solidFill>
                  <a:srgbClr val="1A1A1A"/>
                </a:solidFill>
                <a:latin typeface="Open Sans" pitchFamily="34" charset="0"/>
                <a:ea typeface="Open Sans" pitchFamily="34" charset="-122"/>
                <a:cs typeface="Open Sans" pitchFamily="34" charset="-120"/>
              </a:rPr>
              <a:t>3  Are the sources current and from credible venues?</a:t>
            </a:r>
            <a:endParaRPr lang="en-US" sz="1400" dirty="0"/>
          </a:p>
          <a:p>
            <a:pPr indent="0" marL="0">
              <a:spcAft>
                <a:spcPts val="600"/>
              </a:spcAft>
              <a:buNone/>
            </a:pPr>
            <a:r>
              <a:rPr lang="en-US" sz="1400" b="1" dirty="0">
                <a:solidFill>
                  <a:srgbClr val="1A1A1A"/>
                </a:solidFill>
                <a:latin typeface="Open Sans" pitchFamily="34" charset="0"/>
                <a:ea typeface="Open Sans" pitchFamily="34" charset="-122"/>
                <a:cs typeface="Open Sans" pitchFamily="34" charset="-120"/>
              </a:rPr>
              <a:t>4  Name the ONE edit that moves it up a band.</a:t>
            </a:r>
            <a:endParaRPr lang="en-US" sz="1400" dirty="0"/>
          </a:p>
          <a:p>
            <a:pPr indent="0" marL="0">
              <a:spcAft>
                <a:spcPts val="600"/>
              </a:spcAft>
              <a:buNone/>
            </a:pPr>
            <a:r>
              <a:rPr lang="en-US" sz="1400" b="1" dirty="0">
                <a:solidFill>
                  <a:srgbClr val="1A1A1A"/>
                </a:solidFill>
                <a:latin typeface="Open Sans" pitchFamily="34" charset="0"/>
                <a:ea typeface="Open Sans" pitchFamily="34" charset="-122"/>
                <a:cs typeface="Open Sans" pitchFamily="34" charset="-120"/>
              </a:rPr>
              <a:t>5  Which Criterion 2 band does it sit in, and why?</a:t>
            </a:r>
            <a:endParaRPr lang="en-US" sz="1400" dirty="0"/>
          </a:p>
        </p:txBody>
      </p:sp>
      <p:sp>
        <p:nvSpPr>
          <p:cNvPr id="6" name="Text 4"/>
          <p:cNvSpPr/>
          <p:nvPr/>
        </p:nvSpPr>
        <p:spPr>
          <a:xfrm>
            <a:off x="914400" y="4206240"/>
            <a:ext cx="7315200" cy="457200"/>
          </a:xfrm>
          <a:prstGeom prst="rect">
            <a:avLst/>
          </a:prstGeom>
          <a:noFill/>
          <a:ln/>
        </p:spPr>
        <p:txBody>
          <a:bodyPr wrap="square" lIns="0" tIns="0" rIns="0" bIns="0" rtlCol="0" anchor="t"/>
          <a:lstStyle/>
          <a:p>
            <a:pPr indent="0" marL="0">
              <a:buNone/>
            </a:pPr>
            <a:r>
              <a:rPr lang="en-US" sz="1300" i="1" dirty="0">
                <a:solidFill>
                  <a:srgbClr val="FFFFFF"/>
                </a:solidFill>
                <a:latin typeface="Open Sans" pitchFamily="34" charset="0"/>
                <a:ea typeface="Open Sans" pitchFamily="34" charset="-122"/>
                <a:cs typeface="Open Sans" pitchFamily="34" charset="-120"/>
              </a:rPr>
              <a:t>See the excerpt in your student notes (Section 3). Time: 10 minutes group discussion, then debrief.</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APA7 for This Domain: Three Forms to Get Right</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298448"/>
            <a:ext cx="7690104" cy="274320"/>
          </a:xfrm>
          <a:prstGeom prst="rect">
            <a:avLst/>
          </a:prstGeom>
          <a:solidFill>
            <a:srgbClr val="1B3A6B"/>
          </a:solidFill>
          <a:ln/>
        </p:spPr>
        <p:txBody>
          <a:bodyPr wrap="square" lIns="76200" tIns="76200" rIns="76200" bIns="76200" rtlCol="0" anchor="ctr"/>
          <a:lstStyle/>
          <a:p>
            <a:pPr indent="0" marL="0">
              <a:buNone/>
            </a:pPr>
            <a:r>
              <a:rPr lang="en-US" sz="1200" b="1" dirty="0">
                <a:solidFill>
                  <a:srgbClr val="FFFFFF"/>
                </a:solidFill>
                <a:latin typeface="Open Sans" pitchFamily="34" charset="0"/>
                <a:ea typeface="Open Sans" pitchFamily="34" charset="-122"/>
                <a:cs typeface="Open Sans" pitchFamily="34" charset="-120"/>
              </a:rPr>
              <a:t>Conference paper</a:t>
            </a:r>
            <a:endParaRPr lang="en-US" sz="1200" dirty="0"/>
          </a:p>
        </p:txBody>
      </p:sp>
      <p:sp>
        <p:nvSpPr>
          <p:cNvPr id="7" name="Text 5"/>
          <p:cNvSpPr/>
          <p:nvPr/>
        </p:nvSpPr>
        <p:spPr>
          <a:xfrm>
            <a:off x="731520" y="1591056"/>
            <a:ext cx="822960" cy="347472"/>
          </a:xfrm>
          <a:prstGeom prst="rect">
            <a:avLst/>
          </a:prstGeom>
          <a:solidFill>
            <a:srgbClr val="B11E2A"/>
          </a:solidFill>
          <a:ln/>
        </p:spPr>
        <p:txBody>
          <a:bodyPr wrap="square" lIns="50800" tIns="50800" rIns="50800" bIns="50800" rtlCol="0" anchor="ctr"/>
          <a:lstStyle/>
          <a:p>
            <a:pPr indent="0" marL="0">
              <a:buNone/>
            </a:pPr>
            <a:r>
              <a:rPr lang="en-US" sz="1100" b="1" dirty="0">
                <a:solidFill>
                  <a:srgbClr val="FFFFFF"/>
                </a:solidFill>
                <a:latin typeface="Open Sans" pitchFamily="34" charset="0"/>
                <a:ea typeface="Open Sans" pitchFamily="34" charset="-122"/>
                <a:cs typeface="Open Sans" pitchFamily="34" charset="-120"/>
              </a:rPr>
              <a:t>Wrong</a:t>
            </a:r>
            <a:endParaRPr lang="en-US" sz="1100" dirty="0"/>
          </a:p>
        </p:txBody>
      </p:sp>
      <p:sp>
        <p:nvSpPr>
          <p:cNvPr id="8" name="Text 6"/>
          <p:cNvSpPr/>
          <p:nvPr/>
        </p:nvSpPr>
        <p:spPr>
          <a:xfrm>
            <a:off x="1591056" y="1591056"/>
            <a:ext cx="6830568" cy="347472"/>
          </a:xfrm>
          <a:prstGeom prst="rect">
            <a:avLst/>
          </a:prstGeom>
          <a:solidFill>
            <a:srgbClr val="EDF1F5"/>
          </a:solidFill>
          <a:ln/>
        </p:spPr>
        <p:txBody>
          <a:bodyPr wrap="square" lIns="50800" tIns="50800" rIns="50800" bIns="50800" rtlCol="0" anchor="ctr"/>
          <a:lstStyle/>
          <a:p>
            <a:pPr indent="0" marL="0">
              <a:buNone/>
            </a:pPr>
            <a:r>
              <a:rPr lang="en-US" sz="1100" dirty="0">
                <a:solidFill>
                  <a:srgbClr val="1A1A1A"/>
                </a:solidFill>
                <a:latin typeface="Open Sans" pitchFamily="34" charset="0"/>
                <a:ea typeface="Open Sans" pitchFamily="34" charset="-122"/>
                <a:cs typeface="Open Sans" pitchFamily="34" charset="-120"/>
              </a:rPr>
              <a:t>Author, A. (2022). Title of paper. Journal of Security, 14(3), 22-31.</a:t>
            </a:r>
            <a:endParaRPr lang="en-US" sz="1100" dirty="0"/>
          </a:p>
        </p:txBody>
      </p:sp>
      <p:sp>
        <p:nvSpPr>
          <p:cNvPr id="9" name="Text 7"/>
          <p:cNvSpPr/>
          <p:nvPr/>
        </p:nvSpPr>
        <p:spPr>
          <a:xfrm>
            <a:off x="731520" y="1956816"/>
            <a:ext cx="822960" cy="384048"/>
          </a:xfrm>
          <a:prstGeom prst="rect">
            <a:avLst/>
          </a:prstGeom>
          <a:solidFill>
            <a:srgbClr val="2E9E5C"/>
          </a:solidFill>
          <a:ln/>
        </p:spPr>
        <p:txBody>
          <a:bodyPr wrap="square" lIns="50800" tIns="50800" rIns="50800" bIns="50800" rtlCol="0" anchor="ctr"/>
          <a:lstStyle/>
          <a:p>
            <a:pPr indent="0" marL="0">
              <a:buNone/>
            </a:pPr>
            <a:r>
              <a:rPr lang="en-US" sz="1100" b="1" dirty="0">
                <a:solidFill>
                  <a:srgbClr val="FFFFFF"/>
                </a:solidFill>
                <a:latin typeface="Open Sans" pitchFamily="34" charset="0"/>
                <a:ea typeface="Open Sans" pitchFamily="34" charset="-122"/>
                <a:cs typeface="Open Sans" pitchFamily="34" charset="-120"/>
              </a:rPr>
              <a:t>Right</a:t>
            </a:r>
            <a:endParaRPr lang="en-US" sz="1100" dirty="0"/>
          </a:p>
        </p:txBody>
      </p:sp>
      <p:sp>
        <p:nvSpPr>
          <p:cNvPr id="10" name="Text 8"/>
          <p:cNvSpPr/>
          <p:nvPr/>
        </p:nvSpPr>
        <p:spPr>
          <a:xfrm>
            <a:off x="1591056" y="1956816"/>
            <a:ext cx="6830568" cy="384048"/>
          </a:xfrm>
          <a:prstGeom prst="rect">
            <a:avLst/>
          </a:prstGeom>
          <a:solidFill>
            <a:srgbClr val="E3E9EF"/>
          </a:solidFill>
          <a:ln/>
        </p:spPr>
        <p:txBody>
          <a:bodyPr wrap="square" lIns="50800" tIns="50800" rIns="50800" bIns="50800" rtlCol="0" anchor="ctr"/>
          <a:lstStyle/>
          <a:p>
            <a:pPr indent="0" marL="0">
              <a:buNone/>
            </a:pPr>
            <a:r>
              <a:rPr lang="en-US" sz="1100" dirty="0">
                <a:solidFill>
                  <a:srgbClr val="1A1A1A"/>
                </a:solidFill>
                <a:latin typeface="Open Sans" pitchFamily="34" charset="0"/>
                <a:ea typeface="Open Sans" pitchFamily="34" charset="-122"/>
                <a:cs typeface="Open Sans" pitchFamily="34" charset="-120"/>
              </a:rPr>
              <a:t>Author, A. (2022). Title of paper. In Proceedings of the 31st USENIX Security Symposium (pp. 1123-1140). USENIX Association.</a:t>
            </a:r>
            <a:endParaRPr lang="en-US" sz="1100" dirty="0"/>
          </a:p>
        </p:txBody>
      </p:sp>
      <p:sp>
        <p:nvSpPr>
          <p:cNvPr id="11" name="Text 9"/>
          <p:cNvSpPr/>
          <p:nvPr/>
        </p:nvSpPr>
        <p:spPr>
          <a:xfrm>
            <a:off x="731520" y="2414016"/>
            <a:ext cx="7690104" cy="274320"/>
          </a:xfrm>
          <a:prstGeom prst="rect">
            <a:avLst/>
          </a:prstGeom>
          <a:solidFill>
            <a:srgbClr val="1B3A6B"/>
          </a:solidFill>
          <a:ln/>
        </p:spPr>
        <p:txBody>
          <a:bodyPr wrap="square" lIns="76200" tIns="76200" rIns="76200" bIns="76200" rtlCol="0" anchor="ctr"/>
          <a:lstStyle/>
          <a:p>
            <a:pPr indent="0" marL="0">
              <a:buNone/>
            </a:pPr>
            <a:r>
              <a:rPr lang="en-US" sz="1200" b="1" dirty="0">
                <a:solidFill>
                  <a:srgbClr val="FFFFFF"/>
                </a:solidFill>
                <a:latin typeface="Open Sans" pitchFamily="34" charset="0"/>
                <a:ea typeface="Open Sans" pitchFamily="34" charset="-122"/>
                <a:cs typeface="Open Sans" pitchFamily="34" charset="-120"/>
              </a:rPr>
              <a:t>IETF RFC</a:t>
            </a:r>
            <a:endParaRPr lang="en-US" sz="1200" dirty="0"/>
          </a:p>
        </p:txBody>
      </p:sp>
      <p:sp>
        <p:nvSpPr>
          <p:cNvPr id="12" name="Text 10"/>
          <p:cNvSpPr/>
          <p:nvPr/>
        </p:nvSpPr>
        <p:spPr>
          <a:xfrm>
            <a:off x="731520" y="2706624"/>
            <a:ext cx="822960" cy="347472"/>
          </a:xfrm>
          <a:prstGeom prst="rect">
            <a:avLst/>
          </a:prstGeom>
          <a:solidFill>
            <a:srgbClr val="B11E2A"/>
          </a:solidFill>
          <a:ln/>
        </p:spPr>
        <p:txBody>
          <a:bodyPr wrap="square" lIns="50800" tIns="50800" rIns="50800" bIns="50800" rtlCol="0" anchor="ctr"/>
          <a:lstStyle/>
          <a:p>
            <a:pPr indent="0" marL="0">
              <a:buNone/>
            </a:pPr>
            <a:r>
              <a:rPr lang="en-US" sz="1100" b="1" dirty="0">
                <a:solidFill>
                  <a:srgbClr val="FFFFFF"/>
                </a:solidFill>
                <a:latin typeface="Open Sans" pitchFamily="34" charset="0"/>
                <a:ea typeface="Open Sans" pitchFamily="34" charset="-122"/>
                <a:cs typeface="Open Sans" pitchFamily="34" charset="-120"/>
              </a:rPr>
              <a:t>Wrong</a:t>
            </a:r>
            <a:endParaRPr lang="en-US" sz="1100" dirty="0"/>
          </a:p>
        </p:txBody>
      </p:sp>
      <p:sp>
        <p:nvSpPr>
          <p:cNvPr id="13" name="Text 11"/>
          <p:cNvSpPr/>
          <p:nvPr/>
        </p:nvSpPr>
        <p:spPr>
          <a:xfrm>
            <a:off x="1591056" y="2706624"/>
            <a:ext cx="6830568" cy="347472"/>
          </a:xfrm>
          <a:prstGeom prst="rect">
            <a:avLst/>
          </a:prstGeom>
          <a:solidFill>
            <a:srgbClr val="EDF1F5"/>
          </a:solidFill>
          <a:ln/>
        </p:spPr>
        <p:txBody>
          <a:bodyPr wrap="square" lIns="50800" tIns="50800" rIns="50800" bIns="50800" rtlCol="0" anchor="ctr"/>
          <a:lstStyle/>
          <a:p>
            <a:pPr indent="0" marL="0">
              <a:buNone/>
            </a:pPr>
            <a:r>
              <a:rPr lang="en-US" sz="1100" dirty="0">
                <a:solidFill>
                  <a:srgbClr val="1A1A1A"/>
                </a:solidFill>
                <a:latin typeface="Open Sans" pitchFamily="34" charset="0"/>
                <a:ea typeface="Open Sans" pitchFamily="34" charset="-122"/>
                <a:cs typeface="Open Sans" pitchFamily="34" charset="-120"/>
              </a:rPr>
              <a:t>Internet Engineering Task Force. (n.d.). TLS 1.3. https://www.rfc-editor.org/...</a:t>
            </a:r>
            <a:endParaRPr lang="en-US" sz="1100" dirty="0"/>
          </a:p>
        </p:txBody>
      </p:sp>
      <p:sp>
        <p:nvSpPr>
          <p:cNvPr id="14" name="Text 12"/>
          <p:cNvSpPr/>
          <p:nvPr/>
        </p:nvSpPr>
        <p:spPr>
          <a:xfrm>
            <a:off x="731520" y="3072384"/>
            <a:ext cx="822960" cy="384048"/>
          </a:xfrm>
          <a:prstGeom prst="rect">
            <a:avLst/>
          </a:prstGeom>
          <a:solidFill>
            <a:srgbClr val="2E9E5C"/>
          </a:solidFill>
          <a:ln/>
        </p:spPr>
        <p:txBody>
          <a:bodyPr wrap="square" lIns="50800" tIns="50800" rIns="50800" bIns="50800" rtlCol="0" anchor="ctr"/>
          <a:lstStyle/>
          <a:p>
            <a:pPr indent="0" marL="0">
              <a:buNone/>
            </a:pPr>
            <a:r>
              <a:rPr lang="en-US" sz="1100" b="1" dirty="0">
                <a:solidFill>
                  <a:srgbClr val="FFFFFF"/>
                </a:solidFill>
                <a:latin typeface="Open Sans" pitchFamily="34" charset="0"/>
                <a:ea typeface="Open Sans" pitchFamily="34" charset="-122"/>
                <a:cs typeface="Open Sans" pitchFamily="34" charset="-120"/>
              </a:rPr>
              <a:t>Right</a:t>
            </a:r>
            <a:endParaRPr lang="en-US" sz="1100" dirty="0"/>
          </a:p>
        </p:txBody>
      </p:sp>
      <p:sp>
        <p:nvSpPr>
          <p:cNvPr id="15" name="Text 13"/>
          <p:cNvSpPr/>
          <p:nvPr/>
        </p:nvSpPr>
        <p:spPr>
          <a:xfrm>
            <a:off x="1591056" y="3072384"/>
            <a:ext cx="6830568" cy="384048"/>
          </a:xfrm>
          <a:prstGeom prst="rect">
            <a:avLst/>
          </a:prstGeom>
          <a:solidFill>
            <a:srgbClr val="E3E9EF"/>
          </a:solidFill>
          <a:ln/>
        </p:spPr>
        <p:txBody>
          <a:bodyPr wrap="square" lIns="50800" tIns="50800" rIns="50800" bIns="50800" rtlCol="0" anchor="ctr"/>
          <a:lstStyle/>
          <a:p>
            <a:pPr indent="0" marL="0">
              <a:buNone/>
            </a:pPr>
            <a:r>
              <a:rPr lang="en-US" sz="1100" dirty="0">
                <a:solidFill>
                  <a:srgbClr val="1A1A1A"/>
                </a:solidFill>
                <a:latin typeface="Open Sans" pitchFamily="34" charset="0"/>
                <a:ea typeface="Open Sans" pitchFamily="34" charset="-122"/>
                <a:cs typeface="Open Sans" pitchFamily="34" charset="-120"/>
              </a:rPr>
              <a:t>Rescorla, E. (2018). The Transport Layer Security (TLS) protocol version 1.3 (RFC 8446). RFC Editor. https://doi.org/10.17487/RFC8446</a:t>
            </a:r>
            <a:endParaRPr lang="en-US" sz="1100" dirty="0"/>
          </a:p>
        </p:txBody>
      </p:sp>
      <p:sp>
        <p:nvSpPr>
          <p:cNvPr id="16" name="Text 14"/>
          <p:cNvSpPr/>
          <p:nvPr/>
        </p:nvSpPr>
        <p:spPr>
          <a:xfrm>
            <a:off x="731520" y="3529584"/>
            <a:ext cx="7690104" cy="274320"/>
          </a:xfrm>
          <a:prstGeom prst="rect">
            <a:avLst/>
          </a:prstGeom>
          <a:solidFill>
            <a:srgbClr val="1B3A6B"/>
          </a:solidFill>
          <a:ln/>
        </p:spPr>
        <p:txBody>
          <a:bodyPr wrap="square" lIns="76200" tIns="76200" rIns="76200" bIns="76200" rtlCol="0" anchor="ctr"/>
          <a:lstStyle/>
          <a:p>
            <a:pPr indent="0" marL="0">
              <a:buNone/>
            </a:pPr>
            <a:r>
              <a:rPr lang="en-US" sz="1200" b="1" dirty="0">
                <a:solidFill>
                  <a:srgbClr val="FFFFFF"/>
                </a:solidFill>
                <a:latin typeface="Open Sans" pitchFamily="34" charset="0"/>
                <a:ea typeface="Open Sans" pitchFamily="34" charset="-122"/>
                <a:cs typeface="Open Sans" pitchFamily="34" charset="-120"/>
              </a:rPr>
              <a:t>NIST Special Publication</a:t>
            </a:r>
            <a:endParaRPr lang="en-US" sz="1200" dirty="0"/>
          </a:p>
        </p:txBody>
      </p:sp>
      <p:sp>
        <p:nvSpPr>
          <p:cNvPr id="17" name="Text 15"/>
          <p:cNvSpPr/>
          <p:nvPr/>
        </p:nvSpPr>
        <p:spPr>
          <a:xfrm>
            <a:off x="731520" y="3822192"/>
            <a:ext cx="822960" cy="347472"/>
          </a:xfrm>
          <a:prstGeom prst="rect">
            <a:avLst/>
          </a:prstGeom>
          <a:solidFill>
            <a:srgbClr val="B11E2A"/>
          </a:solidFill>
          <a:ln/>
        </p:spPr>
        <p:txBody>
          <a:bodyPr wrap="square" lIns="50800" tIns="50800" rIns="50800" bIns="50800" rtlCol="0" anchor="ctr"/>
          <a:lstStyle/>
          <a:p>
            <a:pPr indent="0" marL="0">
              <a:buNone/>
            </a:pPr>
            <a:r>
              <a:rPr lang="en-US" sz="1100" b="1" dirty="0">
                <a:solidFill>
                  <a:srgbClr val="FFFFFF"/>
                </a:solidFill>
                <a:latin typeface="Open Sans" pitchFamily="34" charset="0"/>
                <a:ea typeface="Open Sans" pitchFamily="34" charset="-122"/>
                <a:cs typeface="Open Sans" pitchFamily="34" charset="-120"/>
              </a:rPr>
              <a:t>Wrong</a:t>
            </a:r>
            <a:endParaRPr lang="en-US" sz="1100" dirty="0"/>
          </a:p>
        </p:txBody>
      </p:sp>
      <p:sp>
        <p:nvSpPr>
          <p:cNvPr id="18" name="Text 16"/>
          <p:cNvSpPr/>
          <p:nvPr/>
        </p:nvSpPr>
        <p:spPr>
          <a:xfrm>
            <a:off x="1591056" y="3822192"/>
            <a:ext cx="6830568" cy="347472"/>
          </a:xfrm>
          <a:prstGeom prst="rect">
            <a:avLst/>
          </a:prstGeom>
          <a:solidFill>
            <a:srgbClr val="EDF1F5"/>
          </a:solidFill>
          <a:ln/>
        </p:spPr>
        <p:txBody>
          <a:bodyPr wrap="square" lIns="50800" tIns="50800" rIns="50800" bIns="50800" rtlCol="0" anchor="ctr"/>
          <a:lstStyle/>
          <a:p>
            <a:pPr indent="0" marL="0">
              <a:buNone/>
            </a:pPr>
            <a:r>
              <a:rPr lang="en-US" sz="1100" dirty="0">
                <a:solidFill>
                  <a:srgbClr val="1A1A1A"/>
                </a:solidFill>
                <a:latin typeface="Open Sans" pitchFamily="34" charset="0"/>
                <a:ea typeface="Open Sans" pitchFamily="34" charset="-122"/>
                <a:cs typeface="Open Sans" pitchFamily="34" charset="-120"/>
              </a:rPr>
              <a:t>https://csrc.nist.gov/... (or "the NIST website")</a:t>
            </a:r>
            <a:endParaRPr lang="en-US" sz="1100" dirty="0"/>
          </a:p>
        </p:txBody>
      </p:sp>
      <p:sp>
        <p:nvSpPr>
          <p:cNvPr id="19" name="Text 17"/>
          <p:cNvSpPr/>
          <p:nvPr/>
        </p:nvSpPr>
        <p:spPr>
          <a:xfrm>
            <a:off x="731520" y="4187952"/>
            <a:ext cx="822960" cy="384048"/>
          </a:xfrm>
          <a:prstGeom prst="rect">
            <a:avLst/>
          </a:prstGeom>
          <a:solidFill>
            <a:srgbClr val="2E9E5C"/>
          </a:solidFill>
          <a:ln/>
        </p:spPr>
        <p:txBody>
          <a:bodyPr wrap="square" lIns="50800" tIns="50800" rIns="50800" bIns="50800" rtlCol="0" anchor="ctr"/>
          <a:lstStyle/>
          <a:p>
            <a:pPr indent="0" marL="0">
              <a:buNone/>
            </a:pPr>
            <a:r>
              <a:rPr lang="en-US" sz="1100" b="1" dirty="0">
                <a:solidFill>
                  <a:srgbClr val="FFFFFF"/>
                </a:solidFill>
                <a:latin typeface="Open Sans" pitchFamily="34" charset="0"/>
                <a:ea typeface="Open Sans" pitchFamily="34" charset="-122"/>
                <a:cs typeface="Open Sans" pitchFamily="34" charset="-120"/>
              </a:rPr>
              <a:t>Right</a:t>
            </a:r>
            <a:endParaRPr lang="en-US" sz="1100" dirty="0"/>
          </a:p>
        </p:txBody>
      </p:sp>
      <p:sp>
        <p:nvSpPr>
          <p:cNvPr id="20" name="Text 18"/>
          <p:cNvSpPr/>
          <p:nvPr/>
        </p:nvSpPr>
        <p:spPr>
          <a:xfrm>
            <a:off x="1591056" y="4187952"/>
            <a:ext cx="6830568" cy="384048"/>
          </a:xfrm>
          <a:prstGeom prst="rect">
            <a:avLst/>
          </a:prstGeom>
          <a:solidFill>
            <a:srgbClr val="E3E9EF"/>
          </a:solidFill>
          <a:ln/>
        </p:spPr>
        <p:txBody>
          <a:bodyPr wrap="square" lIns="50800" tIns="50800" rIns="50800" bIns="50800" rtlCol="0" anchor="ctr"/>
          <a:lstStyle/>
          <a:p>
            <a:pPr indent="0" marL="0">
              <a:buNone/>
            </a:pPr>
            <a:r>
              <a:rPr lang="en-US" sz="1100" dirty="0">
                <a:solidFill>
                  <a:srgbClr val="1A1A1A"/>
                </a:solidFill>
                <a:latin typeface="Open Sans" pitchFamily="34" charset="0"/>
                <a:ea typeface="Open Sans" pitchFamily="34" charset="-122"/>
                <a:cs typeface="Open Sans" pitchFamily="34" charset="-120"/>
              </a:rPr>
              <a:t>Rose, S., Borchert, O., Mitchell, S., and Connelly, S. (2020). Zero trust architecture (NIST SP 800-207). National Institute of Standards and Technology. https://doi.org/10.6028/NIST.SP.800-207</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Five Common APA7 Errors in This Domain</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371600"/>
            <a:ext cx="7690104" cy="3200400"/>
          </a:xfrm>
          <a:prstGeom prst="rect">
            <a:avLst/>
          </a:prstGeom>
          <a:solidFill>
            <a:srgbClr val="C5D6E8"/>
          </a:solidFill>
          <a:ln/>
        </p:spPr>
        <p:txBody>
          <a:bodyPr wrap="square" lIns="127000" tIns="127000" rIns="127000" bIns="127000" rtlCol="0" anchor="t"/>
          <a:lstStyle/>
          <a:p>
            <a:pPr marL="342900" indent="-342900">
              <a:lnSpc>
                <a:spcPct val="105000"/>
              </a:lnSpc>
              <a:spcAft>
                <a:spcPts val="600"/>
              </a:spcAft>
              <a:buSzPct val="100000"/>
              <a:buChar char="•"/>
            </a:pPr>
            <a:r>
              <a:rPr lang="en-US" sz="1300" dirty="0">
                <a:solidFill>
                  <a:srgbClr val="1A1A1A"/>
                </a:solidFill>
                <a:latin typeface="Open Sans" pitchFamily="34" charset="0"/>
                <a:ea typeface="Open Sans" pitchFamily="34" charset="-122"/>
                <a:cs typeface="Open Sans" pitchFamily="34" charset="-120"/>
              </a:rPr>
              <a:t>An RFC cited as a bare webpage: no author, no date, just a URL. Fix: find the RFC number, author, and year - cite in full as shown on the previous slide.</a:t>
            </a:r>
            <a:endParaRPr lang="en-US" sz="1300" dirty="0"/>
          </a:p>
          <a:p>
            <a:pPr marL="342900" indent="-342900">
              <a:lnSpc>
                <a:spcPct val="105000"/>
              </a:lnSpc>
              <a:spcAft>
                <a:spcPts val="600"/>
              </a:spcAft>
              <a:buSzPct val="100000"/>
              <a:buChar char="•"/>
            </a:pPr>
            <a:r>
              <a:rPr lang="en-US" sz="1300" dirty="0">
                <a:solidFill>
                  <a:srgbClr val="1A1A1A"/>
                </a:solidFill>
                <a:latin typeface="Open Sans" pitchFamily="34" charset="0"/>
                <a:ea typeface="Open Sans" pitchFamily="34" charset="-122"/>
                <a:cs typeface="Open Sans" pitchFamily="34" charset="-120"/>
              </a:rPr>
              <a:t>A conference paper dressed as a journal article: invented volume and issue numbers. Fix: use the Proceedings format with conference name, page range, and publisher.</a:t>
            </a:r>
            <a:endParaRPr lang="en-US" sz="1300" dirty="0"/>
          </a:p>
          <a:p>
            <a:pPr marL="342900" indent="-342900">
              <a:lnSpc>
                <a:spcPct val="105000"/>
              </a:lnSpc>
              <a:spcAft>
                <a:spcPts val="600"/>
              </a:spcAft>
              <a:buSzPct val="100000"/>
              <a:buChar char="•"/>
            </a:pPr>
            <a:r>
              <a:rPr lang="en-US" sz="1300" dirty="0">
                <a:solidFill>
                  <a:srgbClr val="1A1A1A"/>
                </a:solidFill>
                <a:latin typeface="Open Sans" pitchFamily="34" charset="0"/>
                <a:ea typeface="Open Sans" pitchFamily="34" charset="-122"/>
                <a:cs typeface="Open Sans" pitchFamily="34" charset="-120"/>
              </a:rPr>
              <a:t>NIST or NCSC guidance reduced to a URL or "the NIST website". Fix: use the named authors where the document lists them, then year, title, SP number, issuing body, and DOI.</a:t>
            </a:r>
            <a:endParaRPr lang="en-US" sz="1300" dirty="0"/>
          </a:p>
          <a:p>
            <a:pPr marL="342900" indent="-342900">
              <a:lnSpc>
                <a:spcPct val="105000"/>
              </a:lnSpc>
              <a:spcAft>
                <a:spcPts val="600"/>
              </a:spcAft>
              <a:buSzPct val="100000"/>
              <a:buChar char="•"/>
            </a:pPr>
            <a:r>
              <a:rPr lang="en-US" sz="1300" dirty="0">
                <a:solidFill>
                  <a:srgbClr val="1A1A1A"/>
                </a:solidFill>
                <a:latin typeface="Open Sans" pitchFamily="34" charset="0"/>
                <a:ea typeface="Open Sans" pitchFamily="34" charset="-122"/>
                <a:cs typeface="Open Sans" pitchFamily="34" charset="-120"/>
              </a:rPr>
              <a:t>An OWASP project with no author, date, or version. Fix: OWASP Foundation. (2021). OWASP Top 10:2021. https://owasp.org/Top10/</a:t>
            </a:r>
            <a:endParaRPr lang="en-US" sz="1300" dirty="0"/>
          </a:p>
          <a:p>
            <a:pPr marL="342900" indent="-342900">
              <a:lnSpc>
                <a:spcPct val="105000"/>
              </a:lnSpc>
              <a:spcAft>
                <a:spcPts val="600"/>
              </a:spcAft>
              <a:buSzPct val="100000"/>
              <a:buChar char="•"/>
            </a:pPr>
            <a:r>
              <a:rPr lang="en-US" sz="1300" dirty="0">
                <a:solidFill>
                  <a:srgbClr val="1A1A1A"/>
                </a:solidFill>
                <a:latin typeface="Open Sans" pitchFamily="34" charset="0"/>
                <a:ea typeface="Open Sans" pitchFamily="34" charset="-122"/>
                <a:cs typeface="Open Sans" pitchFamily="34" charset="-120"/>
              </a:rPr>
              <a:t>A second-hand citation passed off as first-hand (citing a paper you only saw quoted in another). Fix: read the original, or cite honestly as Author (Year, as cited in OtherAuthor, Year).</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What Comes Next</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371600"/>
            <a:ext cx="7690104" cy="2359152"/>
          </a:xfrm>
          <a:prstGeom prst="rect">
            <a:avLst/>
          </a:prstGeom>
          <a:solidFill>
            <a:srgbClr val="C5D6E8"/>
          </a:solidFill>
          <a:ln/>
        </p:spPr>
        <p:txBody>
          <a:bodyPr wrap="square" lIns="127000" tIns="127000" rIns="127000" bIns="127000" rtlCol="0" anchor="t"/>
          <a:lstStyle/>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Week 8 checkpoint - the full proposal draft: all four chapters, including a complete literature review. Aim to arrive with a review that groups sources by approach, names a typed gap, and wires it to the research question.</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Critical-vs-Descriptive Mirror tool: paste any literature-review paragraph to get instant feedback on whether you are describing or engaging. Access from the module page.</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Criterion 2 at Distinction: current sources from credible venues, critical engagement throughout, a named and typed gap, and APA7 accurate for conference papers, RFCs, and NIST SPs.</a:t>
            </a:r>
            <a:endParaRPr lang="en-US" sz="1400" dirty="0"/>
          </a:p>
        </p:txBody>
      </p:sp>
      <p:sp>
        <p:nvSpPr>
          <p:cNvPr id="7" name="Text 5"/>
          <p:cNvSpPr/>
          <p:nvPr/>
        </p:nvSpPr>
        <p:spPr>
          <a:xfrm>
            <a:off x="731520" y="3840480"/>
            <a:ext cx="7690104" cy="749808"/>
          </a:xfrm>
          <a:prstGeom prst="rect">
            <a:avLst/>
          </a:prstGeom>
          <a:solidFill>
            <a:srgbClr val="1B3A6B"/>
          </a:solidFill>
          <a:ln/>
        </p:spPr>
        <p:txBody>
          <a:bodyPr wrap="square" lIns="101600" tIns="101600" rIns="101600" bIns="101600" rtlCol="0" anchor="ctr"/>
          <a:lstStyle/>
          <a:p>
            <a:pPr indent="0" marL="0">
              <a:buNone/>
            </a:pPr>
            <a:r>
              <a:rPr lang="en-US" sz="1400" b="1" dirty="0">
                <a:solidFill>
                  <a:srgbClr val="FFFFFF"/>
                </a:solidFill>
                <a:latin typeface="Open Sans" pitchFamily="34" charset="0"/>
                <a:ea typeface="Open Sans" pitchFamily="34" charset="-122"/>
                <a:cs typeface="Open Sans" pitchFamily="34" charset="-120"/>
              </a:rPr>
              <a:t>Session 3 (Week 6) - Methodology: the gap becomes a testable, evaluable research design. The question you have framed determines what methodology can answer it.</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6035040" y="0"/>
            <a:ext cx="3108960" cy="5143500"/>
          </a:xfrm>
          <a:prstGeom prst="rect">
            <a:avLst/>
          </a:prstGeom>
          <a:solidFill>
            <a:srgbClr val="1B3A6B"/>
          </a:solidFill>
          <a:ln/>
        </p:spPr>
      </p:sp>
      <p:sp>
        <p:nvSpPr>
          <p:cNvPr id="3" name="Text 1"/>
          <p:cNvSpPr/>
          <p:nvPr/>
        </p:nvSpPr>
        <p:spPr>
          <a:xfrm>
            <a:off x="384048" y="1097280"/>
            <a:ext cx="5303520" cy="868680"/>
          </a:xfrm>
          <a:prstGeom prst="rect">
            <a:avLst/>
          </a:prstGeom>
          <a:noFill/>
          <a:ln/>
        </p:spPr>
        <p:txBody>
          <a:bodyPr wrap="square" lIns="0" tIns="0" rIns="0" bIns="0" rtlCol="0" anchor="t"/>
          <a:lstStyle/>
          <a:p>
            <a:pPr indent="0" marL="0">
              <a:buNone/>
            </a:pPr>
            <a:r>
              <a:rPr lang="en-US" sz="4800" b="1" dirty="0">
                <a:solidFill>
                  <a:srgbClr val="1A1A1A"/>
                </a:solidFill>
                <a:latin typeface="Open Sans" pitchFamily="34" charset="0"/>
                <a:ea typeface="Open Sans" pitchFamily="34" charset="-122"/>
                <a:cs typeface="Open Sans" pitchFamily="34" charset="-120"/>
              </a:rPr>
              <a:t>Questions &amp;</a:t>
            </a:r>
            <a:endParaRPr lang="en-US" sz="4800" dirty="0"/>
          </a:p>
        </p:txBody>
      </p:sp>
      <p:sp>
        <p:nvSpPr>
          <p:cNvPr id="4" name="Text 2"/>
          <p:cNvSpPr/>
          <p:nvPr/>
        </p:nvSpPr>
        <p:spPr>
          <a:xfrm>
            <a:off x="384048" y="1938528"/>
            <a:ext cx="5303520" cy="868680"/>
          </a:xfrm>
          <a:prstGeom prst="rect">
            <a:avLst/>
          </a:prstGeom>
          <a:noFill/>
          <a:ln/>
        </p:spPr>
        <p:txBody>
          <a:bodyPr wrap="square" lIns="0" tIns="0" rIns="0" bIns="0" rtlCol="0" anchor="t"/>
          <a:lstStyle/>
          <a:p>
            <a:pPr indent="0" marL="0">
              <a:buNone/>
            </a:pPr>
            <a:r>
              <a:rPr lang="en-US" sz="4800" b="1" dirty="0">
                <a:solidFill>
                  <a:srgbClr val="1B3A6B"/>
                </a:solidFill>
                <a:latin typeface="Open Sans" pitchFamily="34" charset="0"/>
                <a:ea typeface="Open Sans" pitchFamily="34" charset="-122"/>
                <a:cs typeface="Open Sans" pitchFamily="34" charset="-120"/>
              </a:rPr>
              <a:t>Discussion</a:t>
            </a:r>
            <a:endParaRPr lang="en-US" sz="4800" dirty="0"/>
          </a:p>
        </p:txBody>
      </p:sp>
      <p:sp>
        <p:nvSpPr>
          <p:cNvPr id="5" name="Shape 3"/>
          <p:cNvSpPr/>
          <p:nvPr/>
        </p:nvSpPr>
        <p:spPr>
          <a:xfrm>
            <a:off x="384048" y="2852928"/>
            <a:ext cx="749808" cy="73152"/>
          </a:xfrm>
          <a:prstGeom prst="rect">
            <a:avLst/>
          </a:prstGeom>
          <a:solidFill>
            <a:srgbClr val="1B3A6B"/>
          </a:solidFill>
          <a:ln/>
        </p:spPr>
      </p:sp>
      <p:sp>
        <p:nvSpPr>
          <p:cNvPr id="6" name="Shape 4"/>
          <p:cNvSpPr/>
          <p:nvPr/>
        </p:nvSpPr>
        <p:spPr>
          <a:xfrm>
            <a:off x="1188720" y="2852928"/>
            <a:ext cx="384048" cy="73152"/>
          </a:xfrm>
          <a:prstGeom prst="rect">
            <a:avLst/>
          </a:prstGeom>
          <a:solidFill>
            <a:srgbClr val="E0701A"/>
          </a:solidFill>
          <a:ln/>
        </p:spPr>
      </p:sp>
      <p:sp>
        <p:nvSpPr>
          <p:cNvPr id="7" name="Text 5"/>
          <p:cNvSpPr/>
          <p:nvPr/>
        </p:nvSpPr>
        <p:spPr>
          <a:xfrm>
            <a:off x="384048" y="3035808"/>
            <a:ext cx="5303520" cy="658368"/>
          </a:xfrm>
          <a:prstGeom prst="rect">
            <a:avLst/>
          </a:prstGeom>
          <a:noFill/>
          <a:ln/>
        </p:spPr>
        <p:txBody>
          <a:bodyPr wrap="square" lIns="0" tIns="0" rIns="0" bIns="0" rtlCol="0" anchor="t"/>
          <a:lstStyle/>
          <a:p>
            <a:pPr indent="0" marL="0">
              <a:buNone/>
            </a:pPr>
            <a:r>
              <a:rPr lang="en-US" sz="1500" i="1" dirty="0">
                <a:solidFill>
                  <a:srgbClr val="595959"/>
                </a:solidFill>
                <a:latin typeface="Open Sans" pitchFamily="34" charset="0"/>
                <a:ea typeface="Open Sans" pitchFamily="34" charset="-122"/>
                <a:cs typeface="Open Sans" pitchFamily="34" charset="-120"/>
              </a:rPr>
              <a:t>NB6015CEM - Research Project Preparation</a:t>
            </a:r>
            <a:endParaRPr lang="en-US" sz="1600" dirty="0"/>
          </a:p>
          <a:p>
            <a:pPr indent="0" marL="0">
              <a:buNone/>
            </a:pPr>
            <a:r>
              <a:rPr lang="en-US" sz="1500" i="1" dirty="0">
                <a:solidFill>
                  <a:srgbClr val="595959"/>
                </a:solidFill>
                <a:latin typeface="Open Sans" pitchFamily="34" charset="0"/>
                <a:ea typeface="Open Sans" pitchFamily="34" charset="-122"/>
                <a:cs typeface="Open Sans" pitchFamily="34" charset="-120"/>
              </a:rPr>
              <a:t>Day 2 - Critical Literature Review</a:t>
            </a:r>
            <a:endParaRPr lang="en-US" sz="1600" dirty="0"/>
          </a:p>
        </p:txBody>
      </p:sp>
      <p:pic>
        <p:nvPicPr>
          <p:cNvPr id="8" name="Image 0" descr="preencoded.png">    </p:cNvPr>
          <p:cNvPicPr>
            <a:picLocks noChangeAspect="1"/>
          </p:cNvPicPr>
          <p:nvPr/>
        </p:nvPicPr>
        <p:blipFill>
          <a:blip r:embed="rId1"/>
          <a:stretch>
            <a:fillRect/>
          </a:stretch>
        </p:blipFill>
        <p:spPr>
          <a:xfrm>
            <a:off x="6195060" y="502920"/>
            <a:ext cx="2743200" cy="3840480"/>
          </a:xfrm>
          <a:prstGeom prst="rect">
            <a:avLst/>
          </a:prstGeom>
        </p:spPr>
      </p:pic>
      <p:sp>
        <p:nvSpPr>
          <p:cNvPr id="9" name="Text 6"/>
          <p:cNvSpPr/>
          <p:nvPr/>
        </p:nvSpPr>
        <p:spPr>
          <a:xfrm>
            <a:off x="6217920" y="4480560"/>
            <a:ext cx="2743200" cy="365760"/>
          </a:xfrm>
          <a:prstGeom prst="rect">
            <a:avLst/>
          </a:prstGeom>
          <a:noFill/>
          <a:ln/>
        </p:spPr>
        <p:txBody>
          <a:bodyPr wrap="square" lIns="0" tIns="0" rIns="0" bIns="0" rtlCol="0" anchor="t"/>
          <a:lstStyle/>
          <a:p>
            <a:pPr indent="0" marL="0">
              <a:buNone/>
            </a:pPr>
            <a:r>
              <a:rPr lang="en-US" sz="1100" dirty="0">
                <a:solidFill>
                  <a:srgbClr val="FFFFFF"/>
                </a:solidFill>
                <a:latin typeface="Open Sans" pitchFamily="34" charset="0"/>
                <a:ea typeface="Open Sans" pitchFamily="34" charset="-122"/>
                <a:cs typeface="Open Sans" pitchFamily="34" charset="-120"/>
              </a:rPr>
              <a:t>NB6015CEM  |  Research Project Preparation  |  Level 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Disclaimer &amp; Copyrights</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508760"/>
            <a:ext cx="7863840" cy="2304288"/>
          </a:xfrm>
          <a:prstGeom prst="rect">
            <a:avLst/>
          </a:prstGeom>
          <a:noFill/>
          <a:ln/>
        </p:spPr>
        <p:txBody>
          <a:bodyPr wrap="square" lIns="63500" tIns="63500" rIns="63500" bIns="63500" rtlCol="0" anchor="t"/>
          <a:lstStyle/>
          <a:p>
            <a:pPr indent="0" marL="0">
              <a:spcAft>
                <a:spcPts val="1000"/>
              </a:spcAft>
              <a:buNone/>
            </a:pPr>
            <a:r>
              <a:rPr lang="en-US" sz="1100" dirty="0">
                <a:solidFill>
                  <a:srgbClr val="1A1A1A"/>
                </a:solidFill>
                <a:latin typeface="Open Sans" pitchFamily="34" charset="0"/>
                <a:ea typeface="Open Sans" pitchFamily="34" charset="-122"/>
                <a:cs typeface="Open Sans" pitchFamily="34" charset="-120"/>
              </a:rPr>
              <a:t>The information presented in this presentation is intended for general informational purposes only. It is not meant to be comprehensive or to constitute professional advice. Any reliance you place on such information is strictly at your own risk. While I strive to keep the information accurate and up-to-date, I make no representations or warranties of any kind, express or implied, about the completeness, accuracy, reliability, suitability, or availability concerning the content within this presentation.</a:t>
            </a:r>
            <a:endParaRPr lang="en-US" sz="1100" dirty="0"/>
          </a:p>
          <a:p>
            <a:pPr indent="0" marL="0">
              <a:spcAft>
                <a:spcPts val="1000"/>
              </a:spcAft>
              <a:buNone/>
            </a:pPr>
            <a:r>
              <a:rPr lang="en-US" sz="1100" dirty="0">
                <a:solidFill>
                  <a:srgbClr val="1A1A1A"/>
                </a:solidFill>
                <a:latin typeface="Open Sans" pitchFamily="34" charset="0"/>
                <a:ea typeface="Open Sans" pitchFamily="34" charset="-122"/>
                <a:cs typeface="Open Sans" pitchFamily="34" charset="-120"/>
              </a:rPr>
              <a:t>This presentation may include references or links to third-party websites or content. I do not endorse the views expressed or the information provided on such external sites. I am not responsible for the content of any linked site or any link contained in a linked site.</a:t>
            </a:r>
            <a:endParaRPr lang="en-US" sz="1100" dirty="0"/>
          </a:p>
          <a:p>
            <a:pPr indent="0" marL="0">
              <a:spcAft>
                <a:spcPts val="1000"/>
              </a:spcAft>
              <a:buNone/>
            </a:pPr>
            <a:r>
              <a:rPr lang="en-US" sz="1100" dirty="0">
                <a:solidFill>
                  <a:srgbClr val="1A1A1A"/>
                </a:solidFill>
                <a:latin typeface="Open Sans" pitchFamily="34" charset="0"/>
                <a:ea typeface="Open Sans" pitchFamily="34" charset="-122"/>
                <a:cs typeface="Open Sans" pitchFamily="34" charset="-120"/>
              </a:rPr>
              <a:t>Any action you take upon the information presented in this presentation is strictly at your own discretion. I will not be liable for any losses or damages in connection with the use of this information.</a:t>
            </a:r>
            <a:endParaRPr lang="en-US" sz="1100" dirty="0"/>
          </a:p>
          <a:p>
            <a:pPr indent="0" marL="0">
              <a:buNone/>
            </a:pPr>
            <a:r>
              <a:rPr lang="en-US" sz="1100" dirty="0">
                <a:solidFill>
                  <a:srgbClr val="1A1A1A"/>
                </a:solidFill>
                <a:latin typeface="Open Sans" pitchFamily="34" charset="0"/>
                <a:ea typeface="Open Sans" pitchFamily="34" charset="-122"/>
                <a:cs typeface="Open Sans" pitchFamily="34" charset="-120"/>
              </a:rPr>
              <a:t>This disclaimer is subject to change without notice.</a:t>
            </a:r>
            <a:endParaRPr lang="en-US" sz="1100" dirty="0"/>
          </a:p>
        </p:txBody>
      </p:sp>
      <p:sp>
        <p:nvSpPr>
          <p:cNvPr id="7" name="Shape 5"/>
          <p:cNvSpPr/>
          <p:nvPr/>
        </p:nvSpPr>
        <p:spPr>
          <a:xfrm>
            <a:off x="731520" y="3886200"/>
            <a:ext cx="54864" cy="786384"/>
          </a:xfrm>
          <a:prstGeom prst="rect">
            <a:avLst/>
          </a:prstGeom>
          <a:solidFill>
            <a:srgbClr val="EDF1F5"/>
          </a:solidFill>
          <a:ln/>
        </p:spPr>
      </p:sp>
      <p:sp>
        <p:nvSpPr>
          <p:cNvPr id="8" name="Text 6"/>
          <p:cNvSpPr/>
          <p:nvPr/>
        </p:nvSpPr>
        <p:spPr>
          <a:xfrm>
            <a:off x="859536" y="3886200"/>
            <a:ext cx="7735824" cy="786384"/>
          </a:xfrm>
          <a:prstGeom prst="rect">
            <a:avLst/>
          </a:prstGeom>
          <a:noFill/>
          <a:ln/>
        </p:spPr>
        <p:txBody>
          <a:bodyPr wrap="square" lIns="63500" tIns="63500" rIns="63500" bIns="63500" rtlCol="0" anchor="t"/>
          <a:lstStyle/>
          <a:p>
            <a:pPr indent="0" marL="0">
              <a:buNone/>
            </a:pPr>
            <a:r>
              <a:rPr lang="en-US" sz="1100" b="1" dirty="0">
                <a:solidFill>
                  <a:srgbClr val="595959"/>
                </a:solidFill>
                <a:latin typeface="Open Sans" pitchFamily="34" charset="0"/>
                <a:ea typeface="Open Sans" pitchFamily="34" charset="-122"/>
                <a:cs typeface="Open Sans" pitchFamily="34" charset="-120"/>
              </a:rPr>
              <a:t>© 2026 Niranga Dharmaratna</a:t>
            </a:r>
            <a:endParaRPr lang="en-US" sz="1100" dirty="0"/>
          </a:p>
          <a:p>
            <a:pPr indent="0" marL="0">
              <a:buNone/>
            </a:pPr>
            <a:r>
              <a:rPr lang="en-US" sz="1100" dirty="0">
                <a:solidFill>
                  <a:srgbClr val="595959"/>
                </a:solidFill>
                <a:latin typeface="Open Sans" pitchFamily="34" charset="0"/>
                <a:ea typeface="Open Sans" pitchFamily="34" charset="-122"/>
                <a:cs typeface="Open Sans" pitchFamily="34" charset="-120"/>
              </a:rPr>
              <a:t>School of Computing &amp; Engineering</a:t>
            </a:r>
            <a:endParaRPr lang="en-US" sz="1100" dirty="0"/>
          </a:p>
          <a:p>
            <a:pPr indent="0" marL="0">
              <a:buNone/>
            </a:pPr>
            <a:r>
              <a:rPr lang="en-US" sz="1100" dirty="0">
                <a:solidFill>
                  <a:srgbClr val="595959"/>
                </a:solidFill>
                <a:latin typeface="Open Sans" pitchFamily="34" charset="0"/>
                <a:ea typeface="Open Sans" pitchFamily="34" charset="-122"/>
                <a:cs typeface="Open Sans" pitchFamily="34" charset="-120"/>
              </a:rPr>
              <a:t>National Institute of Business Management</a:t>
            </a:r>
            <a:endParaRPr lang="en-US" sz="1100" dirty="0"/>
          </a:p>
          <a:p>
            <a:pPr indent="0" marL="0">
              <a:buNone/>
            </a:pPr>
            <a:r>
              <a:rPr lang="en-US" sz="1100" dirty="0">
                <a:solidFill>
                  <a:srgbClr val="595959"/>
                </a:solidFill>
                <a:latin typeface="Open Sans" pitchFamily="34" charset="0"/>
                <a:ea typeface="Open Sans" pitchFamily="34" charset="-122"/>
                <a:cs typeface="Open Sans" pitchFamily="34" charset="-120"/>
              </a:rPr>
              <a:t>Licensed under CC BY-NC-ND 4.0, creativecommons.org/licenses/by-nc-nd/4.0</a:t>
            </a:r>
            <a:endParaRPr lang="en-US" sz="1100" dirty="0"/>
          </a:p>
        </p:txBody>
      </p:sp>
      <p:sp>
        <p:nvSpPr>
          <p:cNvPr id="9" name="Text 7"/>
          <p:cNvSpPr/>
          <p:nvPr/>
        </p:nvSpPr>
        <p:spPr>
          <a:xfrm>
            <a:off x="859536" y="4782312"/>
            <a:ext cx="7735824" cy="292608"/>
          </a:xfrm>
          <a:prstGeom prst="rect">
            <a:avLst/>
          </a:prstGeom>
          <a:noFill/>
          <a:ln/>
        </p:spPr>
        <p:txBody>
          <a:bodyPr wrap="square" lIns="63500" tIns="63500" rIns="63500" bIns="63500" rtlCol="0" anchor="t"/>
          <a:lstStyle/>
          <a:p>
            <a:pPr indent="0" marL="0">
              <a:buNone/>
            </a:pPr>
            <a:r>
              <a:rPr lang="en-US" sz="1300" b="1" dirty="0">
                <a:solidFill>
                  <a:srgbClr val="1A1A1A"/>
                </a:solidFill>
                <a:latin typeface="Open Sans" pitchFamily="34" charset="0"/>
                <a:ea typeface="Open Sans" pitchFamily="34" charset="-122"/>
                <a:cs typeface="Open Sans" pitchFamily="34" charset="-120"/>
              </a:rPr>
              <a:t>Last modified: 3 October 2026</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NB6015CEM Session 2</dc:title>
  <dc:subject>PptxGenJS Presentation</dc:subject>
  <dc:creator>Niranga Dharmaratna</dc:creator>
  <cp:lastModifiedBy>Niranga Dharmaratna</cp:lastModifiedBy>
  <cp:revision>1</cp:revision>
  <dcterms:created xsi:type="dcterms:W3CDTF">2026-10-04T13:29:14Z</dcterms:created>
  <dcterms:modified xsi:type="dcterms:W3CDTF">2026-10-04T13:29:14Z</dcterms:modified>
</cp:coreProperties>
</file>